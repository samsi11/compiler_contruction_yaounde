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2.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500" b="0" i="0" u="none" strike="noStrike">
                <a:solidFill>
                  <a:srgbClr val="10262B"/>
                </a:solidFill>
                <a:latin typeface="Calibri"/>
              </a:defRPr>
            </a:pPr>
            <a:r>
              <a:rPr sz="1500" b="0" i="0" u="none" strike="noStrike">
                <a:solidFill>
                  <a:srgbClr val="10262B"/>
                </a:solidFill>
                <a:latin typeface="Calibri"/>
              </a:rPr>
              <a:t>Language of the 194 tagged words</a:t>
            </a:r>
          </a:p>
        </c:rich>
      </c:tx>
      <c:layout/>
      <c:overlay val="0"/>
    </c:title>
    <c:autoTitleDeleted val="0"/>
    <c:plotArea>
      <c:layout/>
      <c:barChart>
        <c:barDir val="col"/>
        <c:grouping val="clustered"/>
        <c:varyColors val="0"/>
        <c:ser>
          <c:idx val="0"/>
          <c:order val="0"/>
          <c:tx>
            <c:strRef>
              <c:f>Sheet1!$B$1</c:f>
              <c:strCache>
                <c:ptCount val="1"/>
                <c:pt idx="0">
                  <c:v>Tagged words</c:v>
                </c:pt>
              </c:strCache>
            </c:strRef>
          </c:tx>
          <c:spPr>
            <a:solidFill>
              <a:srgbClr val="7FB0DA"/>
            </a:solidFill>
            <a:effectLst/>
          </c:spPr>
          <c:invertIfNegative val="0"/>
          <c:dLbls>
            <c:numFmt formatCode="#,##0" sourceLinked="0"/>
            <c:txPr>
              <a:bodyPr/>
              <a:lstStyle/>
              <a:p>
                <a:pPr>
                  <a:defRPr b="1" i="0" strike="noStrike" sz="1400" u="none">
                    <a:solidFill>
                      <a:srgbClr val="10262B"/>
                    </a:solidFill>
                    <a:latin typeface="Arial"/>
                  </a:defRPr>
                </a:pPr>
              </a:p>
            </c:txPr>
            <c:showLegendKey val="0"/>
            <c:showVal val="1"/>
            <c:showCatName val="0"/>
            <c:showSerName val="0"/>
            <c:showPercent val="0"/>
            <c:showBubbleSize val="0"/>
            <c:showLeaderLines val="0"/>
          </c:dLbls>
          <c:dPt>
            <c:idx val="0"/>
            <c:invertIfNegative val="0"/>
            <c:bubble3D val="0"/>
            <c:spPr>
              <a:solidFill>
                <a:srgbClr val="7FB0DA"/>
              </a:solidFill>
              <a:effectLst/>
            </c:spPr>
          </c:dPt>
          <c:dPt>
            <c:idx val="1"/>
            <c:invertIfNegative val="0"/>
            <c:bubble3D val="0"/>
            <c:spPr>
              <a:solidFill>
                <a:srgbClr val="D77DA8"/>
              </a:solidFill>
              <a:effectLst/>
            </c:spPr>
          </c:dPt>
          <c:dPt>
            <c:idx val="2"/>
            <c:invertIfNegative val="0"/>
            <c:bubble3D val="0"/>
            <c:spPr>
              <a:solidFill>
                <a:srgbClr val="F2B705"/>
              </a:solidFill>
              <a:effectLst/>
            </c:spPr>
          </c:dPt>
          <c:dPt>
            <c:idx val="3"/>
            <c:invertIfNegative val="0"/>
            <c:bubble3D val="0"/>
            <c:spPr>
              <a:solidFill>
                <a:srgbClr val="6FBF73"/>
              </a:solidFill>
              <a:effectLst/>
            </c:spPr>
          </c:dPt>
          <c:cat>
            <c:multiLvlStrRef>
              <c:f>Sheet1!$A$2:$A$5</c:f>
              <c:multiLvlStrCache>
                <c:ptCount val="4"/>
                <c:lvl>
                  <c:pt idx="0">
                    <c:v>English</c:v>
                  </c:pt>
                  <c:pt idx="1">
                    <c:v>French</c:v>
                  </c:pt>
                  <c:pt idx="2">
                    <c:v>Pidgin</c:v>
                  </c:pt>
                  <c:pt idx="3">
                    <c:v>Slang</c:v>
                  </c:pt>
                </c:lvl>
              </c:multiLvlStrCache>
            </c:multiLvlStrRef>
          </c:cat>
          <c:val>
            <c:numRef>
              <c:f>Sheet1!$B$2:$B$5</c:f>
              <c:numCache>
                <c:formatCode>General</c:formatCode>
                <c:ptCount val="4"/>
                <c:pt idx="0">
                  <c:v>84</c:v>
                </c:pt>
                <c:pt idx="1">
                  <c:v>50</c:v>
                </c:pt>
                <c:pt idx="2">
                  <c:v>45</c:v>
                </c:pt>
                <c:pt idx="3">
                  <c:v>15</c:v>
                </c:pt>
              </c:numCache>
            </c:numRef>
          </c:val>
        </c:ser>
        <c:dLbls>
          <c:numFmt formatCode="#,##0" sourceLinked="0"/>
          <c:txPr>
            <a:bodyPr/>
            <a:lstStyle/>
            <a:p>
              <a:pPr>
                <a:defRPr b="1" i="0" strike="noStrike" sz="1400" u="none">
                  <a:solidFill>
                    <a:srgbClr val="10262B"/>
                  </a:solidFill>
                  <a:latin typeface="Arial"/>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0262B"/>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500" b="0" i="0" u="none" strike="noStrike">
                <a:solidFill>
                  <a:srgbClr val="10262B"/>
                </a:solidFill>
                <a:latin typeface="Calibri"/>
              </a:defRPr>
            </a:pPr>
            <a:r>
              <a:rPr sz="1500" b="0" i="0" u="none" strike="noStrike">
                <a:solidFill>
                  <a:srgbClr val="10262B"/>
                </a:solidFill>
                <a:latin typeface="Calibri"/>
              </a:rPr>
              <a:t>Utterances by topic</a:t>
            </a:r>
          </a:p>
        </c:rich>
      </c:tx>
      <c:layout/>
      <c:overlay val="0"/>
    </c:title>
    <c:autoTitleDeleted val="0"/>
    <c:plotArea>
      <c:layout/>
      <c:barChart>
        <c:barDir val="bar"/>
        <c:grouping val="stacked"/>
        <c:varyColors val="0"/>
        <c:ser>
          <c:idx val="0"/>
          <c:order val="0"/>
          <c:tx>
            <c:strRef>
              <c:f>Sheet1!$B$1</c:f>
              <c:strCache>
                <c:ptCount val="1"/>
                <c:pt idx="0">
                  <c:v>Accepted</c:v>
                </c:pt>
              </c:strCache>
            </c:strRef>
          </c:tx>
          <c:spPr>
            <a:solidFill>
              <a:srgbClr val="0F6B61"/>
            </a:solidFill>
            <a:effectLst/>
          </c:spPr>
          <c:invertIfNegative val="0"/>
          <c:dLbls>
            <c:numFmt formatCode="0;-0;;" sourceLinked="0"/>
            <c:txPr>
              <a:bodyPr/>
              <a:lstStyle/>
              <a:p>
                <a:pPr>
                  <a:defRPr b="1" i="0" strike="noStrike" sz="1200" u="none">
                    <a:solidFill>
                      <a:srgbClr val="FFFFFF"/>
                    </a:solidFill>
                    <a:latin typeface="Arial"/>
                  </a:defRPr>
                </a:pPr>
              </a:p>
            </c:txPr>
            <c:dLblPos val="ctr"/>
            <c:showLegendKey val="0"/>
            <c:showVal val="1"/>
            <c:showCatName val="0"/>
            <c:showSerName val="0"/>
            <c:showPercent val="0"/>
            <c:showBubbleSize val="0"/>
            <c:showLeaderLines val="0"/>
          </c:dLbls>
          <c:cat>
            <c:multiLvlStrRef>
              <c:f>Sheet1!$A$2:$A$11</c:f>
              <c:multiLvlStrCache>
                <c:ptCount val="10"/>
                <c:lvl>
                  <c:pt idx="0">
                    <c:v>Taxi</c:v>
                  </c:pt>
                  <c:pt idx="1">
                    <c:v>Money</c:v>
                  </c:pt>
                  <c:pt idx="2">
                    <c:v>Rain</c:v>
                  </c:pt>
                  <c:pt idx="3">
                    <c:v>Internet</c:v>
                  </c:pt>
                  <c:pt idx="4">
                    <c:v>Market</c:v>
                  </c:pt>
                  <c:pt idx="5">
                    <c:v>Electricity</c:v>
                  </c:pt>
                  <c:pt idx="6">
                    <c:v>Mobile money</c:v>
                  </c:pt>
                  <c:pt idx="7">
                    <c:v>Food</c:v>
                  </c:pt>
                  <c:pt idx="8">
                    <c:v>Fuel</c:v>
                  </c:pt>
                  <c:pt idx="9">
                    <c:v>Open</c:v>
                  </c:pt>
                </c:lvl>
              </c:multiLvlStrCache>
            </c:multiLvlStrRef>
          </c:cat>
          <c:val>
            <c:numRef>
              <c:f>Sheet1!$B$2:$B$11</c:f>
              <c:numCache>
                <c:formatCode>General</c:formatCode>
                <c:ptCount val="10"/>
                <c:pt idx="0">
                  <c:v>4</c:v>
                </c:pt>
                <c:pt idx="1">
                  <c:v>4</c:v>
                </c:pt>
                <c:pt idx="2">
                  <c:v>2</c:v>
                </c:pt>
                <c:pt idx="3">
                  <c:v>4</c:v>
                </c:pt>
                <c:pt idx="4">
                  <c:v>4</c:v>
                </c:pt>
                <c:pt idx="5">
                  <c:v>4</c:v>
                </c:pt>
                <c:pt idx="6">
                  <c:v>3</c:v>
                </c:pt>
                <c:pt idx="7">
                  <c:v>2</c:v>
                </c:pt>
                <c:pt idx="8">
                  <c:v>4</c:v>
                </c:pt>
                <c:pt idx="9">
                  <c:v>0</c:v>
                </c:pt>
              </c:numCache>
            </c:numRef>
          </c:val>
        </c:ser>
        <c:ser>
          <c:idx val="1"/>
          <c:order val="1"/>
          <c:tx>
            <c:strRef>
              <c:f>Sheet1!$C$1</c:f>
              <c:strCache>
                <c:ptCount val="1"/>
                <c:pt idx="0">
                  <c:v>Rejected</c:v>
                </c:pt>
              </c:strCache>
            </c:strRef>
          </c:tx>
          <c:spPr>
            <a:solidFill>
              <a:srgbClr val="C4553F"/>
            </a:solidFill>
            <a:effectLst/>
          </c:spPr>
          <c:invertIfNegative val="0"/>
          <c:dLbls>
            <c:numFmt formatCode="0;-0;;" sourceLinked="0"/>
            <c:txPr>
              <a:bodyPr/>
              <a:lstStyle/>
              <a:p>
                <a:pPr>
                  <a:defRPr b="1" i="0" strike="noStrike" sz="1200" u="none">
                    <a:solidFill>
                      <a:srgbClr val="FFFFFF"/>
                    </a:solidFill>
                    <a:latin typeface="Arial"/>
                  </a:defRPr>
                </a:pPr>
              </a:p>
            </c:txPr>
            <c:dLblPos val="ctr"/>
            <c:showLegendKey val="0"/>
            <c:showVal val="1"/>
            <c:showCatName val="0"/>
            <c:showSerName val="0"/>
            <c:showPercent val="0"/>
            <c:showBubbleSize val="0"/>
            <c:showLeaderLines val="0"/>
          </c:dLbls>
          <c:cat>
            <c:multiLvlStrRef>
              <c:f>Sheet1!$A$2:$A$11</c:f>
              <c:multiLvlStrCache>
                <c:ptCount val="10"/>
                <c:lvl>
                  <c:pt idx="0">
                    <c:v>Taxi</c:v>
                  </c:pt>
                  <c:pt idx="1">
                    <c:v>Money</c:v>
                  </c:pt>
                  <c:pt idx="2">
                    <c:v>Rain</c:v>
                  </c:pt>
                  <c:pt idx="3">
                    <c:v>Internet</c:v>
                  </c:pt>
                  <c:pt idx="4">
                    <c:v>Market</c:v>
                  </c:pt>
                  <c:pt idx="5">
                    <c:v>Electricity</c:v>
                  </c:pt>
                  <c:pt idx="6">
                    <c:v>Mobile money</c:v>
                  </c:pt>
                  <c:pt idx="7">
                    <c:v>Food</c:v>
                  </c:pt>
                  <c:pt idx="8">
                    <c:v>Fuel</c:v>
                  </c:pt>
                  <c:pt idx="9">
                    <c:v>Open</c:v>
                  </c:pt>
                </c:lvl>
              </c:multiLvlStrCache>
            </c:multiLvlStrRef>
          </c:cat>
          <c:val>
            <c:numRef>
              <c:f>Sheet1!$C$2:$C$11</c:f>
              <c:numCache>
                <c:formatCode>General</c:formatCode>
                <c:ptCount val="10"/>
                <c:pt idx="0">
                  <c:v>2</c:v>
                </c:pt>
                <c:pt idx="1">
                  <c:v>4</c:v>
                </c:pt>
                <c:pt idx="2">
                  <c:v>5</c:v>
                </c:pt>
                <c:pt idx="3">
                  <c:v>2</c:v>
                </c:pt>
                <c:pt idx="4">
                  <c:v>2</c:v>
                </c:pt>
                <c:pt idx="5">
                  <c:v>0</c:v>
                </c:pt>
                <c:pt idx="6">
                  <c:v>0</c:v>
                </c:pt>
                <c:pt idx="7">
                  <c:v>3</c:v>
                </c:pt>
                <c:pt idx="8">
                  <c:v>0</c:v>
                </c:pt>
                <c:pt idx="9">
                  <c:v>1</c:v>
                </c:pt>
              </c:numCache>
            </c:numRef>
          </c:val>
        </c:ser>
        <c:dLbls>
          <c:numFmt formatCode="0;-0;;" sourceLinked="0"/>
          <c:txPr>
            <a:bodyPr/>
            <a:lstStyle/>
            <a:p>
              <a:pPr>
                <a:defRPr b="1" i="0" strike="noStrike" sz="1200" u="none">
                  <a:solidFill>
                    <a:srgbClr val="FFFFFF"/>
                  </a:solidFill>
                  <a:latin typeface="Arial"/>
                </a:defRPr>
              </a:pPr>
            </a:p>
          </c:txPr>
          <c:dLblPos val="ctr"/>
          <c:showLegendKey val="0"/>
          <c:showVal val="1"/>
          <c:showCatName val="0"/>
          <c:showSerName val="0"/>
          <c:showPercent val="0"/>
          <c:showBubbleSize val="0"/>
          <c:showLeaderLines val="0"/>
        </c:dLbls>
        <c:gapWidth val="40"/>
        <c:overlap val="10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0262B"/>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0262B"/>
              </a:solidFil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1 (about 15 seconds).
Good afternoon. We are group ... [say your names]. Our project analyses the informal speech people use every day in Yaoundé - a mix of English, French, Pidgin and slang. We built a lexer and an LL(1) parser for it, and we tested it on 50 real phrases collected in a survey.
The coloured words show why it is hard: in "Lef me for that achombo house" a Pidgin verb, English words and a slang noun sit in one short phrase.
TIMING: whole deck about 9 minutes of speaking plus about 1 minute of handovers = 10 minutes. Each of the 3 speakers gets 4 slides and about 3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1 (about 40 seconds).
Yaoundé speech mixes languages inside a single sentence. This example, E05, is from our data: English words, a slang noun "aza" meaning account, the Pidgin conjunction "make", and another slang word "fapnkolo" meaning an amount of money. The contributor translated it for us.
We collected 50 usable phrases from a survey answered by 9 people, on taxis, money, rain, internet, market, electricity, mobile money, food and fuel.
Two numbers matter: 74% of the utterances mix two or more languages, and 57% of the words we could tag are not English.
CLUE FOR QUESTIONS: the brief asks for 10-15 statements; we have 50. The data are written survey answers, not audio - say this honestly if asked.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1 (about 50 seconds).
Step 1: nine people filled an online form. Step 2: we kept every phrase exactly as typed, with the contributor's translation, in corpus.csv - 50 usable phrases; 10 entries were excluded, for example empty answers or swapped columns.
Step 3: the lexer. Like a LEX file, each token type - noun, verb, slang and so on - has its own regular expression, generated from a vocabulary file of 134 words. First matching rule wins, and nothing is silently dropped.
Step 4: every word comes out with a type and a language tag. In the screenshot, "aza" and "fapnkolo" are green (slang), "make" is yellow (Pidgin), the rest are English. This tag is how we detect code-mixing.
CLUE: adding a word to vocabulary.csv regenerates the regular expression automatically.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1 (about 55 seconds).
Frequency and variation, computed by analysis.py. Of 194 words that carry a language tag, only 84 are English. French is 50, Pidgin 45 and local slang 15.
Variation: the same idea is written in many ways. Money appears as argent in French and nkap, pongos, fapnkolo and majumbum in slang. Expensive is "deer" in Pidgin - spelled the way it sounds - and "chère" in French.
And 73% of distinct words appear only once, so the vocabulary is very diverse; a fixed word list will never be complete. The type-token ratio is 0.69.
Now I hand over to [Speaker 2], who will explain the grammar.
CLUES: 211 tokens in total, 3 unknown words (yacob, ns, half). The unknown-word rate is low only because the lexicon was built from these same phrases.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2 (about 40 seconds).
A context-free grammar is a set of rewrite rules that says which token sequences are valid sentences. We wrote 20 rules by looking at the shapes in our data: imperatives like "Fou le camp", subject plus predicate like "Petrol don short", French negation "ne ... pas", double objects, and clauses chained by "make" or "et".
To let a top-down parser use it, we applied five steps, all implemented as generic algorithms in grammar.py: design the grammar, remove left recursion, left-factor, compute FIRST and FOLLOW, then build the LL(1) table. The final table has 153 filled cells and zero conflicts - the builder raises an error if two rules ever land in one cell.
CLUE: LL(1) means Left-to-right scan, Leftmost derivation, 1 token of lookahead.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2 (about 55 seconds).
Two rewrites were needed. First, left recursion. Our rule UTT calls itself first: "UTT goes to UTT CONJ CLAUSE". A top-down parser would expand UTT forever without reading a word. The standard fix introduces a helper symbol UTT-prime that does the repeating. Three rules needed this: UTT for chained clauses, ADJP for several adjectives, NBAR for noun compounds such as "achombo house".
Second, left factoring. CLAUSE had two rules that both begin with a noun phrase: one with a predicate and one without. With one token of lookahead the parser cannot choose. We pull the shared noun phrase out and put the difference in CLAUSE-prime: either a predicate or nothing. CLAUSE, COMP and NBAR were factored.
CLUE: in the report, Section 5.2 and 5.3 show the before and after for every changed rule. Both algorithms are unit-tested on tiny grammars.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2 (about 45 seconds).
This is the parsing table from the Grammar window of our analyzer. Each row is a symbol the parser is trying to build, each column is the next token type it sees, and the cell says which rule to use. An empty cell means a syntax error.
It is built from the FIRST and FOLLOW sets: FIRST says which tokens can start a rule, FOLLOW says what may come after, which tells the parser when to choose the empty rule.
It has 153 filled cells and no cell holds two rules, so the grammar is LL(1). Worked example: in row VP1, column PREP, the rule is "PP VP2" - so a verb followed by a preposition, like "Levam for this price", reads a prepositional phrase.
CLUES: the report lists FIRST and FOLLOW for all 26 symbols (Section 5.4) and the full table on two landscape pages (5.5).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2 (about 50 seconds).
The parser is a stack machine. It starts with the end marker and the start symbol S. At each step it looks at the symbol on top of the stack and the next token type. If the top is a token type it must match; otherwise it looks up the table and replaces the top symbol with the rule's right-hand side.
The trace on the left is for "U don chop?" - "have you eaten?". S expands to LEAD UTT TAIL; the pronoun U is matched as the subject; "don" is a Pidgin aspect marker; "chop" is the verb; the question mark is matched by TAIL; the end marker ends the parse and it is accepted.
While it runs the parser also builds the tree on the right. On failure it tells you the offending token and which token types would have been accepted.
Now I hand over to [Speaker 3] for the live demo.
CLUE: the parser never backtracks - one token of lookahead always decides the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3 (about 75 seconds - the demo). Have the app already open and the phrase list ready.
1) "This is our analyzer." Pick E05 from the dropdown: "It is accepted. The Tokens tab shows English, Pidgin and slang words in different colours."
2) Pick F04 "U don chop?" and click the Parse tree tab: "This is the structure the parser found - subject, aspect marker, verb, question mark."
3) Pick T03 "Enlève ta brouette la sur la route": "This one is rejected. The red row is where the parser stopped: the word 'la'. The panel gives the reason - here 'la' means 'there', but our lexicon tags it as the article 'la'."
4) Click All results: "Every one of our 50 phrases: green accepted, red rejected, with the reason."
IF THE APP FAILS: use the screenshots in the report (Figures 8, 9 and 12 to 16) and say what each shows. Backup command: py main.py --no-interactive.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3 (about 35 seconds).
Across the 50 phrases, 31 are accepted and 19 rejected: 62% accepted. Electricity, mobile money and fuel are fully covered; rain and food are the hardest because they use the most unusual constructions.
Important honesty point: the grammar was designed from these same phrases, so 62% shows how well the rules describe our sample, not how they would do on new speech. We would need a held-out test set for that.
Every rejection is labelled in the corpus with its reason, and our automated test fails if any verdict changes.
CLUE: 9 unit tests pass; the last one re-checks all 50 verdicts.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3 (about 40 seconds).
Our 19 rejections fall into three groups, and together they explain why this speech is linguistically complex.
One: unknown or noisy input - words not in the vocabulary, emoji, stray punctuation. The lexer catches these.
Two: one word with several roles. "la" is an article in "la nouriture" but means "there" in "Le pater la". "chop" is a verb in "U don chop?" and a noun, food, in "You get chop for house". "dey" and "na" behave the same way. Our lexicon gives each word one tag, so the parser cannot decide.
Three: shapes we did not model, like serial verbs.
Behind this: only 43% of tagged words are English, and slang and spelling change quickly.
A fuller solution would use context to tag words, spelling normalisation, and a parser that tolerates ambiguity such as Earley or GLR.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3 (about 25 seconds), then all three take questions.
To conclude: we built a data-driven lexer, an LL(1) pipeline with a conflict-free table, and we tested it on 50 real utterances: 31 accepted and 19 rejected, each explained. The rejections are the most interesting result because they show where Yaoundé speech resists a conventional compiler front end.
Next steps: transcribe spoken data, use context to tag ambiguous words, and evaluate on a held-out set.
Thank you. We are happy to take questions.
See Demo_and_Speaker_Guide.md for likely questions and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3D38"/>
        </a:solidFill>
      </p:bgPr>
    </p:bg>
    <p:spTree>
      <p:nvGrpSpPr>
        <p:cNvPr id="1" name=""/>
        <p:cNvGrpSpPr/>
        <p:nvPr/>
      </p:nvGrpSpPr>
      <p:grpSpPr>
        <a:xfrm>
          <a:off x="0" y="0"/>
          <a:ext cx="0" cy="0"/>
          <a:chOff x="0" y="0"/>
          <a:chExt cx="0" cy="0"/>
        </a:xfrm>
      </p:grpSpPr>
      <p:sp>
        <p:nvSpPr>
          <p:cNvPr id="2" name="Text 0"/>
          <p:cNvSpPr txBox="1"/>
          <p:nvPr/>
        </p:nvSpPr>
        <p:spPr>
          <a:xfrm>
            <a:off x="640080" y="548640"/>
            <a:ext cx="8229600" cy="365760"/>
          </a:xfrm>
          <a:prstGeom prst="rect">
            <a:avLst/>
          </a:prstGeom>
          <a:noFill/>
          <a:ln/>
        </p:spPr>
        <p:txBody>
          <a:bodyPr wrap="square" lIns="0" tIns="0" rIns="0" bIns="0" rtlCol="0" anchor="ctr"/>
          <a:lstStyle/>
          <a:p>
            <a:pPr indent="0" marL="0">
              <a:buNone/>
            </a:pPr>
            <a:r>
              <a:rPr lang="en-US" sz="1400" b="1" dirty="0">
                <a:solidFill>
                  <a:srgbClr val="F5B700"/>
                </a:solidFill>
                <a:latin typeface="Calibri" pitchFamily="34" charset="0"/>
                <a:ea typeface="Calibri" pitchFamily="34" charset="-122"/>
                <a:cs typeface="Calibri" pitchFamily="34" charset="-120"/>
              </a:rPr>
              <a:t>CS4110 COMPILER CONSTRUCTION  ·  SUMMER 2026</a:t>
            </a:r>
            <a:endParaRPr lang="en-US" sz="1400" dirty="0"/>
          </a:p>
        </p:txBody>
      </p:sp>
      <p:sp>
        <p:nvSpPr>
          <p:cNvPr id="3" name="Text 1"/>
          <p:cNvSpPr txBox="1"/>
          <p:nvPr/>
        </p:nvSpPr>
        <p:spPr>
          <a:xfrm>
            <a:off x="640080" y="1097280"/>
            <a:ext cx="10424160" cy="1828800"/>
          </a:xfrm>
          <a:prstGeom prst="rect">
            <a:avLst/>
          </a:prstGeom>
          <a:noFill/>
          <a:ln/>
        </p:spPr>
        <p:txBody>
          <a:bodyPr wrap="square" lIns="0" tIns="0" rIns="0" bIns="0" rtlCol="0" anchor="t"/>
          <a:lstStyle/>
          <a:p>
            <a:pPr indent="0" marL="0">
              <a:buNone/>
            </a:pPr>
            <a:r>
              <a:rPr lang="en-US" sz="4200" b="1" dirty="0">
                <a:solidFill>
                  <a:srgbClr val="FFFFFF"/>
                </a:solidFill>
                <a:latin typeface="Cambria" pitchFamily="34" charset="0"/>
                <a:ea typeface="Cambria" pitchFamily="34" charset="-122"/>
                <a:cs typeface="Cambria" pitchFamily="34" charset="-120"/>
              </a:rPr>
              <a:t>Lexical and Syntactic Analysis of Informal Urban Communication in Yaoundé</a:t>
            </a:r>
            <a:endParaRPr lang="en-US" sz="4200" dirty="0"/>
          </a:p>
        </p:txBody>
      </p:sp>
      <p:sp>
        <p:nvSpPr>
          <p:cNvPr id="4" name="Text 2"/>
          <p:cNvSpPr txBox="1"/>
          <p:nvPr/>
        </p:nvSpPr>
        <p:spPr>
          <a:xfrm>
            <a:off x="640080" y="2971800"/>
            <a:ext cx="9601200" cy="731520"/>
          </a:xfrm>
          <a:prstGeom prst="rect">
            <a:avLst/>
          </a:prstGeom>
          <a:noFill/>
          <a:ln/>
        </p:spPr>
        <p:txBody>
          <a:bodyPr wrap="square" lIns="0" tIns="0" rIns="0" bIns="0" rtlCol="0" anchor="t"/>
          <a:lstStyle/>
          <a:p>
            <a:pPr indent="0" marL="0">
              <a:buNone/>
            </a:pPr>
            <a:r>
              <a:rPr lang="en-US" sz="2000" i="1" dirty="0">
                <a:solidFill>
                  <a:srgbClr val="BFDCD7"/>
                </a:solidFill>
                <a:latin typeface="Calibri" pitchFamily="34" charset="0"/>
                <a:ea typeface="Calibri" pitchFamily="34" charset="-122"/>
                <a:cs typeface="Calibri" pitchFamily="34" charset="-120"/>
              </a:rPr>
              <a:t>A regular-expression lexer and a table-driven LL(1) parser for code-mixed English, French, Pidgin and slang</a:t>
            </a:r>
            <a:endParaRPr lang="en-US" sz="2000" dirty="0"/>
          </a:p>
        </p:txBody>
      </p:sp>
      <p:sp>
        <p:nvSpPr>
          <p:cNvPr id="5" name="Text 3"/>
          <p:cNvSpPr txBox="1"/>
          <p:nvPr/>
        </p:nvSpPr>
        <p:spPr>
          <a:xfrm>
            <a:off x="640080" y="3977640"/>
            <a:ext cx="7315200" cy="320040"/>
          </a:xfrm>
          <a:prstGeom prst="rect">
            <a:avLst/>
          </a:prstGeom>
          <a:noFill/>
          <a:ln/>
        </p:spPr>
        <p:txBody>
          <a:bodyPr wrap="square" lIns="0" tIns="0" rIns="0" bIns="0" rtlCol="0" anchor="ctr"/>
          <a:lstStyle/>
          <a:p>
            <a:pPr indent="0" marL="0">
              <a:buNone/>
            </a:pPr>
            <a:r>
              <a:rPr lang="en-US" sz="1300" dirty="0">
                <a:solidFill>
                  <a:srgbClr val="9FC2BC"/>
                </a:solidFill>
                <a:latin typeface="Calibri" pitchFamily="34" charset="0"/>
                <a:ea typeface="Calibri" pitchFamily="34" charset="-122"/>
                <a:cs typeface="Calibri" pitchFamily="34" charset="-120"/>
              </a:rPr>
              <a:t>A real utterance from our data, coloured by language:</a:t>
            </a:r>
            <a:endParaRPr lang="en-US" sz="1300" dirty="0"/>
          </a:p>
        </p:txBody>
      </p:sp>
      <p:sp>
        <p:nvSpPr>
          <p:cNvPr id="6" name="Shape 4"/>
          <p:cNvSpPr/>
          <p:nvPr/>
        </p:nvSpPr>
        <p:spPr>
          <a:xfrm>
            <a:off x="640080" y="4389120"/>
            <a:ext cx="1152144" cy="502920"/>
          </a:xfrm>
          <a:prstGeom prst="roundRect">
            <a:avLst>
              <a:gd name="adj" fmla="val 18182"/>
            </a:avLst>
          </a:prstGeom>
          <a:solidFill>
            <a:srgbClr val="FBE7A8"/>
          </a:solidFill>
          <a:ln w="12700">
            <a:solidFill>
              <a:srgbClr val="FBE7A8"/>
            </a:solidFill>
            <a:prstDash val="solid"/>
          </a:ln>
        </p:spPr>
      </p:sp>
      <p:sp>
        <p:nvSpPr>
          <p:cNvPr id="7" name="Text 5"/>
          <p:cNvSpPr txBox="1"/>
          <p:nvPr/>
        </p:nvSpPr>
        <p:spPr>
          <a:xfrm>
            <a:off x="640080" y="4389120"/>
            <a:ext cx="1152144" cy="502920"/>
          </a:xfrm>
          <a:prstGeom prst="rect">
            <a:avLst/>
          </a:prstGeom>
          <a:noFill/>
          <a:ln/>
        </p:spPr>
        <p:txBody>
          <a:bodyPr wrap="square" lIns="0" tIns="0" rIns="0" bIns="0" rtlCol="0" anchor="ctr"/>
          <a:lstStyle/>
          <a:p>
            <a:pPr algn="ctr" indent="0" marL="0">
              <a:buNone/>
            </a:pPr>
            <a:r>
              <a:rPr lang="en-US" sz="2000" b="1" dirty="0">
                <a:solidFill>
                  <a:srgbClr val="10262B"/>
                </a:solidFill>
                <a:latin typeface="Calibri" pitchFamily="34" charset="0"/>
                <a:ea typeface="Calibri" pitchFamily="34" charset="-122"/>
                <a:cs typeface="Calibri" pitchFamily="34" charset="-120"/>
              </a:rPr>
              <a:t>Lef</a:t>
            </a:r>
            <a:endParaRPr lang="en-US" sz="2000" dirty="0"/>
          </a:p>
        </p:txBody>
      </p:sp>
      <p:sp>
        <p:nvSpPr>
          <p:cNvPr id="8" name="Shape 6"/>
          <p:cNvSpPr/>
          <p:nvPr/>
        </p:nvSpPr>
        <p:spPr>
          <a:xfrm>
            <a:off x="1901952" y="4389120"/>
            <a:ext cx="905256" cy="502920"/>
          </a:xfrm>
          <a:prstGeom prst="roundRect">
            <a:avLst>
              <a:gd name="adj" fmla="val 18182"/>
            </a:avLst>
          </a:prstGeom>
          <a:solidFill>
            <a:srgbClr val="CFE3F5"/>
          </a:solidFill>
          <a:ln w="12700">
            <a:solidFill>
              <a:srgbClr val="CFE3F5"/>
            </a:solidFill>
            <a:prstDash val="solid"/>
          </a:ln>
        </p:spPr>
      </p:sp>
      <p:sp>
        <p:nvSpPr>
          <p:cNvPr id="9" name="Text 7"/>
          <p:cNvSpPr txBox="1"/>
          <p:nvPr/>
        </p:nvSpPr>
        <p:spPr>
          <a:xfrm>
            <a:off x="1901952" y="4389120"/>
            <a:ext cx="905256" cy="502920"/>
          </a:xfrm>
          <a:prstGeom prst="rect">
            <a:avLst/>
          </a:prstGeom>
          <a:noFill/>
          <a:ln/>
        </p:spPr>
        <p:txBody>
          <a:bodyPr wrap="square" lIns="0" tIns="0" rIns="0" bIns="0" rtlCol="0" anchor="ctr"/>
          <a:lstStyle/>
          <a:p>
            <a:pPr algn="ctr" indent="0" marL="0">
              <a:buNone/>
            </a:pPr>
            <a:r>
              <a:rPr lang="en-US" sz="2000" b="1" dirty="0">
                <a:solidFill>
                  <a:srgbClr val="10262B"/>
                </a:solidFill>
                <a:latin typeface="Calibri" pitchFamily="34" charset="0"/>
                <a:ea typeface="Calibri" pitchFamily="34" charset="-122"/>
                <a:cs typeface="Calibri" pitchFamily="34" charset="-120"/>
              </a:rPr>
              <a:t>me</a:t>
            </a:r>
            <a:endParaRPr lang="en-US" sz="2000" dirty="0"/>
          </a:p>
        </p:txBody>
      </p:sp>
      <p:sp>
        <p:nvSpPr>
          <p:cNvPr id="10" name="Shape 8"/>
          <p:cNvSpPr/>
          <p:nvPr/>
        </p:nvSpPr>
        <p:spPr>
          <a:xfrm>
            <a:off x="2916936" y="4389120"/>
            <a:ext cx="1152144" cy="502920"/>
          </a:xfrm>
          <a:prstGeom prst="roundRect">
            <a:avLst>
              <a:gd name="adj" fmla="val 18182"/>
            </a:avLst>
          </a:prstGeom>
          <a:solidFill>
            <a:srgbClr val="CFE3F5"/>
          </a:solidFill>
          <a:ln w="12700">
            <a:solidFill>
              <a:srgbClr val="CFE3F5"/>
            </a:solidFill>
            <a:prstDash val="solid"/>
          </a:ln>
        </p:spPr>
      </p:sp>
      <p:sp>
        <p:nvSpPr>
          <p:cNvPr id="11" name="Text 9"/>
          <p:cNvSpPr txBox="1"/>
          <p:nvPr/>
        </p:nvSpPr>
        <p:spPr>
          <a:xfrm>
            <a:off x="2916936" y="4389120"/>
            <a:ext cx="1152144" cy="502920"/>
          </a:xfrm>
          <a:prstGeom prst="rect">
            <a:avLst/>
          </a:prstGeom>
          <a:noFill/>
          <a:ln/>
        </p:spPr>
        <p:txBody>
          <a:bodyPr wrap="square" lIns="0" tIns="0" rIns="0" bIns="0" rtlCol="0" anchor="ctr"/>
          <a:lstStyle/>
          <a:p>
            <a:pPr algn="ctr" indent="0" marL="0">
              <a:buNone/>
            </a:pPr>
            <a:r>
              <a:rPr lang="en-US" sz="2000" b="1" dirty="0">
                <a:solidFill>
                  <a:srgbClr val="10262B"/>
                </a:solidFill>
                <a:latin typeface="Calibri" pitchFamily="34" charset="0"/>
                <a:ea typeface="Calibri" pitchFamily="34" charset="-122"/>
                <a:cs typeface="Calibri" pitchFamily="34" charset="-120"/>
              </a:rPr>
              <a:t>for</a:t>
            </a:r>
            <a:endParaRPr lang="en-US" sz="2000" dirty="0"/>
          </a:p>
        </p:txBody>
      </p:sp>
      <p:sp>
        <p:nvSpPr>
          <p:cNvPr id="12" name="Shape 10"/>
          <p:cNvSpPr/>
          <p:nvPr/>
        </p:nvSpPr>
        <p:spPr>
          <a:xfrm>
            <a:off x="4178808" y="4389120"/>
            <a:ext cx="1399032" cy="502920"/>
          </a:xfrm>
          <a:prstGeom prst="roundRect">
            <a:avLst>
              <a:gd name="adj" fmla="val 18182"/>
            </a:avLst>
          </a:prstGeom>
          <a:solidFill>
            <a:srgbClr val="CFE3F5"/>
          </a:solidFill>
          <a:ln w="12700">
            <a:solidFill>
              <a:srgbClr val="CFE3F5"/>
            </a:solidFill>
            <a:prstDash val="solid"/>
          </a:ln>
        </p:spPr>
      </p:sp>
      <p:sp>
        <p:nvSpPr>
          <p:cNvPr id="13" name="Text 11"/>
          <p:cNvSpPr txBox="1"/>
          <p:nvPr/>
        </p:nvSpPr>
        <p:spPr>
          <a:xfrm>
            <a:off x="4178808" y="4389120"/>
            <a:ext cx="1399032" cy="502920"/>
          </a:xfrm>
          <a:prstGeom prst="rect">
            <a:avLst/>
          </a:prstGeom>
          <a:noFill/>
          <a:ln/>
        </p:spPr>
        <p:txBody>
          <a:bodyPr wrap="square" lIns="0" tIns="0" rIns="0" bIns="0" rtlCol="0" anchor="ctr"/>
          <a:lstStyle/>
          <a:p>
            <a:pPr algn="ctr" indent="0" marL="0">
              <a:buNone/>
            </a:pPr>
            <a:r>
              <a:rPr lang="en-US" sz="2000" b="1" dirty="0">
                <a:solidFill>
                  <a:srgbClr val="10262B"/>
                </a:solidFill>
                <a:latin typeface="Calibri" pitchFamily="34" charset="0"/>
                <a:ea typeface="Calibri" pitchFamily="34" charset="-122"/>
                <a:cs typeface="Calibri" pitchFamily="34" charset="-120"/>
              </a:rPr>
              <a:t>that</a:t>
            </a:r>
            <a:endParaRPr lang="en-US" sz="2000" dirty="0"/>
          </a:p>
        </p:txBody>
      </p:sp>
      <p:sp>
        <p:nvSpPr>
          <p:cNvPr id="14" name="Shape 12"/>
          <p:cNvSpPr/>
          <p:nvPr/>
        </p:nvSpPr>
        <p:spPr>
          <a:xfrm>
            <a:off x="5687568" y="4389120"/>
            <a:ext cx="2139696" cy="502920"/>
          </a:xfrm>
          <a:prstGeom prst="roundRect">
            <a:avLst>
              <a:gd name="adj" fmla="val 18182"/>
            </a:avLst>
          </a:prstGeom>
          <a:solidFill>
            <a:srgbClr val="CDEBC9"/>
          </a:solidFill>
          <a:ln w="12700">
            <a:solidFill>
              <a:srgbClr val="CDEBC9"/>
            </a:solidFill>
            <a:prstDash val="solid"/>
          </a:ln>
        </p:spPr>
      </p:sp>
      <p:sp>
        <p:nvSpPr>
          <p:cNvPr id="15" name="Text 13"/>
          <p:cNvSpPr txBox="1"/>
          <p:nvPr/>
        </p:nvSpPr>
        <p:spPr>
          <a:xfrm>
            <a:off x="5687568" y="4389120"/>
            <a:ext cx="2139696" cy="502920"/>
          </a:xfrm>
          <a:prstGeom prst="rect">
            <a:avLst/>
          </a:prstGeom>
          <a:noFill/>
          <a:ln/>
        </p:spPr>
        <p:txBody>
          <a:bodyPr wrap="square" lIns="0" tIns="0" rIns="0" bIns="0" rtlCol="0" anchor="ctr"/>
          <a:lstStyle/>
          <a:p>
            <a:pPr algn="ctr" indent="0" marL="0">
              <a:buNone/>
            </a:pPr>
            <a:r>
              <a:rPr lang="en-US" sz="2000" b="1" dirty="0">
                <a:solidFill>
                  <a:srgbClr val="10262B"/>
                </a:solidFill>
                <a:latin typeface="Calibri" pitchFamily="34" charset="0"/>
                <a:ea typeface="Calibri" pitchFamily="34" charset="-122"/>
                <a:cs typeface="Calibri" pitchFamily="34" charset="-120"/>
              </a:rPr>
              <a:t>achombo</a:t>
            </a:r>
            <a:endParaRPr lang="en-US" sz="2000" dirty="0"/>
          </a:p>
        </p:txBody>
      </p:sp>
      <p:sp>
        <p:nvSpPr>
          <p:cNvPr id="16" name="Shape 14"/>
          <p:cNvSpPr/>
          <p:nvPr/>
        </p:nvSpPr>
        <p:spPr>
          <a:xfrm>
            <a:off x="7936992" y="4389120"/>
            <a:ext cx="1645920" cy="502920"/>
          </a:xfrm>
          <a:prstGeom prst="roundRect">
            <a:avLst>
              <a:gd name="adj" fmla="val 18182"/>
            </a:avLst>
          </a:prstGeom>
          <a:solidFill>
            <a:srgbClr val="CFE3F5"/>
          </a:solidFill>
          <a:ln w="12700">
            <a:solidFill>
              <a:srgbClr val="CFE3F5"/>
            </a:solidFill>
            <a:prstDash val="solid"/>
          </a:ln>
        </p:spPr>
      </p:sp>
      <p:sp>
        <p:nvSpPr>
          <p:cNvPr id="17" name="Text 15"/>
          <p:cNvSpPr txBox="1"/>
          <p:nvPr/>
        </p:nvSpPr>
        <p:spPr>
          <a:xfrm>
            <a:off x="7936992" y="4389120"/>
            <a:ext cx="1645920" cy="502920"/>
          </a:xfrm>
          <a:prstGeom prst="rect">
            <a:avLst/>
          </a:prstGeom>
          <a:noFill/>
          <a:ln/>
        </p:spPr>
        <p:txBody>
          <a:bodyPr wrap="square" lIns="0" tIns="0" rIns="0" bIns="0" rtlCol="0" anchor="ctr"/>
          <a:lstStyle/>
          <a:p>
            <a:pPr algn="ctr" indent="0" marL="0">
              <a:buNone/>
            </a:pPr>
            <a:r>
              <a:rPr lang="en-US" sz="2000" b="1" dirty="0">
                <a:solidFill>
                  <a:srgbClr val="10262B"/>
                </a:solidFill>
                <a:latin typeface="Calibri" pitchFamily="34" charset="0"/>
                <a:ea typeface="Calibri" pitchFamily="34" charset="-122"/>
                <a:cs typeface="Calibri" pitchFamily="34" charset="-120"/>
              </a:rPr>
              <a:t>house</a:t>
            </a:r>
            <a:endParaRPr lang="en-US" sz="2000" dirty="0"/>
          </a:p>
        </p:txBody>
      </p:sp>
      <p:sp>
        <p:nvSpPr>
          <p:cNvPr id="18" name="Text 16"/>
          <p:cNvSpPr txBox="1"/>
          <p:nvPr/>
        </p:nvSpPr>
        <p:spPr>
          <a:xfrm>
            <a:off x="640080" y="5349240"/>
            <a:ext cx="7772400" cy="914400"/>
          </a:xfrm>
          <a:prstGeom prst="rect">
            <a:avLst/>
          </a:prstGeom>
          <a:noFill/>
          <a:ln/>
        </p:spPr>
        <p:txBody>
          <a:bodyPr wrap="square" lIns="0" tIns="0" rIns="0" bIns="0" rtlCol="0" anchor="t"/>
          <a:lstStyle/>
          <a:p>
            <a:pPr indent="0" marL="0">
              <a:spcAft>
                <a:spcPts val="300"/>
              </a:spcAft>
              <a:buNone/>
            </a:pPr>
            <a:r>
              <a:rPr lang="en-US" sz="1400" dirty="0">
                <a:solidFill>
                  <a:srgbClr val="FFFFFF"/>
                </a:solidFill>
                <a:latin typeface="Calibri" pitchFamily="34" charset="0"/>
                <a:ea typeface="Calibri" pitchFamily="34" charset="-122"/>
                <a:cs typeface="Calibri" pitchFamily="34" charset="-120"/>
              </a:rPr>
              <a:t>NJUNG GLORIOUS SAMSIMBOM (leader)  ·  ICTU20241398</a:t>
            </a:r>
            <a:endParaRPr lang="en-US" sz="1400" dirty="0"/>
          </a:p>
          <a:p>
            <a:pPr indent="0" marL="0">
              <a:spcAft>
                <a:spcPts val="300"/>
              </a:spcAft>
              <a:buNone/>
            </a:pPr>
            <a:r>
              <a:rPr lang="en-US" sz="1400" dirty="0">
                <a:solidFill>
                  <a:srgbClr val="FFFFFF"/>
                </a:solidFill>
                <a:latin typeface="Calibri" pitchFamily="34" charset="0"/>
                <a:ea typeface="Calibri" pitchFamily="34" charset="-122"/>
                <a:cs typeface="Calibri" pitchFamily="34" charset="-120"/>
              </a:rPr>
              <a:t>NDENGUE TAMOKOUE VAN BROWN  ·  ICTU20241479</a:t>
            </a:r>
            <a:endParaRPr lang="en-US" sz="1400" dirty="0"/>
          </a:p>
          <a:p>
            <a:pPr indent="0" marL="0">
              <a:spcAft>
                <a:spcPts val="300"/>
              </a:spcAft>
              <a:buNone/>
            </a:pPr>
            <a:r>
              <a:rPr lang="en-US" sz="1400" dirty="0">
                <a:solidFill>
                  <a:srgbClr val="FFFFFF"/>
                </a:solidFill>
                <a:latin typeface="Calibri" pitchFamily="34" charset="0"/>
                <a:ea typeface="Calibri" pitchFamily="34" charset="-122"/>
                <a:cs typeface="Calibri" pitchFamily="34" charset="-120"/>
              </a:rPr>
              <a:t>BONGANG BERINYUY MEGHEN  ·  ICTU20241385</a:t>
            </a:r>
            <a:endParaRPr lang="en-US" sz="1400" dirty="0"/>
          </a:p>
        </p:txBody>
      </p:sp>
      <p:sp>
        <p:nvSpPr>
          <p:cNvPr id="19" name="Text 17"/>
          <p:cNvSpPr txBox="1"/>
          <p:nvPr/>
        </p:nvSpPr>
        <p:spPr>
          <a:xfrm>
            <a:off x="8046720" y="6080760"/>
            <a:ext cx="3566160" cy="320040"/>
          </a:xfrm>
          <a:prstGeom prst="rect">
            <a:avLst/>
          </a:prstGeom>
          <a:noFill/>
          <a:ln/>
        </p:spPr>
        <p:txBody>
          <a:bodyPr wrap="square" lIns="0" tIns="0" rIns="0" bIns="0" rtlCol="0" anchor="ctr"/>
          <a:lstStyle/>
          <a:p>
            <a:pPr algn="r" indent="0" marL="0">
              <a:buNone/>
            </a:pPr>
            <a:r>
              <a:rPr lang="en-US" sz="1300" dirty="0">
                <a:solidFill>
                  <a:srgbClr val="9FC2BC"/>
                </a:solidFill>
                <a:latin typeface="Calibri" pitchFamily="34" charset="0"/>
                <a:ea typeface="Calibri" pitchFamily="34" charset="-122"/>
                <a:cs typeface="Calibri" pitchFamily="34" charset="-120"/>
              </a:rPr>
              <a:t>Instructor: Engr. Tanwi Nkiamboh</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6"/>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822960"/>
          </a:xfrm>
          <a:prstGeom prst="rect">
            <a:avLst/>
          </a:prstGeom>
          <a:noFill/>
          <a:ln/>
        </p:spPr>
        <p:txBody>
          <a:bodyPr wrap="square" lIns="0" tIns="0" rIns="0" bIns="0" rtlCol="0" anchor="t"/>
          <a:lstStyle/>
          <a:p>
            <a:pPr indent="0" marL="0">
              <a:buNone/>
            </a:pPr>
            <a:r>
              <a:rPr lang="en-US" sz="3200" b="1" dirty="0">
                <a:solidFill>
                  <a:srgbClr val="10262B"/>
                </a:solidFill>
                <a:latin typeface="Cambria" pitchFamily="34" charset="0"/>
                <a:ea typeface="Cambria" pitchFamily="34" charset="-122"/>
                <a:cs typeface="Cambria" pitchFamily="34" charset="-120"/>
              </a:rPr>
              <a:t>Yaoundé speaks in mixtures</a:t>
            </a:r>
            <a:endParaRPr lang="en-US" sz="3200" dirty="0"/>
          </a:p>
        </p:txBody>
      </p:sp>
      <p:sp>
        <p:nvSpPr>
          <p:cNvPr id="3" name="Shape 1"/>
          <p:cNvSpPr/>
          <p:nvPr/>
        </p:nvSpPr>
        <p:spPr>
          <a:xfrm>
            <a:off x="9006840" y="347472"/>
            <a:ext cx="2651760" cy="384048"/>
          </a:xfrm>
          <a:prstGeom prst="roundRect">
            <a:avLst>
              <a:gd name="adj" fmla="val 50000"/>
            </a:avLst>
          </a:prstGeom>
          <a:solidFill>
            <a:srgbClr val="F5B700"/>
          </a:solidFill>
          <a:ln w="12700">
            <a:solidFill>
              <a:srgbClr val="F5B700"/>
            </a:solidFill>
            <a:prstDash val="solid"/>
          </a:ln>
        </p:spPr>
      </p:sp>
      <p:sp>
        <p:nvSpPr>
          <p:cNvPr id="4" name="Text 2"/>
          <p:cNvSpPr txBox="1"/>
          <p:nvPr/>
        </p:nvSpPr>
        <p:spPr>
          <a:xfrm>
            <a:off x="9006840" y="347472"/>
            <a:ext cx="2651760" cy="384048"/>
          </a:xfrm>
          <a:prstGeom prst="rect">
            <a:avLst/>
          </a:prstGeom>
          <a:noFill/>
          <a:ln/>
        </p:spPr>
        <p:txBody>
          <a:bodyPr wrap="square" lIns="0" tIns="0" rIns="0" bIns="0" rtlCol="0" anchor="ctr"/>
          <a:lstStyle/>
          <a:p>
            <a:pPr algn="ctr" indent="0" marL="0">
              <a:buNone/>
            </a:pPr>
            <a:r>
              <a:rPr lang="en-US" sz="1200" b="1" dirty="0">
                <a:solidFill>
                  <a:srgbClr val="0B3D38"/>
                </a:solidFill>
                <a:latin typeface="Calibri" pitchFamily="34" charset="0"/>
                <a:ea typeface="Calibri" pitchFamily="34" charset="-122"/>
                <a:cs typeface="Calibri" pitchFamily="34" charset="-120"/>
              </a:rPr>
              <a:t>Part 1  ·  Data and lexer</a:t>
            </a:r>
            <a:endParaRPr lang="en-US" sz="1200" dirty="0"/>
          </a:p>
        </p:txBody>
      </p:sp>
      <p:sp>
        <p:nvSpPr>
          <p:cNvPr id="5" name="Shape 3"/>
          <p:cNvSpPr/>
          <p:nvPr/>
        </p:nvSpPr>
        <p:spPr>
          <a:xfrm>
            <a:off x="548640" y="1371600"/>
            <a:ext cx="11091672" cy="2148840"/>
          </a:xfrm>
          <a:prstGeom prst="roundRect">
            <a:avLst>
              <a:gd name="adj" fmla="val 5106"/>
            </a:avLst>
          </a:prstGeom>
          <a:solidFill>
            <a:srgbClr val="FFFFFF"/>
          </a:solidFill>
          <a:ln w="9525">
            <a:solidFill>
              <a:srgbClr val="D5E0DD"/>
            </a:solidFill>
            <a:prstDash val="solid"/>
          </a:ln>
          <a:effectLst>
            <a:outerShdw sx="100000" sy="100000" kx="0" ky="0" algn="bl" rotWithShape="0" blurRad="101600" dist="25400" dir="5400000">
              <a:srgbClr val="000000">
                <a:alpha val="14000"/>
              </a:srgbClr>
            </a:outerShdw>
          </a:effectLst>
        </p:spPr>
      </p:sp>
      <p:sp>
        <p:nvSpPr>
          <p:cNvPr id="6" name="Text 4"/>
          <p:cNvSpPr txBox="1"/>
          <p:nvPr/>
        </p:nvSpPr>
        <p:spPr>
          <a:xfrm>
            <a:off x="868680" y="1508760"/>
            <a:ext cx="7315200" cy="320040"/>
          </a:xfrm>
          <a:prstGeom prst="rect">
            <a:avLst/>
          </a:prstGeom>
          <a:noFill/>
          <a:ln/>
        </p:spPr>
        <p:txBody>
          <a:bodyPr wrap="square" lIns="0" tIns="0" rIns="0" bIns="0" rtlCol="0" anchor="ctr"/>
          <a:lstStyle/>
          <a:p>
            <a:pPr indent="0" marL="0">
              <a:buNone/>
            </a:pPr>
            <a:r>
              <a:rPr lang="en-US" sz="1300" b="1" dirty="0">
                <a:solidFill>
                  <a:srgbClr val="5B7370"/>
                </a:solidFill>
                <a:latin typeface="Calibri" pitchFamily="34" charset="0"/>
                <a:ea typeface="Calibri" pitchFamily="34" charset="-122"/>
                <a:cs typeface="Calibri" pitchFamily="34" charset="-120"/>
              </a:rPr>
              <a:t>One real utterance from our survey (E05)</a:t>
            </a:r>
            <a:endParaRPr lang="en-US" sz="1300" dirty="0"/>
          </a:p>
        </p:txBody>
      </p:sp>
      <p:sp>
        <p:nvSpPr>
          <p:cNvPr id="7" name="Shape 5"/>
          <p:cNvSpPr/>
          <p:nvPr/>
        </p:nvSpPr>
        <p:spPr>
          <a:xfrm>
            <a:off x="868680" y="1965960"/>
            <a:ext cx="584302" cy="457200"/>
          </a:xfrm>
          <a:prstGeom prst="roundRect">
            <a:avLst>
              <a:gd name="adj" fmla="val 20000"/>
            </a:avLst>
          </a:prstGeom>
          <a:solidFill>
            <a:srgbClr val="CFE3F5"/>
          </a:solidFill>
          <a:ln w="12700">
            <a:solidFill>
              <a:srgbClr val="CFE3F5"/>
            </a:solidFill>
            <a:prstDash val="solid"/>
          </a:ln>
        </p:spPr>
      </p:sp>
      <p:sp>
        <p:nvSpPr>
          <p:cNvPr id="8" name="Text 6"/>
          <p:cNvSpPr txBox="1"/>
          <p:nvPr/>
        </p:nvSpPr>
        <p:spPr>
          <a:xfrm>
            <a:off x="868680" y="1965960"/>
            <a:ext cx="584302" cy="457200"/>
          </a:xfrm>
          <a:prstGeom prst="rect">
            <a:avLst/>
          </a:prstGeom>
          <a:noFill/>
          <a:ln/>
        </p:spPr>
        <p:txBody>
          <a:bodyPr wrap="square" lIns="0" tIns="0" rIns="0" bIns="0" rtlCol="0" anchor="ctr"/>
          <a:lstStyle/>
          <a:p>
            <a:pPr algn="ctr" indent="0" marL="0">
              <a:buNone/>
            </a:pPr>
            <a:r>
              <a:rPr lang="en-US" sz="1400" b="1" dirty="0">
                <a:solidFill>
                  <a:srgbClr val="10262B"/>
                </a:solidFill>
                <a:latin typeface="Calibri" pitchFamily="34" charset="0"/>
                <a:ea typeface="Calibri" pitchFamily="34" charset="-122"/>
                <a:cs typeface="Calibri" pitchFamily="34" charset="-120"/>
              </a:rPr>
              <a:t>I</a:t>
            </a:r>
            <a:endParaRPr lang="en-US" sz="1400" dirty="0"/>
          </a:p>
        </p:txBody>
      </p:sp>
      <p:sp>
        <p:nvSpPr>
          <p:cNvPr id="9" name="Shape 7"/>
          <p:cNvSpPr/>
          <p:nvPr/>
        </p:nvSpPr>
        <p:spPr>
          <a:xfrm>
            <a:off x="1544422" y="1965960"/>
            <a:ext cx="1102766" cy="457200"/>
          </a:xfrm>
          <a:prstGeom prst="roundRect">
            <a:avLst>
              <a:gd name="adj" fmla="val 20000"/>
            </a:avLst>
          </a:prstGeom>
          <a:solidFill>
            <a:srgbClr val="CFE3F5"/>
          </a:solidFill>
          <a:ln w="12700">
            <a:solidFill>
              <a:srgbClr val="CFE3F5"/>
            </a:solidFill>
            <a:prstDash val="solid"/>
          </a:ln>
        </p:spPr>
      </p:sp>
      <p:sp>
        <p:nvSpPr>
          <p:cNvPr id="10" name="Text 8"/>
          <p:cNvSpPr txBox="1"/>
          <p:nvPr/>
        </p:nvSpPr>
        <p:spPr>
          <a:xfrm>
            <a:off x="1544422" y="1965960"/>
            <a:ext cx="1102766" cy="457200"/>
          </a:xfrm>
          <a:prstGeom prst="rect">
            <a:avLst/>
          </a:prstGeom>
          <a:noFill/>
          <a:ln/>
        </p:spPr>
        <p:txBody>
          <a:bodyPr wrap="square" lIns="0" tIns="0" rIns="0" bIns="0" rtlCol="0" anchor="ctr"/>
          <a:lstStyle/>
          <a:p>
            <a:pPr algn="ctr" indent="0" marL="0">
              <a:buNone/>
            </a:pPr>
            <a:r>
              <a:rPr lang="en-US" sz="1400" b="1" dirty="0">
                <a:solidFill>
                  <a:srgbClr val="10262B"/>
                </a:solidFill>
                <a:latin typeface="Calibri" pitchFamily="34" charset="0"/>
                <a:ea typeface="Calibri" pitchFamily="34" charset="-122"/>
                <a:cs typeface="Calibri" pitchFamily="34" charset="-120"/>
              </a:rPr>
              <a:t>send</a:t>
            </a:r>
            <a:endParaRPr lang="en-US" sz="1400" dirty="0"/>
          </a:p>
        </p:txBody>
      </p:sp>
      <p:sp>
        <p:nvSpPr>
          <p:cNvPr id="11" name="Shape 9"/>
          <p:cNvSpPr/>
          <p:nvPr/>
        </p:nvSpPr>
        <p:spPr>
          <a:xfrm>
            <a:off x="2738628" y="1965960"/>
            <a:ext cx="757123" cy="457200"/>
          </a:xfrm>
          <a:prstGeom prst="roundRect">
            <a:avLst>
              <a:gd name="adj" fmla="val 20000"/>
            </a:avLst>
          </a:prstGeom>
          <a:solidFill>
            <a:srgbClr val="CFE3F5"/>
          </a:solidFill>
          <a:ln w="12700">
            <a:solidFill>
              <a:srgbClr val="CFE3F5"/>
            </a:solidFill>
            <a:prstDash val="solid"/>
          </a:ln>
        </p:spPr>
      </p:sp>
      <p:sp>
        <p:nvSpPr>
          <p:cNvPr id="12" name="Text 10"/>
          <p:cNvSpPr txBox="1"/>
          <p:nvPr/>
        </p:nvSpPr>
        <p:spPr>
          <a:xfrm>
            <a:off x="2738628" y="1965960"/>
            <a:ext cx="757123" cy="457200"/>
          </a:xfrm>
          <a:prstGeom prst="rect">
            <a:avLst/>
          </a:prstGeom>
          <a:noFill/>
          <a:ln/>
        </p:spPr>
        <p:txBody>
          <a:bodyPr wrap="square" lIns="0" tIns="0" rIns="0" bIns="0" rtlCol="0" anchor="ctr"/>
          <a:lstStyle/>
          <a:p>
            <a:pPr algn="ctr" indent="0" marL="0">
              <a:buNone/>
            </a:pPr>
            <a:r>
              <a:rPr lang="en-US" sz="1400" b="1" dirty="0">
                <a:solidFill>
                  <a:srgbClr val="10262B"/>
                </a:solidFill>
                <a:latin typeface="Calibri" pitchFamily="34" charset="0"/>
                <a:ea typeface="Calibri" pitchFamily="34" charset="-122"/>
                <a:cs typeface="Calibri" pitchFamily="34" charset="-120"/>
              </a:rPr>
              <a:t>my</a:t>
            </a:r>
            <a:endParaRPr lang="en-US" sz="1400" dirty="0"/>
          </a:p>
        </p:txBody>
      </p:sp>
      <p:sp>
        <p:nvSpPr>
          <p:cNvPr id="13" name="Shape 11"/>
          <p:cNvSpPr/>
          <p:nvPr/>
        </p:nvSpPr>
        <p:spPr>
          <a:xfrm>
            <a:off x="3587191" y="1965960"/>
            <a:ext cx="929945" cy="457200"/>
          </a:xfrm>
          <a:prstGeom prst="roundRect">
            <a:avLst>
              <a:gd name="adj" fmla="val 20000"/>
            </a:avLst>
          </a:prstGeom>
          <a:solidFill>
            <a:srgbClr val="CDEBC9"/>
          </a:solidFill>
          <a:ln w="12700">
            <a:solidFill>
              <a:srgbClr val="CDEBC9"/>
            </a:solidFill>
            <a:prstDash val="solid"/>
          </a:ln>
        </p:spPr>
      </p:sp>
      <p:sp>
        <p:nvSpPr>
          <p:cNvPr id="14" name="Text 12"/>
          <p:cNvSpPr txBox="1"/>
          <p:nvPr/>
        </p:nvSpPr>
        <p:spPr>
          <a:xfrm>
            <a:off x="3587191" y="1965960"/>
            <a:ext cx="929945" cy="457200"/>
          </a:xfrm>
          <a:prstGeom prst="rect">
            <a:avLst/>
          </a:prstGeom>
          <a:noFill/>
          <a:ln/>
        </p:spPr>
        <p:txBody>
          <a:bodyPr wrap="square" lIns="0" tIns="0" rIns="0" bIns="0" rtlCol="0" anchor="ctr"/>
          <a:lstStyle/>
          <a:p>
            <a:pPr algn="ctr" indent="0" marL="0">
              <a:buNone/>
            </a:pPr>
            <a:r>
              <a:rPr lang="en-US" sz="1400" b="1" dirty="0">
                <a:solidFill>
                  <a:srgbClr val="10262B"/>
                </a:solidFill>
                <a:latin typeface="Calibri" pitchFamily="34" charset="0"/>
                <a:ea typeface="Calibri" pitchFamily="34" charset="-122"/>
                <a:cs typeface="Calibri" pitchFamily="34" charset="-120"/>
              </a:rPr>
              <a:t>aza</a:t>
            </a:r>
            <a:endParaRPr lang="en-US" sz="1400" dirty="0"/>
          </a:p>
        </p:txBody>
      </p:sp>
      <p:sp>
        <p:nvSpPr>
          <p:cNvPr id="15" name="Shape 13"/>
          <p:cNvSpPr/>
          <p:nvPr/>
        </p:nvSpPr>
        <p:spPr>
          <a:xfrm>
            <a:off x="4608576" y="1965960"/>
            <a:ext cx="1102766" cy="457200"/>
          </a:xfrm>
          <a:prstGeom prst="roundRect">
            <a:avLst>
              <a:gd name="adj" fmla="val 20000"/>
            </a:avLst>
          </a:prstGeom>
          <a:solidFill>
            <a:srgbClr val="FBE7A8"/>
          </a:solidFill>
          <a:ln w="12700">
            <a:solidFill>
              <a:srgbClr val="FBE7A8"/>
            </a:solidFill>
            <a:prstDash val="solid"/>
          </a:ln>
        </p:spPr>
      </p:sp>
      <p:sp>
        <p:nvSpPr>
          <p:cNvPr id="16" name="Text 14"/>
          <p:cNvSpPr txBox="1"/>
          <p:nvPr/>
        </p:nvSpPr>
        <p:spPr>
          <a:xfrm>
            <a:off x="4608576" y="1965960"/>
            <a:ext cx="1102766" cy="457200"/>
          </a:xfrm>
          <a:prstGeom prst="rect">
            <a:avLst/>
          </a:prstGeom>
          <a:noFill/>
          <a:ln/>
        </p:spPr>
        <p:txBody>
          <a:bodyPr wrap="square" lIns="0" tIns="0" rIns="0" bIns="0" rtlCol="0" anchor="ctr"/>
          <a:lstStyle/>
          <a:p>
            <a:pPr algn="ctr" indent="0" marL="0">
              <a:buNone/>
            </a:pPr>
            <a:r>
              <a:rPr lang="en-US" sz="1400" b="1" dirty="0">
                <a:solidFill>
                  <a:srgbClr val="10262B"/>
                </a:solidFill>
                <a:latin typeface="Calibri" pitchFamily="34" charset="0"/>
                <a:ea typeface="Calibri" pitchFamily="34" charset="-122"/>
                <a:cs typeface="Calibri" pitchFamily="34" charset="-120"/>
              </a:rPr>
              <a:t>make</a:t>
            </a:r>
            <a:endParaRPr lang="en-US" sz="1400" dirty="0"/>
          </a:p>
        </p:txBody>
      </p:sp>
      <p:sp>
        <p:nvSpPr>
          <p:cNvPr id="17" name="Shape 15"/>
          <p:cNvSpPr/>
          <p:nvPr/>
        </p:nvSpPr>
        <p:spPr>
          <a:xfrm>
            <a:off x="5802782" y="1965960"/>
            <a:ext cx="929945" cy="457200"/>
          </a:xfrm>
          <a:prstGeom prst="roundRect">
            <a:avLst>
              <a:gd name="adj" fmla="val 20000"/>
            </a:avLst>
          </a:prstGeom>
          <a:solidFill>
            <a:srgbClr val="CFE3F5"/>
          </a:solidFill>
          <a:ln w="12700">
            <a:solidFill>
              <a:srgbClr val="CFE3F5"/>
            </a:solidFill>
            <a:prstDash val="solid"/>
          </a:ln>
        </p:spPr>
      </p:sp>
      <p:sp>
        <p:nvSpPr>
          <p:cNvPr id="18" name="Text 16"/>
          <p:cNvSpPr txBox="1"/>
          <p:nvPr/>
        </p:nvSpPr>
        <p:spPr>
          <a:xfrm>
            <a:off x="5802782" y="1965960"/>
            <a:ext cx="929945" cy="457200"/>
          </a:xfrm>
          <a:prstGeom prst="rect">
            <a:avLst/>
          </a:prstGeom>
          <a:noFill/>
          <a:ln/>
        </p:spPr>
        <p:txBody>
          <a:bodyPr wrap="square" lIns="0" tIns="0" rIns="0" bIns="0" rtlCol="0" anchor="ctr"/>
          <a:lstStyle/>
          <a:p>
            <a:pPr algn="ctr" indent="0" marL="0">
              <a:buNone/>
            </a:pPr>
            <a:r>
              <a:rPr lang="en-US" sz="1400" b="1" dirty="0">
                <a:solidFill>
                  <a:srgbClr val="10262B"/>
                </a:solidFill>
                <a:latin typeface="Calibri" pitchFamily="34" charset="0"/>
                <a:ea typeface="Calibri" pitchFamily="34" charset="-122"/>
                <a:cs typeface="Calibri" pitchFamily="34" charset="-120"/>
              </a:rPr>
              <a:t>you</a:t>
            </a:r>
            <a:endParaRPr lang="en-US" sz="1400" dirty="0"/>
          </a:p>
        </p:txBody>
      </p:sp>
      <p:sp>
        <p:nvSpPr>
          <p:cNvPr id="19" name="Shape 17"/>
          <p:cNvSpPr/>
          <p:nvPr/>
        </p:nvSpPr>
        <p:spPr>
          <a:xfrm>
            <a:off x="6824167" y="1965960"/>
            <a:ext cx="1102766" cy="457200"/>
          </a:xfrm>
          <a:prstGeom prst="roundRect">
            <a:avLst>
              <a:gd name="adj" fmla="val 20000"/>
            </a:avLst>
          </a:prstGeom>
          <a:solidFill>
            <a:srgbClr val="CFE3F5"/>
          </a:solidFill>
          <a:ln w="12700">
            <a:solidFill>
              <a:srgbClr val="CFE3F5"/>
            </a:solidFill>
            <a:prstDash val="solid"/>
          </a:ln>
        </p:spPr>
      </p:sp>
      <p:sp>
        <p:nvSpPr>
          <p:cNvPr id="20" name="Text 18"/>
          <p:cNvSpPr txBox="1"/>
          <p:nvPr/>
        </p:nvSpPr>
        <p:spPr>
          <a:xfrm>
            <a:off x="6824167" y="1965960"/>
            <a:ext cx="1102766" cy="457200"/>
          </a:xfrm>
          <a:prstGeom prst="rect">
            <a:avLst/>
          </a:prstGeom>
          <a:noFill/>
          <a:ln/>
        </p:spPr>
        <p:txBody>
          <a:bodyPr wrap="square" lIns="0" tIns="0" rIns="0" bIns="0" rtlCol="0" anchor="ctr"/>
          <a:lstStyle/>
          <a:p>
            <a:pPr algn="ctr" indent="0" marL="0">
              <a:buNone/>
            </a:pPr>
            <a:r>
              <a:rPr lang="en-US" sz="1400" b="1" dirty="0">
                <a:solidFill>
                  <a:srgbClr val="10262B"/>
                </a:solidFill>
                <a:latin typeface="Calibri" pitchFamily="34" charset="0"/>
                <a:ea typeface="Calibri" pitchFamily="34" charset="-122"/>
                <a:cs typeface="Calibri" pitchFamily="34" charset="-120"/>
              </a:rPr>
              <a:t>fund</a:t>
            </a:r>
            <a:endParaRPr lang="en-US" sz="1400" dirty="0"/>
          </a:p>
        </p:txBody>
      </p:sp>
      <p:sp>
        <p:nvSpPr>
          <p:cNvPr id="21" name="Shape 19"/>
          <p:cNvSpPr/>
          <p:nvPr/>
        </p:nvSpPr>
        <p:spPr>
          <a:xfrm>
            <a:off x="8018374" y="1965960"/>
            <a:ext cx="757123" cy="457200"/>
          </a:xfrm>
          <a:prstGeom prst="roundRect">
            <a:avLst>
              <a:gd name="adj" fmla="val 20000"/>
            </a:avLst>
          </a:prstGeom>
          <a:solidFill>
            <a:srgbClr val="CFE3F5"/>
          </a:solidFill>
          <a:ln w="12700">
            <a:solidFill>
              <a:srgbClr val="CFE3F5"/>
            </a:solidFill>
            <a:prstDash val="solid"/>
          </a:ln>
        </p:spPr>
      </p:sp>
      <p:sp>
        <p:nvSpPr>
          <p:cNvPr id="22" name="Text 20"/>
          <p:cNvSpPr txBox="1"/>
          <p:nvPr/>
        </p:nvSpPr>
        <p:spPr>
          <a:xfrm>
            <a:off x="8018374" y="1965960"/>
            <a:ext cx="757123" cy="457200"/>
          </a:xfrm>
          <a:prstGeom prst="rect">
            <a:avLst/>
          </a:prstGeom>
          <a:noFill/>
          <a:ln/>
        </p:spPr>
        <p:txBody>
          <a:bodyPr wrap="square" lIns="0" tIns="0" rIns="0" bIns="0" rtlCol="0" anchor="ctr"/>
          <a:lstStyle/>
          <a:p>
            <a:pPr algn="ctr" indent="0" marL="0">
              <a:buNone/>
            </a:pPr>
            <a:r>
              <a:rPr lang="en-US" sz="1400" b="1" dirty="0">
                <a:solidFill>
                  <a:srgbClr val="10262B"/>
                </a:solidFill>
                <a:latin typeface="Calibri" pitchFamily="34" charset="0"/>
                <a:ea typeface="Calibri" pitchFamily="34" charset="-122"/>
                <a:cs typeface="Calibri" pitchFamily="34" charset="-120"/>
              </a:rPr>
              <a:t>me</a:t>
            </a:r>
            <a:endParaRPr lang="en-US" sz="1400" dirty="0"/>
          </a:p>
        </p:txBody>
      </p:sp>
      <p:sp>
        <p:nvSpPr>
          <p:cNvPr id="23" name="Shape 21"/>
          <p:cNvSpPr/>
          <p:nvPr/>
        </p:nvSpPr>
        <p:spPr>
          <a:xfrm>
            <a:off x="8866937" y="1965960"/>
            <a:ext cx="1794053" cy="457200"/>
          </a:xfrm>
          <a:prstGeom prst="roundRect">
            <a:avLst>
              <a:gd name="adj" fmla="val 20000"/>
            </a:avLst>
          </a:prstGeom>
          <a:solidFill>
            <a:srgbClr val="CDEBC9"/>
          </a:solidFill>
          <a:ln w="12700">
            <a:solidFill>
              <a:srgbClr val="CDEBC9"/>
            </a:solidFill>
            <a:prstDash val="solid"/>
          </a:ln>
        </p:spPr>
      </p:sp>
      <p:sp>
        <p:nvSpPr>
          <p:cNvPr id="24" name="Text 22"/>
          <p:cNvSpPr txBox="1"/>
          <p:nvPr/>
        </p:nvSpPr>
        <p:spPr>
          <a:xfrm>
            <a:off x="8866937" y="1965960"/>
            <a:ext cx="1794053" cy="457200"/>
          </a:xfrm>
          <a:prstGeom prst="rect">
            <a:avLst/>
          </a:prstGeom>
          <a:noFill/>
          <a:ln/>
        </p:spPr>
        <p:txBody>
          <a:bodyPr wrap="square" lIns="0" tIns="0" rIns="0" bIns="0" rtlCol="0" anchor="ctr"/>
          <a:lstStyle/>
          <a:p>
            <a:pPr algn="ctr" indent="0" marL="0">
              <a:buNone/>
            </a:pPr>
            <a:r>
              <a:rPr lang="en-US" sz="1400" b="1" dirty="0">
                <a:solidFill>
                  <a:srgbClr val="10262B"/>
                </a:solidFill>
                <a:latin typeface="Calibri" pitchFamily="34" charset="0"/>
                <a:ea typeface="Calibri" pitchFamily="34" charset="-122"/>
                <a:cs typeface="Calibri" pitchFamily="34" charset="-120"/>
              </a:rPr>
              <a:t>fapnkolo</a:t>
            </a:r>
            <a:endParaRPr lang="en-US" sz="1400" dirty="0"/>
          </a:p>
        </p:txBody>
      </p:sp>
      <p:sp>
        <p:nvSpPr>
          <p:cNvPr id="25" name="Text 23"/>
          <p:cNvSpPr txBox="1"/>
          <p:nvPr/>
        </p:nvSpPr>
        <p:spPr>
          <a:xfrm>
            <a:off x="868680" y="2651760"/>
            <a:ext cx="8229600" cy="365760"/>
          </a:xfrm>
          <a:prstGeom prst="rect">
            <a:avLst/>
          </a:prstGeom>
          <a:noFill/>
          <a:ln/>
        </p:spPr>
        <p:txBody>
          <a:bodyPr wrap="square" lIns="0" tIns="0" rIns="0" bIns="0" rtlCol="0" anchor="ctr"/>
          <a:lstStyle/>
          <a:p>
            <a:pPr indent="0" marL="0">
              <a:buNone/>
            </a:pPr>
            <a:r>
              <a:rPr lang="en-US" sz="1500" i="1" dirty="0">
                <a:solidFill>
                  <a:srgbClr val="10262B"/>
                </a:solidFill>
                <a:latin typeface="Calibri" pitchFamily="34" charset="0"/>
                <a:ea typeface="Calibri" pitchFamily="34" charset="-122"/>
                <a:cs typeface="Calibri" pitchFamily="34" charset="-120"/>
              </a:rPr>
              <a:t>“Should I send my account details so you can send me 5000frs”  (contributor’s translation)</a:t>
            </a:r>
            <a:endParaRPr lang="en-US" sz="1500" dirty="0"/>
          </a:p>
        </p:txBody>
      </p:sp>
      <p:sp>
        <p:nvSpPr>
          <p:cNvPr id="26" name="Shape 24"/>
          <p:cNvSpPr/>
          <p:nvPr/>
        </p:nvSpPr>
        <p:spPr>
          <a:xfrm>
            <a:off x="868680" y="3108960"/>
            <a:ext cx="1051560" cy="274320"/>
          </a:xfrm>
          <a:prstGeom prst="roundRect">
            <a:avLst>
              <a:gd name="adj" fmla="val 26667"/>
            </a:avLst>
          </a:prstGeom>
          <a:solidFill>
            <a:srgbClr val="CFE3F5"/>
          </a:solidFill>
          <a:ln w="12700">
            <a:solidFill>
              <a:srgbClr val="CFE3F5"/>
            </a:solidFill>
            <a:prstDash val="solid"/>
          </a:ln>
        </p:spPr>
      </p:sp>
      <p:sp>
        <p:nvSpPr>
          <p:cNvPr id="27" name="Text 25"/>
          <p:cNvSpPr txBox="1"/>
          <p:nvPr/>
        </p:nvSpPr>
        <p:spPr>
          <a:xfrm>
            <a:off x="868680" y="3108960"/>
            <a:ext cx="1051560" cy="274320"/>
          </a:xfrm>
          <a:prstGeom prst="rect">
            <a:avLst/>
          </a:prstGeom>
          <a:noFill/>
          <a:ln/>
        </p:spPr>
        <p:txBody>
          <a:bodyPr wrap="square" lIns="0" tIns="0" rIns="0" bIns="0" rtlCol="0" anchor="ctr"/>
          <a:lstStyle/>
          <a:p>
            <a:pPr algn="ctr" indent="0" marL="0">
              <a:buNone/>
            </a:pPr>
            <a:r>
              <a:rPr lang="en-US" sz="1100" dirty="0">
                <a:solidFill>
                  <a:srgbClr val="10262B"/>
                </a:solidFill>
                <a:latin typeface="Calibri" pitchFamily="34" charset="0"/>
                <a:ea typeface="Calibri" pitchFamily="34" charset="-122"/>
                <a:cs typeface="Calibri" pitchFamily="34" charset="-120"/>
              </a:rPr>
              <a:t>English</a:t>
            </a:r>
            <a:endParaRPr lang="en-US" sz="1100" dirty="0"/>
          </a:p>
        </p:txBody>
      </p:sp>
      <p:sp>
        <p:nvSpPr>
          <p:cNvPr id="28" name="Shape 26"/>
          <p:cNvSpPr/>
          <p:nvPr/>
        </p:nvSpPr>
        <p:spPr>
          <a:xfrm>
            <a:off x="2057400" y="3108960"/>
            <a:ext cx="1051560" cy="274320"/>
          </a:xfrm>
          <a:prstGeom prst="roundRect">
            <a:avLst>
              <a:gd name="adj" fmla="val 26667"/>
            </a:avLst>
          </a:prstGeom>
          <a:solidFill>
            <a:srgbClr val="F6D3E4"/>
          </a:solidFill>
          <a:ln w="12700">
            <a:solidFill>
              <a:srgbClr val="F6D3E4"/>
            </a:solidFill>
            <a:prstDash val="solid"/>
          </a:ln>
        </p:spPr>
      </p:sp>
      <p:sp>
        <p:nvSpPr>
          <p:cNvPr id="29" name="Text 27"/>
          <p:cNvSpPr txBox="1"/>
          <p:nvPr/>
        </p:nvSpPr>
        <p:spPr>
          <a:xfrm>
            <a:off x="2057400" y="3108960"/>
            <a:ext cx="1051560" cy="274320"/>
          </a:xfrm>
          <a:prstGeom prst="rect">
            <a:avLst/>
          </a:prstGeom>
          <a:noFill/>
          <a:ln/>
        </p:spPr>
        <p:txBody>
          <a:bodyPr wrap="square" lIns="0" tIns="0" rIns="0" bIns="0" rtlCol="0" anchor="ctr"/>
          <a:lstStyle/>
          <a:p>
            <a:pPr algn="ctr" indent="0" marL="0">
              <a:buNone/>
            </a:pPr>
            <a:r>
              <a:rPr lang="en-US" sz="1100" dirty="0">
                <a:solidFill>
                  <a:srgbClr val="10262B"/>
                </a:solidFill>
                <a:latin typeface="Calibri" pitchFamily="34" charset="0"/>
                <a:ea typeface="Calibri" pitchFamily="34" charset="-122"/>
                <a:cs typeface="Calibri" pitchFamily="34" charset="-120"/>
              </a:rPr>
              <a:t>French</a:t>
            </a:r>
            <a:endParaRPr lang="en-US" sz="1100" dirty="0"/>
          </a:p>
        </p:txBody>
      </p:sp>
      <p:sp>
        <p:nvSpPr>
          <p:cNvPr id="30" name="Shape 28"/>
          <p:cNvSpPr/>
          <p:nvPr/>
        </p:nvSpPr>
        <p:spPr>
          <a:xfrm>
            <a:off x="3246120" y="3108960"/>
            <a:ext cx="1051560" cy="274320"/>
          </a:xfrm>
          <a:prstGeom prst="roundRect">
            <a:avLst>
              <a:gd name="adj" fmla="val 26667"/>
            </a:avLst>
          </a:prstGeom>
          <a:solidFill>
            <a:srgbClr val="FBE7A8"/>
          </a:solidFill>
          <a:ln w="12700">
            <a:solidFill>
              <a:srgbClr val="FBE7A8"/>
            </a:solidFill>
            <a:prstDash val="solid"/>
          </a:ln>
        </p:spPr>
      </p:sp>
      <p:sp>
        <p:nvSpPr>
          <p:cNvPr id="31" name="Text 29"/>
          <p:cNvSpPr txBox="1"/>
          <p:nvPr/>
        </p:nvSpPr>
        <p:spPr>
          <a:xfrm>
            <a:off x="3246120" y="3108960"/>
            <a:ext cx="1051560" cy="274320"/>
          </a:xfrm>
          <a:prstGeom prst="rect">
            <a:avLst/>
          </a:prstGeom>
          <a:noFill/>
          <a:ln/>
        </p:spPr>
        <p:txBody>
          <a:bodyPr wrap="square" lIns="0" tIns="0" rIns="0" bIns="0" rtlCol="0" anchor="ctr"/>
          <a:lstStyle/>
          <a:p>
            <a:pPr algn="ctr" indent="0" marL="0">
              <a:buNone/>
            </a:pPr>
            <a:r>
              <a:rPr lang="en-US" sz="1100" dirty="0">
                <a:solidFill>
                  <a:srgbClr val="10262B"/>
                </a:solidFill>
                <a:latin typeface="Calibri" pitchFamily="34" charset="0"/>
                <a:ea typeface="Calibri" pitchFamily="34" charset="-122"/>
                <a:cs typeface="Calibri" pitchFamily="34" charset="-120"/>
              </a:rPr>
              <a:t>Pidgin</a:t>
            </a:r>
            <a:endParaRPr lang="en-US" sz="1100" dirty="0"/>
          </a:p>
        </p:txBody>
      </p:sp>
      <p:sp>
        <p:nvSpPr>
          <p:cNvPr id="32" name="Shape 30"/>
          <p:cNvSpPr/>
          <p:nvPr/>
        </p:nvSpPr>
        <p:spPr>
          <a:xfrm>
            <a:off x="4434840" y="3108960"/>
            <a:ext cx="1051560" cy="274320"/>
          </a:xfrm>
          <a:prstGeom prst="roundRect">
            <a:avLst>
              <a:gd name="adj" fmla="val 26667"/>
            </a:avLst>
          </a:prstGeom>
          <a:solidFill>
            <a:srgbClr val="CDEBC9"/>
          </a:solidFill>
          <a:ln w="12700">
            <a:solidFill>
              <a:srgbClr val="CDEBC9"/>
            </a:solidFill>
            <a:prstDash val="solid"/>
          </a:ln>
        </p:spPr>
      </p:sp>
      <p:sp>
        <p:nvSpPr>
          <p:cNvPr id="33" name="Text 31"/>
          <p:cNvSpPr txBox="1"/>
          <p:nvPr/>
        </p:nvSpPr>
        <p:spPr>
          <a:xfrm>
            <a:off x="4434840" y="3108960"/>
            <a:ext cx="1051560" cy="274320"/>
          </a:xfrm>
          <a:prstGeom prst="rect">
            <a:avLst/>
          </a:prstGeom>
          <a:noFill/>
          <a:ln/>
        </p:spPr>
        <p:txBody>
          <a:bodyPr wrap="square" lIns="0" tIns="0" rIns="0" bIns="0" rtlCol="0" anchor="ctr"/>
          <a:lstStyle/>
          <a:p>
            <a:pPr algn="ctr" indent="0" marL="0">
              <a:buNone/>
            </a:pPr>
            <a:r>
              <a:rPr lang="en-US" sz="1100" dirty="0">
                <a:solidFill>
                  <a:srgbClr val="10262B"/>
                </a:solidFill>
                <a:latin typeface="Calibri" pitchFamily="34" charset="0"/>
                <a:ea typeface="Calibri" pitchFamily="34" charset="-122"/>
                <a:cs typeface="Calibri" pitchFamily="34" charset="-120"/>
              </a:rPr>
              <a:t>Slang</a:t>
            </a:r>
            <a:endParaRPr lang="en-US" sz="1100" dirty="0"/>
          </a:p>
        </p:txBody>
      </p:sp>
      <p:sp>
        <p:nvSpPr>
          <p:cNvPr id="34" name="Shape 32"/>
          <p:cNvSpPr/>
          <p:nvPr/>
        </p:nvSpPr>
        <p:spPr>
          <a:xfrm>
            <a:off x="548640" y="3840480"/>
            <a:ext cx="2560320" cy="2194560"/>
          </a:xfrm>
          <a:prstGeom prst="roundRect">
            <a:avLst>
              <a:gd name="adj" fmla="val 5000"/>
            </a:avLst>
          </a:prstGeom>
          <a:solidFill>
            <a:srgbClr val="FFFFFF"/>
          </a:solidFill>
          <a:ln w="9525">
            <a:solidFill>
              <a:srgbClr val="D5E0DD"/>
            </a:solidFill>
            <a:prstDash val="solid"/>
          </a:ln>
          <a:effectLst>
            <a:outerShdw sx="100000" sy="100000" kx="0" ky="0" algn="bl" rotWithShape="0" blurRad="101600" dist="25400" dir="5400000">
              <a:srgbClr val="000000">
                <a:alpha val="14000"/>
              </a:srgbClr>
            </a:outerShdw>
          </a:effectLst>
        </p:spPr>
      </p:sp>
      <p:sp>
        <p:nvSpPr>
          <p:cNvPr id="35" name="Text 33"/>
          <p:cNvSpPr txBox="1"/>
          <p:nvPr/>
        </p:nvSpPr>
        <p:spPr>
          <a:xfrm>
            <a:off x="548640" y="3977640"/>
            <a:ext cx="2560320" cy="1207008"/>
          </a:xfrm>
          <a:prstGeom prst="rect">
            <a:avLst/>
          </a:prstGeom>
          <a:noFill/>
          <a:ln/>
        </p:spPr>
        <p:txBody>
          <a:bodyPr wrap="square" lIns="0" tIns="0" rIns="0" bIns="0" rtlCol="0" anchor="ctr"/>
          <a:lstStyle/>
          <a:p>
            <a:pPr algn="ctr" indent="0" marL="0">
              <a:buNone/>
            </a:pPr>
            <a:r>
              <a:rPr lang="en-US" sz="4400" b="1" dirty="0">
                <a:solidFill>
                  <a:srgbClr val="0F6B61"/>
                </a:solidFill>
                <a:latin typeface="Cambria" pitchFamily="34" charset="0"/>
                <a:ea typeface="Cambria" pitchFamily="34" charset="-122"/>
                <a:cs typeface="Cambria" pitchFamily="34" charset="-120"/>
              </a:rPr>
              <a:t>50</a:t>
            </a:r>
            <a:endParaRPr lang="en-US" sz="4400" dirty="0"/>
          </a:p>
        </p:txBody>
      </p:sp>
      <p:sp>
        <p:nvSpPr>
          <p:cNvPr id="36" name="Text 34"/>
          <p:cNvSpPr txBox="1"/>
          <p:nvPr/>
        </p:nvSpPr>
        <p:spPr>
          <a:xfrm>
            <a:off x="685800" y="5201107"/>
            <a:ext cx="2286000" cy="724205"/>
          </a:xfrm>
          <a:prstGeom prst="rect">
            <a:avLst/>
          </a:prstGeom>
          <a:noFill/>
          <a:ln/>
        </p:spPr>
        <p:txBody>
          <a:bodyPr wrap="square" lIns="0" tIns="0" rIns="0" bIns="0" rtlCol="0" anchor="t"/>
          <a:lstStyle/>
          <a:p>
            <a:pPr algn="ctr" indent="0" marL="0">
              <a:buNone/>
            </a:pPr>
            <a:r>
              <a:rPr lang="en-US" sz="1400" dirty="0">
                <a:solidFill>
                  <a:srgbClr val="5B7370"/>
                </a:solidFill>
                <a:latin typeface="Calibri" pitchFamily="34" charset="0"/>
                <a:ea typeface="Calibri" pitchFamily="34" charset="-122"/>
                <a:cs typeface="Calibri" pitchFamily="34" charset="-120"/>
              </a:rPr>
              <a:t>real utterances tested</a:t>
            </a:r>
            <a:endParaRPr lang="en-US" sz="1400" dirty="0"/>
          </a:p>
        </p:txBody>
      </p:sp>
      <p:sp>
        <p:nvSpPr>
          <p:cNvPr id="37" name="Shape 35"/>
          <p:cNvSpPr/>
          <p:nvPr/>
        </p:nvSpPr>
        <p:spPr>
          <a:xfrm>
            <a:off x="3291840" y="3840480"/>
            <a:ext cx="2560320" cy="2194560"/>
          </a:xfrm>
          <a:prstGeom prst="roundRect">
            <a:avLst>
              <a:gd name="adj" fmla="val 5000"/>
            </a:avLst>
          </a:prstGeom>
          <a:solidFill>
            <a:srgbClr val="FFFFFF"/>
          </a:solidFill>
          <a:ln w="9525">
            <a:solidFill>
              <a:srgbClr val="D5E0DD"/>
            </a:solidFill>
            <a:prstDash val="solid"/>
          </a:ln>
          <a:effectLst>
            <a:outerShdw sx="100000" sy="100000" kx="0" ky="0" algn="bl" rotWithShape="0" blurRad="101600" dist="25400" dir="5400000">
              <a:srgbClr val="000000">
                <a:alpha val="14000"/>
              </a:srgbClr>
            </a:outerShdw>
          </a:effectLst>
        </p:spPr>
      </p:sp>
      <p:sp>
        <p:nvSpPr>
          <p:cNvPr id="38" name="Text 36"/>
          <p:cNvSpPr txBox="1"/>
          <p:nvPr/>
        </p:nvSpPr>
        <p:spPr>
          <a:xfrm>
            <a:off x="3291840" y="3977640"/>
            <a:ext cx="2560320" cy="1207008"/>
          </a:xfrm>
          <a:prstGeom prst="rect">
            <a:avLst/>
          </a:prstGeom>
          <a:noFill/>
          <a:ln/>
        </p:spPr>
        <p:txBody>
          <a:bodyPr wrap="square" lIns="0" tIns="0" rIns="0" bIns="0" rtlCol="0" anchor="ctr"/>
          <a:lstStyle/>
          <a:p>
            <a:pPr algn="ctr" indent="0" marL="0">
              <a:buNone/>
            </a:pPr>
            <a:r>
              <a:rPr lang="en-US" sz="4400" b="1" dirty="0">
                <a:solidFill>
                  <a:srgbClr val="0F6B61"/>
                </a:solidFill>
                <a:latin typeface="Cambria" pitchFamily="34" charset="0"/>
                <a:ea typeface="Cambria" pitchFamily="34" charset="-122"/>
                <a:cs typeface="Cambria" pitchFamily="34" charset="-120"/>
              </a:rPr>
              <a:t>9</a:t>
            </a:r>
            <a:endParaRPr lang="en-US" sz="4400" dirty="0"/>
          </a:p>
        </p:txBody>
      </p:sp>
      <p:sp>
        <p:nvSpPr>
          <p:cNvPr id="39" name="Text 37"/>
          <p:cNvSpPr txBox="1"/>
          <p:nvPr/>
        </p:nvSpPr>
        <p:spPr>
          <a:xfrm>
            <a:off x="3429000" y="5201107"/>
            <a:ext cx="2286000" cy="724205"/>
          </a:xfrm>
          <a:prstGeom prst="rect">
            <a:avLst/>
          </a:prstGeom>
          <a:noFill/>
          <a:ln/>
        </p:spPr>
        <p:txBody>
          <a:bodyPr wrap="square" lIns="0" tIns="0" rIns="0" bIns="0" rtlCol="0" anchor="t"/>
          <a:lstStyle/>
          <a:p>
            <a:pPr algn="ctr" indent="0" marL="0">
              <a:buNone/>
            </a:pPr>
            <a:r>
              <a:rPr lang="en-US" sz="1400" dirty="0">
                <a:solidFill>
                  <a:srgbClr val="5B7370"/>
                </a:solidFill>
                <a:latin typeface="Calibri" pitchFamily="34" charset="0"/>
                <a:ea typeface="Calibri" pitchFamily="34" charset="-122"/>
                <a:cs typeface="Calibri" pitchFamily="34" charset="-120"/>
              </a:rPr>
              <a:t>survey contributors</a:t>
            </a:r>
            <a:endParaRPr lang="en-US" sz="1400" dirty="0"/>
          </a:p>
        </p:txBody>
      </p:sp>
      <p:sp>
        <p:nvSpPr>
          <p:cNvPr id="40" name="Shape 38"/>
          <p:cNvSpPr/>
          <p:nvPr/>
        </p:nvSpPr>
        <p:spPr>
          <a:xfrm>
            <a:off x="6035040" y="3840480"/>
            <a:ext cx="2743200" cy="2194560"/>
          </a:xfrm>
          <a:prstGeom prst="roundRect">
            <a:avLst>
              <a:gd name="adj" fmla="val 5000"/>
            </a:avLst>
          </a:prstGeom>
          <a:solidFill>
            <a:srgbClr val="0B3D38"/>
          </a:solidFill>
          <a:ln w="9525">
            <a:solidFill>
              <a:srgbClr val="D5E0DD"/>
            </a:solidFill>
            <a:prstDash val="solid"/>
          </a:ln>
          <a:effectLst>
            <a:outerShdw sx="100000" sy="100000" kx="0" ky="0" algn="bl" rotWithShape="0" blurRad="101600" dist="25400" dir="5400000">
              <a:srgbClr val="000000">
                <a:alpha val="14000"/>
              </a:srgbClr>
            </a:outerShdw>
          </a:effectLst>
        </p:spPr>
      </p:sp>
      <p:sp>
        <p:nvSpPr>
          <p:cNvPr id="41" name="Text 39"/>
          <p:cNvSpPr txBox="1"/>
          <p:nvPr/>
        </p:nvSpPr>
        <p:spPr>
          <a:xfrm>
            <a:off x="6035040" y="3977640"/>
            <a:ext cx="2743200" cy="1207008"/>
          </a:xfrm>
          <a:prstGeom prst="rect">
            <a:avLst/>
          </a:prstGeom>
          <a:noFill/>
          <a:ln/>
        </p:spPr>
        <p:txBody>
          <a:bodyPr wrap="square" lIns="0" tIns="0" rIns="0" bIns="0" rtlCol="0" anchor="ctr"/>
          <a:lstStyle/>
          <a:p>
            <a:pPr algn="ctr" indent="0" marL="0">
              <a:buNone/>
            </a:pPr>
            <a:r>
              <a:rPr lang="en-US" sz="4400" b="1" dirty="0">
                <a:solidFill>
                  <a:srgbClr val="F5B700"/>
                </a:solidFill>
                <a:latin typeface="Cambria" pitchFamily="34" charset="0"/>
                <a:ea typeface="Cambria" pitchFamily="34" charset="-122"/>
                <a:cs typeface="Cambria" pitchFamily="34" charset="-120"/>
              </a:rPr>
              <a:t>74%</a:t>
            </a:r>
            <a:endParaRPr lang="en-US" sz="4400" dirty="0"/>
          </a:p>
        </p:txBody>
      </p:sp>
      <p:sp>
        <p:nvSpPr>
          <p:cNvPr id="42" name="Text 40"/>
          <p:cNvSpPr txBox="1"/>
          <p:nvPr/>
        </p:nvSpPr>
        <p:spPr>
          <a:xfrm>
            <a:off x="6172200" y="5201107"/>
            <a:ext cx="2468880" cy="724205"/>
          </a:xfrm>
          <a:prstGeom prst="rect">
            <a:avLst/>
          </a:prstGeom>
          <a:noFill/>
          <a:ln/>
        </p:spPr>
        <p:txBody>
          <a:bodyPr wrap="square" lIns="0" tIns="0" rIns="0" bIns="0" rtlCol="0" anchor="t"/>
          <a:lstStyle/>
          <a:p>
            <a:pPr algn="ctr" indent="0" marL="0">
              <a:buNone/>
            </a:pPr>
            <a:r>
              <a:rPr lang="en-US" sz="1400" dirty="0">
                <a:solidFill>
                  <a:srgbClr val="CFE7E2"/>
                </a:solidFill>
                <a:latin typeface="Calibri" pitchFamily="34" charset="0"/>
                <a:ea typeface="Calibri" pitchFamily="34" charset="-122"/>
                <a:cs typeface="Calibri" pitchFamily="34" charset="-120"/>
              </a:rPr>
              <a:t>of utterances mix two or more languages</a:t>
            </a:r>
            <a:endParaRPr lang="en-US" sz="1400" dirty="0"/>
          </a:p>
        </p:txBody>
      </p:sp>
      <p:sp>
        <p:nvSpPr>
          <p:cNvPr id="43" name="Shape 41"/>
          <p:cNvSpPr/>
          <p:nvPr/>
        </p:nvSpPr>
        <p:spPr>
          <a:xfrm>
            <a:off x="8961120" y="3840480"/>
            <a:ext cx="2679192" cy="2194560"/>
          </a:xfrm>
          <a:prstGeom prst="roundRect">
            <a:avLst>
              <a:gd name="adj" fmla="val 5000"/>
            </a:avLst>
          </a:prstGeom>
          <a:solidFill>
            <a:srgbClr val="0B3D38"/>
          </a:solidFill>
          <a:ln w="9525">
            <a:solidFill>
              <a:srgbClr val="D5E0DD"/>
            </a:solidFill>
            <a:prstDash val="solid"/>
          </a:ln>
          <a:effectLst>
            <a:outerShdw sx="100000" sy="100000" kx="0" ky="0" algn="bl" rotWithShape="0" blurRad="101600" dist="25400" dir="5400000">
              <a:srgbClr val="000000">
                <a:alpha val="14000"/>
              </a:srgbClr>
            </a:outerShdw>
          </a:effectLst>
        </p:spPr>
      </p:sp>
      <p:sp>
        <p:nvSpPr>
          <p:cNvPr id="44" name="Text 42"/>
          <p:cNvSpPr txBox="1"/>
          <p:nvPr/>
        </p:nvSpPr>
        <p:spPr>
          <a:xfrm>
            <a:off x="8961120" y="3977640"/>
            <a:ext cx="2679192" cy="1207008"/>
          </a:xfrm>
          <a:prstGeom prst="rect">
            <a:avLst/>
          </a:prstGeom>
          <a:noFill/>
          <a:ln/>
        </p:spPr>
        <p:txBody>
          <a:bodyPr wrap="square" lIns="0" tIns="0" rIns="0" bIns="0" rtlCol="0" anchor="ctr"/>
          <a:lstStyle/>
          <a:p>
            <a:pPr algn="ctr" indent="0" marL="0">
              <a:buNone/>
            </a:pPr>
            <a:r>
              <a:rPr lang="en-US" sz="4400" b="1" dirty="0">
                <a:solidFill>
                  <a:srgbClr val="F5B700"/>
                </a:solidFill>
                <a:latin typeface="Cambria" pitchFamily="34" charset="0"/>
                <a:ea typeface="Cambria" pitchFamily="34" charset="-122"/>
                <a:cs typeface="Cambria" pitchFamily="34" charset="-120"/>
              </a:rPr>
              <a:t>57%</a:t>
            </a:r>
            <a:endParaRPr lang="en-US" sz="4400" dirty="0"/>
          </a:p>
        </p:txBody>
      </p:sp>
      <p:sp>
        <p:nvSpPr>
          <p:cNvPr id="45" name="Text 43"/>
          <p:cNvSpPr txBox="1"/>
          <p:nvPr/>
        </p:nvSpPr>
        <p:spPr>
          <a:xfrm>
            <a:off x="9098280" y="5201107"/>
            <a:ext cx="2404872" cy="724205"/>
          </a:xfrm>
          <a:prstGeom prst="rect">
            <a:avLst/>
          </a:prstGeom>
          <a:noFill/>
          <a:ln/>
        </p:spPr>
        <p:txBody>
          <a:bodyPr wrap="square" lIns="0" tIns="0" rIns="0" bIns="0" rtlCol="0" anchor="t"/>
          <a:lstStyle/>
          <a:p>
            <a:pPr algn="ctr" indent="0" marL="0">
              <a:buNone/>
            </a:pPr>
            <a:r>
              <a:rPr lang="en-US" sz="1400" dirty="0">
                <a:solidFill>
                  <a:srgbClr val="CFE7E2"/>
                </a:solidFill>
                <a:latin typeface="Calibri" pitchFamily="34" charset="0"/>
                <a:ea typeface="Calibri" pitchFamily="34" charset="-122"/>
                <a:cs typeface="Calibri" pitchFamily="34" charset="-120"/>
              </a:rPr>
              <a:t>of tagged words are not English</a:t>
            </a:r>
            <a:endParaRPr lang="en-US" sz="1400" dirty="0"/>
          </a:p>
        </p:txBody>
      </p:sp>
      <p:sp>
        <p:nvSpPr>
          <p:cNvPr id="46" name="Text 44"/>
          <p:cNvSpPr txBox="1"/>
          <p:nvPr/>
        </p:nvSpPr>
        <p:spPr>
          <a:xfrm>
            <a:off x="11338560" y="6400800"/>
            <a:ext cx="457200" cy="274320"/>
          </a:xfrm>
          <a:prstGeom prst="rect">
            <a:avLst/>
          </a:prstGeom>
          <a:noFill/>
          <a:ln/>
        </p:spPr>
        <p:txBody>
          <a:bodyPr wrap="square" lIns="0" tIns="0" rIns="0" bIns="0" rtlCol="0" anchor="ctr"/>
          <a:lstStyle/>
          <a:p>
            <a:pPr algn="r" indent="0" marL="0">
              <a:buNone/>
            </a:pPr>
            <a:r>
              <a:rPr lang="en-US" sz="1100" dirty="0">
                <a:solidFill>
                  <a:srgbClr val="5B7370"/>
                </a:solidFill>
                <a:latin typeface="Calibri" pitchFamily="34" charset="0"/>
                <a:ea typeface="Calibri" pitchFamily="34" charset="-122"/>
                <a:cs typeface="Calibri" pitchFamily="34" charset="-120"/>
              </a:rPr>
              <a:t>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6"/>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822960"/>
          </a:xfrm>
          <a:prstGeom prst="rect">
            <a:avLst/>
          </a:prstGeom>
          <a:noFill/>
          <a:ln/>
        </p:spPr>
        <p:txBody>
          <a:bodyPr wrap="square" lIns="0" tIns="0" rIns="0" bIns="0" rtlCol="0" anchor="t"/>
          <a:lstStyle/>
          <a:p>
            <a:pPr indent="0" marL="0">
              <a:buNone/>
            </a:pPr>
            <a:r>
              <a:rPr lang="en-US" sz="3200" b="1" dirty="0">
                <a:solidFill>
                  <a:srgbClr val="10262B"/>
                </a:solidFill>
                <a:latin typeface="Cambria" pitchFamily="34" charset="0"/>
                <a:ea typeface="Cambria" pitchFamily="34" charset="-122"/>
                <a:cs typeface="Cambria" pitchFamily="34" charset="-120"/>
              </a:rPr>
              <a:t>From survey to tagged tokens</a:t>
            </a:r>
            <a:endParaRPr lang="en-US" sz="3200" dirty="0"/>
          </a:p>
        </p:txBody>
      </p:sp>
      <p:sp>
        <p:nvSpPr>
          <p:cNvPr id="3" name="Shape 1"/>
          <p:cNvSpPr/>
          <p:nvPr/>
        </p:nvSpPr>
        <p:spPr>
          <a:xfrm>
            <a:off x="9006840" y="347472"/>
            <a:ext cx="2651760" cy="384048"/>
          </a:xfrm>
          <a:prstGeom prst="roundRect">
            <a:avLst>
              <a:gd name="adj" fmla="val 50000"/>
            </a:avLst>
          </a:prstGeom>
          <a:solidFill>
            <a:srgbClr val="F5B700"/>
          </a:solidFill>
          <a:ln w="12700">
            <a:solidFill>
              <a:srgbClr val="F5B700"/>
            </a:solidFill>
            <a:prstDash val="solid"/>
          </a:ln>
        </p:spPr>
      </p:sp>
      <p:sp>
        <p:nvSpPr>
          <p:cNvPr id="4" name="Text 2"/>
          <p:cNvSpPr txBox="1"/>
          <p:nvPr/>
        </p:nvSpPr>
        <p:spPr>
          <a:xfrm>
            <a:off x="9006840" y="347472"/>
            <a:ext cx="2651760" cy="384048"/>
          </a:xfrm>
          <a:prstGeom prst="rect">
            <a:avLst/>
          </a:prstGeom>
          <a:noFill/>
          <a:ln/>
        </p:spPr>
        <p:txBody>
          <a:bodyPr wrap="square" lIns="0" tIns="0" rIns="0" bIns="0" rtlCol="0" anchor="ctr"/>
          <a:lstStyle/>
          <a:p>
            <a:pPr algn="ctr" indent="0" marL="0">
              <a:buNone/>
            </a:pPr>
            <a:r>
              <a:rPr lang="en-US" sz="1200" b="1" dirty="0">
                <a:solidFill>
                  <a:srgbClr val="0B3D38"/>
                </a:solidFill>
                <a:latin typeface="Calibri" pitchFamily="34" charset="0"/>
                <a:ea typeface="Calibri" pitchFamily="34" charset="-122"/>
                <a:cs typeface="Calibri" pitchFamily="34" charset="-120"/>
              </a:rPr>
              <a:t>Part 1  ·  Data and lexer</a:t>
            </a:r>
            <a:endParaRPr lang="en-US" sz="1200" dirty="0"/>
          </a:p>
        </p:txBody>
      </p:sp>
      <p:sp>
        <p:nvSpPr>
          <p:cNvPr id="5" name="Shape 3"/>
          <p:cNvSpPr/>
          <p:nvPr/>
        </p:nvSpPr>
        <p:spPr>
          <a:xfrm>
            <a:off x="548640" y="1417320"/>
            <a:ext cx="5120640" cy="1024128"/>
          </a:xfrm>
          <a:prstGeom prst="roundRect">
            <a:avLst>
              <a:gd name="adj" fmla="val 10714"/>
            </a:avLst>
          </a:prstGeom>
          <a:solidFill>
            <a:srgbClr val="FFFFFF"/>
          </a:solidFill>
          <a:ln w="9525">
            <a:solidFill>
              <a:srgbClr val="D5E0DD"/>
            </a:solidFill>
            <a:prstDash val="solid"/>
          </a:ln>
          <a:effectLst>
            <a:outerShdw sx="100000" sy="100000" kx="0" ky="0" algn="bl" rotWithShape="0" blurRad="101600" dist="25400" dir="5400000">
              <a:srgbClr val="000000">
                <a:alpha val="14000"/>
              </a:srgbClr>
            </a:outerShdw>
          </a:effectLst>
        </p:spPr>
      </p:sp>
      <p:sp>
        <p:nvSpPr>
          <p:cNvPr id="6" name="Shape 4"/>
          <p:cNvSpPr/>
          <p:nvPr/>
        </p:nvSpPr>
        <p:spPr>
          <a:xfrm>
            <a:off x="731520" y="1655064"/>
            <a:ext cx="548640" cy="548640"/>
          </a:xfrm>
          <a:prstGeom prst="ellipse">
            <a:avLst/>
          </a:prstGeom>
          <a:solidFill>
            <a:srgbClr val="0F6B61"/>
          </a:solidFill>
          <a:ln w="12700">
            <a:solidFill>
              <a:srgbClr val="0F6B61"/>
            </a:solidFill>
            <a:prstDash val="solid"/>
          </a:ln>
        </p:spPr>
      </p:sp>
      <p:sp>
        <p:nvSpPr>
          <p:cNvPr id="7" name="Text 5"/>
          <p:cNvSpPr txBox="1"/>
          <p:nvPr/>
        </p:nvSpPr>
        <p:spPr>
          <a:xfrm>
            <a:off x="731520" y="1655064"/>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8" name="Text 6"/>
          <p:cNvSpPr txBox="1"/>
          <p:nvPr/>
        </p:nvSpPr>
        <p:spPr>
          <a:xfrm>
            <a:off x="1463040" y="1527048"/>
            <a:ext cx="4023360" cy="365760"/>
          </a:xfrm>
          <a:prstGeom prst="rect">
            <a:avLst/>
          </a:prstGeom>
          <a:noFill/>
          <a:ln/>
        </p:spPr>
        <p:txBody>
          <a:bodyPr wrap="square" lIns="0" tIns="0" rIns="0" bIns="0" rtlCol="0" anchor="ctr"/>
          <a:lstStyle/>
          <a:p>
            <a:pPr indent="0" marL="0">
              <a:buNone/>
            </a:pPr>
            <a:r>
              <a:rPr lang="en-US" sz="1800" b="1" dirty="0">
                <a:solidFill>
                  <a:srgbClr val="10262B"/>
                </a:solidFill>
                <a:latin typeface="Cambria" pitchFamily="34" charset="0"/>
                <a:ea typeface="Cambria" pitchFamily="34" charset="-122"/>
                <a:cs typeface="Cambria" pitchFamily="34" charset="-120"/>
              </a:rPr>
              <a:t>Survey form</a:t>
            </a:r>
            <a:endParaRPr lang="en-US" sz="1800" dirty="0"/>
          </a:p>
        </p:txBody>
      </p:sp>
      <p:sp>
        <p:nvSpPr>
          <p:cNvPr id="9" name="Text 7"/>
          <p:cNvSpPr txBox="1"/>
          <p:nvPr/>
        </p:nvSpPr>
        <p:spPr>
          <a:xfrm>
            <a:off x="1463040" y="1892808"/>
            <a:ext cx="4069080" cy="502920"/>
          </a:xfrm>
          <a:prstGeom prst="rect">
            <a:avLst/>
          </a:prstGeom>
          <a:noFill/>
          <a:ln/>
        </p:spPr>
        <p:txBody>
          <a:bodyPr wrap="square" lIns="0" tIns="0" rIns="0" bIns="0" rtlCol="0" anchor="t"/>
          <a:lstStyle/>
          <a:p>
            <a:pPr indent="0" marL="0">
              <a:buNone/>
            </a:pPr>
            <a:r>
              <a:rPr lang="en-US" sz="1300" dirty="0">
                <a:solidFill>
                  <a:srgbClr val="5B7370"/>
                </a:solidFill>
                <a:latin typeface="Calibri" pitchFamily="34" charset="0"/>
                <a:ea typeface="Calibri" pitchFamily="34" charset="-122"/>
                <a:cs typeface="Calibri" pitchFamily="34" charset="-120"/>
              </a:rPr>
              <a:t>9 people typed phrases and their own translation.</a:t>
            </a:r>
            <a:endParaRPr lang="en-US" sz="1300" dirty="0"/>
          </a:p>
        </p:txBody>
      </p:sp>
      <p:sp>
        <p:nvSpPr>
          <p:cNvPr id="10" name="Shape 8"/>
          <p:cNvSpPr/>
          <p:nvPr/>
        </p:nvSpPr>
        <p:spPr>
          <a:xfrm>
            <a:off x="548640" y="2606040"/>
            <a:ext cx="5120640" cy="1024128"/>
          </a:xfrm>
          <a:prstGeom prst="roundRect">
            <a:avLst>
              <a:gd name="adj" fmla="val 10714"/>
            </a:avLst>
          </a:prstGeom>
          <a:solidFill>
            <a:srgbClr val="FFFFFF"/>
          </a:solidFill>
          <a:ln w="9525">
            <a:solidFill>
              <a:srgbClr val="D5E0DD"/>
            </a:solidFill>
            <a:prstDash val="solid"/>
          </a:ln>
          <a:effectLst>
            <a:outerShdw sx="100000" sy="100000" kx="0" ky="0" algn="bl" rotWithShape="0" blurRad="101600" dist="25400" dir="5400000">
              <a:srgbClr val="000000">
                <a:alpha val="14000"/>
              </a:srgbClr>
            </a:outerShdw>
          </a:effectLst>
        </p:spPr>
      </p:sp>
      <p:sp>
        <p:nvSpPr>
          <p:cNvPr id="11" name="Shape 9"/>
          <p:cNvSpPr/>
          <p:nvPr/>
        </p:nvSpPr>
        <p:spPr>
          <a:xfrm>
            <a:off x="731520" y="2843784"/>
            <a:ext cx="548640" cy="548640"/>
          </a:xfrm>
          <a:prstGeom prst="ellipse">
            <a:avLst/>
          </a:prstGeom>
          <a:solidFill>
            <a:srgbClr val="0F6B61"/>
          </a:solidFill>
          <a:ln w="12700">
            <a:solidFill>
              <a:srgbClr val="0F6B61"/>
            </a:solidFill>
            <a:prstDash val="solid"/>
          </a:ln>
        </p:spPr>
      </p:sp>
      <p:sp>
        <p:nvSpPr>
          <p:cNvPr id="12" name="Text 10"/>
          <p:cNvSpPr txBox="1"/>
          <p:nvPr/>
        </p:nvSpPr>
        <p:spPr>
          <a:xfrm>
            <a:off x="731520" y="2843784"/>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3" name="Text 11"/>
          <p:cNvSpPr txBox="1"/>
          <p:nvPr/>
        </p:nvSpPr>
        <p:spPr>
          <a:xfrm>
            <a:off x="1463040" y="2715768"/>
            <a:ext cx="4023360" cy="365760"/>
          </a:xfrm>
          <a:prstGeom prst="rect">
            <a:avLst/>
          </a:prstGeom>
          <a:noFill/>
          <a:ln/>
        </p:spPr>
        <p:txBody>
          <a:bodyPr wrap="square" lIns="0" tIns="0" rIns="0" bIns="0" rtlCol="0" anchor="ctr"/>
          <a:lstStyle/>
          <a:p>
            <a:pPr indent="0" marL="0">
              <a:buNone/>
            </a:pPr>
            <a:r>
              <a:rPr lang="en-US" sz="1800" b="1" dirty="0">
                <a:solidFill>
                  <a:srgbClr val="10262B"/>
                </a:solidFill>
                <a:latin typeface="Cambria" pitchFamily="34" charset="0"/>
                <a:ea typeface="Cambria" pitchFamily="34" charset="-122"/>
                <a:cs typeface="Cambria" pitchFamily="34" charset="-120"/>
              </a:rPr>
              <a:t>corpus.csv</a:t>
            </a:r>
            <a:endParaRPr lang="en-US" sz="1800" dirty="0"/>
          </a:p>
        </p:txBody>
      </p:sp>
      <p:sp>
        <p:nvSpPr>
          <p:cNvPr id="14" name="Text 12"/>
          <p:cNvSpPr txBox="1"/>
          <p:nvPr/>
        </p:nvSpPr>
        <p:spPr>
          <a:xfrm>
            <a:off x="1463040" y="3081528"/>
            <a:ext cx="4069080" cy="502920"/>
          </a:xfrm>
          <a:prstGeom prst="rect">
            <a:avLst/>
          </a:prstGeom>
          <a:noFill/>
          <a:ln/>
        </p:spPr>
        <p:txBody>
          <a:bodyPr wrap="square" lIns="0" tIns="0" rIns="0" bIns="0" rtlCol="0" anchor="t"/>
          <a:lstStyle/>
          <a:p>
            <a:pPr indent="0" marL="0">
              <a:buNone/>
            </a:pPr>
            <a:r>
              <a:rPr lang="en-US" sz="1300" dirty="0">
                <a:solidFill>
                  <a:srgbClr val="5B7370"/>
                </a:solidFill>
                <a:latin typeface="Calibri" pitchFamily="34" charset="0"/>
                <a:ea typeface="Calibri" pitchFamily="34" charset="-122"/>
                <a:cs typeface="Calibri" pitchFamily="34" charset="-120"/>
              </a:rPr>
              <a:t>50 usable utterances kept verbatim; 10 entries excluded.</a:t>
            </a:r>
            <a:endParaRPr lang="en-US" sz="1300" dirty="0"/>
          </a:p>
        </p:txBody>
      </p:sp>
      <p:sp>
        <p:nvSpPr>
          <p:cNvPr id="15" name="Shape 13"/>
          <p:cNvSpPr/>
          <p:nvPr/>
        </p:nvSpPr>
        <p:spPr>
          <a:xfrm>
            <a:off x="548640" y="3794760"/>
            <a:ext cx="5120640" cy="1024128"/>
          </a:xfrm>
          <a:prstGeom prst="roundRect">
            <a:avLst>
              <a:gd name="adj" fmla="val 10714"/>
            </a:avLst>
          </a:prstGeom>
          <a:solidFill>
            <a:srgbClr val="FFFFFF"/>
          </a:solidFill>
          <a:ln w="9525">
            <a:solidFill>
              <a:srgbClr val="D5E0DD"/>
            </a:solidFill>
            <a:prstDash val="solid"/>
          </a:ln>
          <a:effectLst>
            <a:outerShdw sx="100000" sy="100000" kx="0" ky="0" algn="bl" rotWithShape="0" blurRad="101600" dist="25400" dir="5400000">
              <a:srgbClr val="000000">
                <a:alpha val="14000"/>
              </a:srgbClr>
            </a:outerShdw>
          </a:effectLst>
        </p:spPr>
      </p:sp>
      <p:sp>
        <p:nvSpPr>
          <p:cNvPr id="16" name="Shape 14"/>
          <p:cNvSpPr/>
          <p:nvPr/>
        </p:nvSpPr>
        <p:spPr>
          <a:xfrm>
            <a:off x="731520" y="4032504"/>
            <a:ext cx="548640" cy="548640"/>
          </a:xfrm>
          <a:prstGeom prst="ellipse">
            <a:avLst/>
          </a:prstGeom>
          <a:solidFill>
            <a:srgbClr val="0F6B61"/>
          </a:solidFill>
          <a:ln w="12700">
            <a:solidFill>
              <a:srgbClr val="0F6B61"/>
            </a:solidFill>
            <a:prstDash val="solid"/>
          </a:ln>
        </p:spPr>
      </p:sp>
      <p:sp>
        <p:nvSpPr>
          <p:cNvPr id="17" name="Text 15"/>
          <p:cNvSpPr txBox="1"/>
          <p:nvPr/>
        </p:nvSpPr>
        <p:spPr>
          <a:xfrm>
            <a:off x="731520" y="4032504"/>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8" name="Text 16"/>
          <p:cNvSpPr txBox="1"/>
          <p:nvPr/>
        </p:nvSpPr>
        <p:spPr>
          <a:xfrm>
            <a:off x="1463040" y="3904488"/>
            <a:ext cx="4023360" cy="365760"/>
          </a:xfrm>
          <a:prstGeom prst="rect">
            <a:avLst/>
          </a:prstGeom>
          <a:noFill/>
          <a:ln/>
        </p:spPr>
        <p:txBody>
          <a:bodyPr wrap="square" lIns="0" tIns="0" rIns="0" bIns="0" rtlCol="0" anchor="ctr"/>
          <a:lstStyle/>
          <a:p>
            <a:pPr indent="0" marL="0">
              <a:buNone/>
            </a:pPr>
            <a:r>
              <a:rPr lang="en-US" sz="1800" b="1" dirty="0">
                <a:solidFill>
                  <a:srgbClr val="10262B"/>
                </a:solidFill>
                <a:latin typeface="Cambria" pitchFamily="34" charset="0"/>
                <a:ea typeface="Cambria" pitchFamily="34" charset="-122"/>
                <a:cs typeface="Cambria" pitchFamily="34" charset="-120"/>
              </a:rPr>
              <a:t>Lexer</a:t>
            </a:r>
            <a:endParaRPr lang="en-US" sz="1800" dirty="0"/>
          </a:p>
        </p:txBody>
      </p:sp>
      <p:sp>
        <p:nvSpPr>
          <p:cNvPr id="19" name="Text 17"/>
          <p:cNvSpPr txBox="1"/>
          <p:nvPr/>
        </p:nvSpPr>
        <p:spPr>
          <a:xfrm>
            <a:off x="1463040" y="4270248"/>
            <a:ext cx="4069080" cy="502920"/>
          </a:xfrm>
          <a:prstGeom prst="rect">
            <a:avLst/>
          </a:prstGeom>
          <a:noFill/>
          <a:ln/>
        </p:spPr>
        <p:txBody>
          <a:bodyPr wrap="square" lIns="0" tIns="0" rIns="0" bIns="0" rtlCol="0" anchor="t"/>
          <a:lstStyle/>
          <a:p>
            <a:pPr indent="0" marL="0">
              <a:buNone/>
            </a:pPr>
            <a:r>
              <a:rPr lang="en-US" sz="1300" dirty="0">
                <a:solidFill>
                  <a:srgbClr val="5B7370"/>
                </a:solidFill>
                <a:latin typeface="Calibri" pitchFamily="34" charset="0"/>
                <a:ea typeface="Calibri" pitchFamily="34" charset="-122"/>
                <a:cs typeface="Calibri" pitchFamily="34" charset="-120"/>
              </a:rPr>
              <a:t>One regular expression per token type, built from vocabulary.csv (134 words).</a:t>
            </a:r>
            <a:endParaRPr lang="en-US" sz="1300" dirty="0"/>
          </a:p>
        </p:txBody>
      </p:sp>
      <p:sp>
        <p:nvSpPr>
          <p:cNvPr id="20" name="Shape 18"/>
          <p:cNvSpPr/>
          <p:nvPr/>
        </p:nvSpPr>
        <p:spPr>
          <a:xfrm>
            <a:off x="548640" y="4983480"/>
            <a:ext cx="5120640" cy="1024128"/>
          </a:xfrm>
          <a:prstGeom prst="roundRect">
            <a:avLst>
              <a:gd name="adj" fmla="val 10714"/>
            </a:avLst>
          </a:prstGeom>
          <a:solidFill>
            <a:srgbClr val="FFFFFF"/>
          </a:solidFill>
          <a:ln w="9525">
            <a:solidFill>
              <a:srgbClr val="D5E0DD"/>
            </a:solidFill>
            <a:prstDash val="solid"/>
          </a:ln>
          <a:effectLst>
            <a:outerShdw sx="100000" sy="100000" kx="0" ky="0" algn="bl" rotWithShape="0" blurRad="101600" dist="25400" dir="5400000">
              <a:srgbClr val="000000">
                <a:alpha val="14000"/>
              </a:srgbClr>
            </a:outerShdw>
          </a:effectLst>
        </p:spPr>
      </p:sp>
      <p:sp>
        <p:nvSpPr>
          <p:cNvPr id="21" name="Shape 19"/>
          <p:cNvSpPr/>
          <p:nvPr/>
        </p:nvSpPr>
        <p:spPr>
          <a:xfrm>
            <a:off x="731520" y="5221224"/>
            <a:ext cx="548640" cy="548640"/>
          </a:xfrm>
          <a:prstGeom prst="ellipse">
            <a:avLst/>
          </a:prstGeom>
          <a:solidFill>
            <a:srgbClr val="0F6B61"/>
          </a:solidFill>
          <a:ln w="12700">
            <a:solidFill>
              <a:srgbClr val="0F6B61"/>
            </a:solidFill>
            <a:prstDash val="solid"/>
          </a:ln>
        </p:spPr>
      </p:sp>
      <p:sp>
        <p:nvSpPr>
          <p:cNvPr id="22" name="Text 20"/>
          <p:cNvSpPr txBox="1"/>
          <p:nvPr/>
        </p:nvSpPr>
        <p:spPr>
          <a:xfrm>
            <a:off x="731520" y="5221224"/>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23" name="Text 21"/>
          <p:cNvSpPr txBox="1"/>
          <p:nvPr/>
        </p:nvSpPr>
        <p:spPr>
          <a:xfrm>
            <a:off x="1463040" y="5093208"/>
            <a:ext cx="4023360" cy="365760"/>
          </a:xfrm>
          <a:prstGeom prst="rect">
            <a:avLst/>
          </a:prstGeom>
          <a:noFill/>
          <a:ln/>
        </p:spPr>
        <p:txBody>
          <a:bodyPr wrap="square" lIns="0" tIns="0" rIns="0" bIns="0" rtlCol="0" anchor="ctr"/>
          <a:lstStyle/>
          <a:p>
            <a:pPr indent="0" marL="0">
              <a:buNone/>
            </a:pPr>
            <a:r>
              <a:rPr lang="en-US" sz="1800" b="1" dirty="0">
                <a:solidFill>
                  <a:srgbClr val="10262B"/>
                </a:solidFill>
                <a:latin typeface="Cambria" pitchFamily="34" charset="0"/>
                <a:ea typeface="Cambria" pitchFamily="34" charset="-122"/>
                <a:cs typeface="Cambria" pitchFamily="34" charset="-120"/>
              </a:rPr>
              <a:t>Tagged tokens</a:t>
            </a:r>
            <a:endParaRPr lang="en-US" sz="1800" dirty="0"/>
          </a:p>
        </p:txBody>
      </p:sp>
      <p:sp>
        <p:nvSpPr>
          <p:cNvPr id="24" name="Text 22"/>
          <p:cNvSpPr txBox="1"/>
          <p:nvPr/>
        </p:nvSpPr>
        <p:spPr>
          <a:xfrm>
            <a:off x="1463040" y="5458968"/>
            <a:ext cx="4069080" cy="502920"/>
          </a:xfrm>
          <a:prstGeom prst="rect">
            <a:avLst/>
          </a:prstGeom>
          <a:noFill/>
          <a:ln/>
        </p:spPr>
        <p:txBody>
          <a:bodyPr wrap="square" lIns="0" tIns="0" rIns="0" bIns="0" rtlCol="0" anchor="t"/>
          <a:lstStyle/>
          <a:p>
            <a:pPr indent="0" marL="0">
              <a:buNone/>
            </a:pPr>
            <a:r>
              <a:rPr lang="en-US" sz="1300" dirty="0">
                <a:solidFill>
                  <a:srgbClr val="5B7370"/>
                </a:solidFill>
                <a:latin typeface="Calibri" pitchFamily="34" charset="0"/>
                <a:ea typeface="Calibri" pitchFamily="34" charset="-122"/>
                <a:cs typeface="Calibri" pitchFamily="34" charset="-120"/>
              </a:rPr>
              <a:t>18 token types, plus a language tag: English, French, Pidgin, Slang.</a:t>
            </a:r>
            <a:endParaRPr lang="en-US" sz="1300" dirty="0"/>
          </a:p>
        </p:txBody>
      </p:sp>
      <p:sp>
        <p:nvSpPr>
          <p:cNvPr id="25" name="Shape 23"/>
          <p:cNvSpPr/>
          <p:nvPr/>
        </p:nvSpPr>
        <p:spPr>
          <a:xfrm>
            <a:off x="5943600" y="1417320"/>
            <a:ext cx="5696712" cy="4526280"/>
          </a:xfrm>
          <a:prstGeom prst="roundRect">
            <a:avLst>
              <a:gd name="adj" fmla="val 2424"/>
            </a:avLst>
          </a:prstGeom>
          <a:solidFill>
            <a:srgbClr val="FFFFFF"/>
          </a:solidFill>
          <a:ln w="9525">
            <a:solidFill>
              <a:srgbClr val="D5E0DD"/>
            </a:solidFill>
            <a:prstDash val="solid"/>
          </a:ln>
          <a:effectLst>
            <a:outerShdw sx="100000" sy="100000" kx="0" ky="0" algn="bl" rotWithShape="0" blurRad="101600" dist="25400" dir="5400000">
              <a:srgbClr val="000000">
                <a:alpha val="14000"/>
              </a:srgbClr>
            </a:outerShdw>
          </a:effectLst>
        </p:spPr>
      </p:sp>
      <p:pic>
        <p:nvPicPr>
          <p:cNvPr id="26" name="Image 0" descr="C:\Users\Glorious Samsimbom\AppData\Local\Temp\claude\C--Users-Glorious-Samsimbom-compiler-contruction-yaounde\21dbdbd6-0919-4463-a6fe-e3c086e6c5f5\scratchpad\shots\gui_tokens_E05.png">    </p:cNvPr>
          <p:cNvPicPr>
            <a:picLocks noChangeAspect="1"/>
          </p:cNvPicPr>
          <p:nvPr/>
        </p:nvPicPr>
        <p:blipFill>
          <a:blip r:embed="rId1"/>
          <a:stretch>
            <a:fillRect/>
          </a:stretch>
        </p:blipFill>
        <p:spPr>
          <a:xfrm>
            <a:off x="6035040" y="1904819"/>
            <a:ext cx="5513832" cy="3551282"/>
          </a:xfrm>
          <a:prstGeom prst="rect">
            <a:avLst/>
          </a:prstGeom>
        </p:spPr>
      </p:pic>
      <p:sp>
        <p:nvSpPr>
          <p:cNvPr id="27" name="Text 24"/>
          <p:cNvSpPr txBox="1"/>
          <p:nvPr/>
        </p:nvSpPr>
        <p:spPr>
          <a:xfrm>
            <a:off x="5943600" y="6035040"/>
            <a:ext cx="5696712" cy="365760"/>
          </a:xfrm>
          <a:prstGeom prst="rect">
            <a:avLst/>
          </a:prstGeom>
          <a:noFill/>
          <a:ln/>
        </p:spPr>
        <p:txBody>
          <a:bodyPr wrap="square" lIns="0" tIns="0" rIns="0" bIns="0" rtlCol="0" anchor="ctr"/>
          <a:lstStyle/>
          <a:p>
            <a:pPr indent="0" marL="0">
              <a:buNone/>
            </a:pPr>
            <a:r>
              <a:rPr lang="en-US" sz="1200" i="1" dirty="0">
                <a:solidFill>
                  <a:srgbClr val="5B7370"/>
                </a:solidFill>
                <a:latin typeface="Calibri" pitchFamily="34" charset="0"/>
                <a:ea typeface="Calibri" pitchFamily="34" charset="-122"/>
                <a:cs typeface="Calibri" pitchFamily="34" charset="-120"/>
              </a:rPr>
              <a:t>Our analyzer’s Tokens tab for E05: each word gets a type and a language colour.</a:t>
            </a:r>
            <a:endParaRPr lang="en-US" sz="1200" dirty="0"/>
          </a:p>
        </p:txBody>
      </p:sp>
      <p:sp>
        <p:nvSpPr>
          <p:cNvPr id="28" name="Text 25"/>
          <p:cNvSpPr txBox="1"/>
          <p:nvPr/>
        </p:nvSpPr>
        <p:spPr>
          <a:xfrm>
            <a:off x="11338560" y="6400800"/>
            <a:ext cx="457200" cy="274320"/>
          </a:xfrm>
          <a:prstGeom prst="rect">
            <a:avLst/>
          </a:prstGeom>
          <a:noFill/>
          <a:ln/>
        </p:spPr>
        <p:txBody>
          <a:bodyPr wrap="square" lIns="0" tIns="0" rIns="0" bIns="0" rtlCol="0" anchor="ctr"/>
          <a:lstStyle/>
          <a:p>
            <a:pPr algn="r" indent="0" marL="0">
              <a:buNone/>
            </a:pPr>
            <a:r>
              <a:rPr lang="en-US" sz="1100" dirty="0">
                <a:solidFill>
                  <a:srgbClr val="5B7370"/>
                </a:solidFill>
                <a:latin typeface="Calibri" pitchFamily="34" charset="0"/>
                <a:ea typeface="Calibri" pitchFamily="34" charset="-122"/>
                <a:cs typeface="Calibri" pitchFamily="34" charset="-120"/>
              </a:rPr>
              <a:t>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6"/>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822960"/>
          </a:xfrm>
          <a:prstGeom prst="rect">
            <a:avLst/>
          </a:prstGeom>
          <a:noFill/>
          <a:ln/>
        </p:spPr>
        <p:txBody>
          <a:bodyPr wrap="square" lIns="0" tIns="0" rIns="0" bIns="0" rtlCol="0" anchor="t"/>
          <a:lstStyle/>
          <a:p>
            <a:pPr indent="0" marL="0">
              <a:buNone/>
            </a:pPr>
            <a:r>
              <a:rPr lang="en-US" sz="3200" b="1" dirty="0">
                <a:solidFill>
                  <a:srgbClr val="10262B"/>
                </a:solidFill>
                <a:latin typeface="Cambria" pitchFamily="34" charset="0"/>
                <a:ea typeface="Cambria" pitchFamily="34" charset="-122"/>
                <a:cs typeface="Cambria" pitchFamily="34" charset="-120"/>
              </a:rPr>
              <a:t>What the numbers say</a:t>
            </a:r>
            <a:endParaRPr lang="en-US" sz="3200" dirty="0"/>
          </a:p>
        </p:txBody>
      </p:sp>
      <p:sp>
        <p:nvSpPr>
          <p:cNvPr id="3" name="Shape 1"/>
          <p:cNvSpPr/>
          <p:nvPr/>
        </p:nvSpPr>
        <p:spPr>
          <a:xfrm>
            <a:off x="9006840" y="347472"/>
            <a:ext cx="2651760" cy="384048"/>
          </a:xfrm>
          <a:prstGeom prst="roundRect">
            <a:avLst>
              <a:gd name="adj" fmla="val 50000"/>
            </a:avLst>
          </a:prstGeom>
          <a:solidFill>
            <a:srgbClr val="F5B700"/>
          </a:solidFill>
          <a:ln w="12700">
            <a:solidFill>
              <a:srgbClr val="F5B700"/>
            </a:solidFill>
            <a:prstDash val="solid"/>
          </a:ln>
        </p:spPr>
      </p:sp>
      <p:sp>
        <p:nvSpPr>
          <p:cNvPr id="4" name="Text 2"/>
          <p:cNvSpPr txBox="1"/>
          <p:nvPr/>
        </p:nvSpPr>
        <p:spPr>
          <a:xfrm>
            <a:off x="9006840" y="347472"/>
            <a:ext cx="2651760" cy="384048"/>
          </a:xfrm>
          <a:prstGeom prst="rect">
            <a:avLst/>
          </a:prstGeom>
          <a:noFill/>
          <a:ln/>
        </p:spPr>
        <p:txBody>
          <a:bodyPr wrap="square" lIns="0" tIns="0" rIns="0" bIns="0" rtlCol="0" anchor="ctr"/>
          <a:lstStyle/>
          <a:p>
            <a:pPr algn="ctr" indent="0" marL="0">
              <a:buNone/>
            </a:pPr>
            <a:r>
              <a:rPr lang="en-US" sz="1200" b="1" dirty="0">
                <a:solidFill>
                  <a:srgbClr val="0B3D38"/>
                </a:solidFill>
                <a:latin typeface="Calibri" pitchFamily="34" charset="0"/>
                <a:ea typeface="Calibri" pitchFamily="34" charset="-122"/>
                <a:cs typeface="Calibri" pitchFamily="34" charset="-120"/>
              </a:rPr>
              <a:t>Part 1  ·  Data and lexer</a:t>
            </a:r>
            <a:endParaRPr lang="en-US" sz="1200" dirty="0"/>
          </a:p>
        </p:txBody>
      </p:sp>
      <p:sp>
        <p:nvSpPr>
          <p:cNvPr id="5" name="Shape 3"/>
          <p:cNvSpPr/>
          <p:nvPr/>
        </p:nvSpPr>
        <p:spPr>
          <a:xfrm>
            <a:off x="548640" y="1371600"/>
            <a:ext cx="5760720" cy="4754880"/>
          </a:xfrm>
          <a:prstGeom prst="roundRect">
            <a:avLst>
              <a:gd name="adj" fmla="val 2308"/>
            </a:avLst>
          </a:prstGeom>
          <a:solidFill>
            <a:srgbClr val="FFFFFF"/>
          </a:solidFill>
          <a:ln w="9525">
            <a:solidFill>
              <a:srgbClr val="D5E0DD"/>
            </a:solidFill>
            <a:prstDash val="solid"/>
          </a:ln>
          <a:effectLst>
            <a:outerShdw sx="100000" sy="100000" kx="0" ky="0" algn="bl" rotWithShape="0" blurRad="101600" dist="25400" dir="5400000">
              <a:srgbClr val="000000">
                <a:alpha val="14000"/>
              </a:srgbClr>
            </a:outerShdw>
          </a:effectLst>
        </p:spPr>
      </p:sp>
      <p:graphicFrame>
        <p:nvGraphicFramePr>
          <p:cNvPr id="6" name="Chart 0" descr=""/>
          <p:cNvGraphicFramePr/>
          <p:nvPr/>
        </p:nvGraphicFramePr>
        <p:xfrm>
          <a:off x="685800" y="1463040"/>
          <a:ext cx="5486400" cy="457200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6583680" y="1371600"/>
            <a:ext cx="5056632" cy="2834640"/>
          </a:xfrm>
          <a:prstGeom prst="roundRect">
            <a:avLst>
              <a:gd name="adj" fmla="val 3871"/>
            </a:avLst>
          </a:prstGeom>
          <a:solidFill>
            <a:srgbClr val="FFFFFF"/>
          </a:solidFill>
          <a:ln w="9525">
            <a:solidFill>
              <a:srgbClr val="D5E0DD"/>
            </a:solidFill>
            <a:prstDash val="solid"/>
          </a:ln>
          <a:effectLst>
            <a:outerShdw sx="100000" sy="100000" kx="0" ky="0" algn="bl" rotWithShape="0" blurRad="101600" dist="25400" dir="5400000">
              <a:srgbClr val="000000">
                <a:alpha val="14000"/>
              </a:srgbClr>
            </a:outerShdw>
          </a:effectLst>
        </p:spPr>
      </p:sp>
      <p:sp>
        <p:nvSpPr>
          <p:cNvPr id="8" name="Text 5"/>
          <p:cNvSpPr txBox="1"/>
          <p:nvPr/>
        </p:nvSpPr>
        <p:spPr>
          <a:xfrm>
            <a:off x="6858000" y="1481328"/>
            <a:ext cx="4572000" cy="365760"/>
          </a:xfrm>
          <a:prstGeom prst="rect">
            <a:avLst/>
          </a:prstGeom>
          <a:noFill/>
          <a:ln/>
        </p:spPr>
        <p:txBody>
          <a:bodyPr wrap="square" lIns="0" tIns="0" rIns="0" bIns="0" rtlCol="0" anchor="ctr"/>
          <a:lstStyle/>
          <a:p>
            <a:pPr indent="0" marL="0">
              <a:buNone/>
            </a:pPr>
            <a:r>
              <a:rPr lang="en-US" sz="1800" b="1" dirty="0">
                <a:solidFill>
                  <a:srgbClr val="10262B"/>
                </a:solidFill>
                <a:latin typeface="Cambria" pitchFamily="34" charset="0"/>
                <a:ea typeface="Cambria" pitchFamily="34" charset="-122"/>
                <a:cs typeface="Cambria" pitchFamily="34" charset="-120"/>
              </a:rPr>
              <a:t>Same meaning, many words</a:t>
            </a:r>
            <a:endParaRPr lang="en-US" sz="1800" dirty="0"/>
          </a:p>
        </p:txBody>
      </p:sp>
      <p:sp>
        <p:nvSpPr>
          <p:cNvPr id="9" name="Text 6"/>
          <p:cNvSpPr txBox="1"/>
          <p:nvPr/>
        </p:nvSpPr>
        <p:spPr>
          <a:xfrm>
            <a:off x="6858000" y="1920240"/>
            <a:ext cx="1828800" cy="274320"/>
          </a:xfrm>
          <a:prstGeom prst="rect">
            <a:avLst/>
          </a:prstGeom>
          <a:noFill/>
          <a:ln/>
        </p:spPr>
        <p:txBody>
          <a:bodyPr wrap="square" lIns="0" tIns="0" rIns="0" bIns="0" rtlCol="0" anchor="ctr"/>
          <a:lstStyle/>
          <a:p>
            <a:pPr indent="0" marL="0">
              <a:buNone/>
            </a:pPr>
            <a:r>
              <a:rPr lang="en-US" sz="1200" b="1" dirty="0">
                <a:solidFill>
                  <a:srgbClr val="5B7370"/>
                </a:solidFill>
                <a:latin typeface="Calibri" pitchFamily="34" charset="0"/>
                <a:ea typeface="Calibri" pitchFamily="34" charset="-122"/>
                <a:cs typeface="Calibri" pitchFamily="34" charset="-120"/>
              </a:rPr>
              <a:t>MONEY</a:t>
            </a:r>
            <a:endParaRPr lang="en-US" sz="1200" dirty="0"/>
          </a:p>
        </p:txBody>
      </p:sp>
      <p:sp>
        <p:nvSpPr>
          <p:cNvPr id="10" name="Shape 7"/>
          <p:cNvSpPr/>
          <p:nvPr/>
        </p:nvSpPr>
        <p:spPr>
          <a:xfrm>
            <a:off x="6858000" y="2212848"/>
            <a:ext cx="1522476" cy="411480"/>
          </a:xfrm>
          <a:prstGeom prst="roundRect">
            <a:avLst>
              <a:gd name="adj" fmla="val 22222"/>
            </a:avLst>
          </a:prstGeom>
          <a:solidFill>
            <a:srgbClr val="F6D3E4"/>
          </a:solidFill>
          <a:ln w="12700">
            <a:solidFill>
              <a:srgbClr val="F6D3E4"/>
            </a:solidFill>
            <a:prstDash val="solid"/>
          </a:ln>
        </p:spPr>
      </p:sp>
      <p:sp>
        <p:nvSpPr>
          <p:cNvPr id="11" name="Text 8"/>
          <p:cNvSpPr txBox="1"/>
          <p:nvPr/>
        </p:nvSpPr>
        <p:spPr>
          <a:xfrm>
            <a:off x="6858000" y="2212848"/>
            <a:ext cx="1522476" cy="411480"/>
          </a:xfrm>
          <a:prstGeom prst="rect">
            <a:avLst/>
          </a:prstGeom>
          <a:noFill/>
          <a:ln/>
        </p:spPr>
        <p:txBody>
          <a:bodyPr wrap="square" lIns="0" tIns="0" rIns="0" bIns="0" rtlCol="0" anchor="ctr"/>
          <a:lstStyle/>
          <a:p>
            <a:pPr algn="ctr" indent="0" marL="0">
              <a:buNone/>
            </a:pPr>
            <a:r>
              <a:rPr lang="en-US" sz="1500" b="1" dirty="0">
                <a:solidFill>
                  <a:srgbClr val="10262B"/>
                </a:solidFill>
                <a:latin typeface="Calibri" pitchFamily="34" charset="0"/>
                <a:ea typeface="Calibri" pitchFamily="34" charset="-122"/>
                <a:cs typeface="Calibri" pitchFamily="34" charset="-120"/>
              </a:rPr>
              <a:t>argent</a:t>
            </a:r>
            <a:endParaRPr lang="en-US" sz="1500" dirty="0"/>
          </a:p>
        </p:txBody>
      </p:sp>
      <p:sp>
        <p:nvSpPr>
          <p:cNvPr id="12" name="Shape 9"/>
          <p:cNvSpPr/>
          <p:nvPr/>
        </p:nvSpPr>
        <p:spPr>
          <a:xfrm>
            <a:off x="8490204" y="2212848"/>
            <a:ext cx="1152144" cy="411480"/>
          </a:xfrm>
          <a:prstGeom prst="roundRect">
            <a:avLst>
              <a:gd name="adj" fmla="val 22222"/>
            </a:avLst>
          </a:prstGeom>
          <a:solidFill>
            <a:srgbClr val="CDEBC9"/>
          </a:solidFill>
          <a:ln w="12700">
            <a:solidFill>
              <a:srgbClr val="CDEBC9"/>
            </a:solidFill>
            <a:prstDash val="solid"/>
          </a:ln>
        </p:spPr>
      </p:sp>
      <p:sp>
        <p:nvSpPr>
          <p:cNvPr id="13" name="Text 10"/>
          <p:cNvSpPr txBox="1"/>
          <p:nvPr/>
        </p:nvSpPr>
        <p:spPr>
          <a:xfrm>
            <a:off x="8490204" y="2212848"/>
            <a:ext cx="1152144" cy="411480"/>
          </a:xfrm>
          <a:prstGeom prst="rect">
            <a:avLst/>
          </a:prstGeom>
          <a:noFill/>
          <a:ln/>
        </p:spPr>
        <p:txBody>
          <a:bodyPr wrap="square" lIns="0" tIns="0" rIns="0" bIns="0" rtlCol="0" anchor="ctr"/>
          <a:lstStyle/>
          <a:p>
            <a:pPr algn="ctr" indent="0" marL="0">
              <a:buNone/>
            </a:pPr>
            <a:r>
              <a:rPr lang="en-US" sz="1500" b="1" dirty="0">
                <a:solidFill>
                  <a:srgbClr val="10262B"/>
                </a:solidFill>
                <a:latin typeface="Calibri" pitchFamily="34" charset="0"/>
                <a:ea typeface="Calibri" pitchFamily="34" charset="-122"/>
                <a:cs typeface="Calibri" pitchFamily="34" charset="-120"/>
              </a:rPr>
              <a:t>nkap</a:t>
            </a:r>
            <a:endParaRPr lang="en-US" sz="1500" dirty="0"/>
          </a:p>
        </p:txBody>
      </p:sp>
      <p:sp>
        <p:nvSpPr>
          <p:cNvPr id="14" name="Shape 11"/>
          <p:cNvSpPr/>
          <p:nvPr/>
        </p:nvSpPr>
        <p:spPr>
          <a:xfrm>
            <a:off x="9752076" y="2212848"/>
            <a:ext cx="1522476" cy="411480"/>
          </a:xfrm>
          <a:prstGeom prst="roundRect">
            <a:avLst>
              <a:gd name="adj" fmla="val 22222"/>
            </a:avLst>
          </a:prstGeom>
          <a:solidFill>
            <a:srgbClr val="CDEBC9"/>
          </a:solidFill>
          <a:ln w="12700">
            <a:solidFill>
              <a:srgbClr val="CDEBC9"/>
            </a:solidFill>
            <a:prstDash val="solid"/>
          </a:ln>
        </p:spPr>
      </p:sp>
      <p:sp>
        <p:nvSpPr>
          <p:cNvPr id="15" name="Text 12"/>
          <p:cNvSpPr txBox="1"/>
          <p:nvPr/>
        </p:nvSpPr>
        <p:spPr>
          <a:xfrm>
            <a:off x="9752076" y="2212848"/>
            <a:ext cx="1522476" cy="411480"/>
          </a:xfrm>
          <a:prstGeom prst="rect">
            <a:avLst/>
          </a:prstGeom>
          <a:noFill/>
          <a:ln/>
        </p:spPr>
        <p:txBody>
          <a:bodyPr wrap="square" lIns="0" tIns="0" rIns="0" bIns="0" rtlCol="0" anchor="ctr"/>
          <a:lstStyle/>
          <a:p>
            <a:pPr algn="ctr" indent="0" marL="0">
              <a:buNone/>
            </a:pPr>
            <a:r>
              <a:rPr lang="en-US" sz="1500" b="1" dirty="0">
                <a:solidFill>
                  <a:srgbClr val="10262B"/>
                </a:solidFill>
                <a:latin typeface="Calibri" pitchFamily="34" charset="0"/>
                <a:ea typeface="Calibri" pitchFamily="34" charset="-122"/>
                <a:cs typeface="Calibri" pitchFamily="34" charset="-120"/>
              </a:rPr>
              <a:t>pongos</a:t>
            </a:r>
            <a:endParaRPr lang="en-US" sz="1500" dirty="0"/>
          </a:p>
        </p:txBody>
      </p:sp>
      <p:sp>
        <p:nvSpPr>
          <p:cNvPr id="16" name="Shape 13"/>
          <p:cNvSpPr/>
          <p:nvPr/>
        </p:nvSpPr>
        <p:spPr>
          <a:xfrm>
            <a:off x="6858000" y="2743200"/>
            <a:ext cx="1892808" cy="411480"/>
          </a:xfrm>
          <a:prstGeom prst="roundRect">
            <a:avLst>
              <a:gd name="adj" fmla="val 22222"/>
            </a:avLst>
          </a:prstGeom>
          <a:solidFill>
            <a:srgbClr val="CDEBC9"/>
          </a:solidFill>
          <a:ln w="12700">
            <a:solidFill>
              <a:srgbClr val="CDEBC9"/>
            </a:solidFill>
            <a:prstDash val="solid"/>
          </a:ln>
        </p:spPr>
      </p:sp>
      <p:sp>
        <p:nvSpPr>
          <p:cNvPr id="17" name="Text 14"/>
          <p:cNvSpPr txBox="1"/>
          <p:nvPr/>
        </p:nvSpPr>
        <p:spPr>
          <a:xfrm>
            <a:off x="6858000" y="2743200"/>
            <a:ext cx="1892808" cy="411480"/>
          </a:xfrm>
          <a:prstGeom prst="rect">
            <a:avLst/>
          </a:prstGeom>
          <a:noFill/>
          <a:ln/>
        </p:spPr>
        <p:txBody>
          <a:bodyPr wrap="square" lIns="0" tIns="0" rIns="0" bIns="0" rtlCol="0" anchor="ctr"/>
          <a:lstStyle/>
          <a:p>
            <a:pPr algn="ctr" indent="0" marL="0">
              <a:buNone/>
            </a:pPr>
            <a:r>
              <a:rPr lang="en-US" sz="1500" b="1" dirty="0">
                <a:solidFill>
                  <a:srgbClr val="10262B"/>
                </a:solidFill>
                <a:latin typeface="Calibri" pitchFamily="34" charset="0"/>
                <a:ea typeface="Calibri" pitchFamily="34" charset="-122"/>
                <a:cs typeface="Calibri" pitchFamily="34" charset="-120"/>
              </a:rPr>
              <a:t>fapnkolo</a:t>
            </a:r>
            <a:endParaRPr lang="en-US" sz="1500" dirty="0"/>
          </a:p>
        </p:txBody>
      </p:sp>
      <p:sp>
        <p:nvSpPr>
          <p:cNvPr id="18" name="Shape 15"/>
          <p:cNvSpPr/>
          <p:nvPr/>
        </p:nvSpPr>
        <p:spPr>
          <a:xfrm>
            <a:off x="8860536" y="2743200"/>
            <a:ext cx="1892808" cy="411480"/>
          </a:xfrm>
          <a:prstGeom prst="roundRect">
            <a:avLst>
              <a:gd name="adj" fmla="val 22222"/>
            </a:avLst>
          </a:prstGeom>
          <a:solidFill>
            <a:srgbClr val="CDEBC9"/>
          </a:solidFill>
          <a:ln w="12700">
            <a:solidFill>
              <a:srgbClr val="CDEBC9"/>
            </a:solidFill>
            <a:prstDash val="solid"/>
          </a:ln>
        </p:spPr>
      </p:sp>
      <p:sp>
        <p:nvSpPr>
          <p:cNvPr id="19" name="Text 16"/>
          <p:cNvSpPr txBox="1"/>
          <p:nvPr/>
        </p:nvSpPr>
        <p:spPr>
          <a:xfrm>
            <a:off x="8860536" y="2743200"/>
            <a:ext cx="1892808" cy="411480"/>
          </a:xfrm>
          <a:prstGeom prst="rect">
            <a:avLst/>
          </a:prstGeom>
          <a:noFill/>
          <a:ln/>
        </p:spPr>
        <p:txBody>
          <a:bodyPr wrap="square" lIns="0" tIns="0" rIns="0" bIns="0" rtlCol="0" anchor="ctr"/>
          <a:lstStyle/>
          <a:p>
            <a:pPr algn="ctr" indent="0" marL="0">
              <a:buNone/>
            </a:pPr>
            <a:r>
              <a:rPr lang="en-US" sz="1500" b="1" dirty="0">
                <a:solidFill>
                  <a:srgbClr val="10262B"/>
                </a:solidFill>
                <a:latin typeface="Calibri" pitchFamily="34" charset="0"/>
                <a:ea typeface="Calibri" pitchFamily="34" charset="-122"/>
                <a:cs typeface="Calibri" pitchFamily="34" charset="-120"/>
              </a:rPr>
              <a:t>majumbum</a:t>
            </a:r>
            <a:endParaRPr lang="en-US" sz="1500" dirty="0"/>
          </a:p>
        </p:txBody>
      </p:sp>
      <p:sp>
        <p:nvSpPr>
          <p:cNvPr id="20" name="Text 17"/>
          <p:cNvSpPr txBox="1"/>
          <p:nvPr/>
        </p:nvSpPr>
        <p:spPr>
          <a:xfrm>
            <a:off x="6858000" y="3291840"/>
            <a:ext cx="1828800" cy="274320"/>
          </a:xfrm>
          <a:prstGeom prst="rect">
            <a:avLst/>
          </a:prstGeom>
          <a:noFill/>
          <a:ln/>
        </p:spPr>
        <p:txBody>
          <a:bodyPr wrap="square" lIns="0" tIns="0" rIns="0" bIns="0" rtlCol="0" anchor="ctr"/>
          <a:lstStyle/>
          <a:p>
            <a:pPr indent="0" marL="0">
              <a:buNone/>
            </a:pPr>
            <a:r>
              <a:rPr lang="en-US" sz="1200" b="1" dirty="0">
                <a:solidFill>
                  <a:srgbClr val="5B7370"/>
                </a:solidFill>
                <a:latin typeface="Calibri" pitchFamily="34" charset="0"/>
                <a:ea typeface="Calibri" pitchFamily="34" charset="-122"/>
                <a:cs typeface="Calibri" pitchFamily="34" charset="-120"/>
              </a:rPr>
              <a:t>EXPENSIVE</a:t>
            </a:r>
            <a:endParaRPr lang="en-US" sz="1200" dirty="0"/>
          </a:p>
        </p:txBody>
      </p:sp>
      <p:sp>
        <p:nvSpPr>
          <p:cNvPr id="21" name="Shape 18"/>
          <p:cNvSpPr/>
          <p:nvPr/>
        </p:nvSpPr>
        <p:spPr>
          <a:xfrm>
            <a:off x="6858000" y="3584448"/>
            <a:ext cx="1152144" cy="411480"/>
          </a:xfrm>
          <a:prstGeom prst="roundRect">
            <a:avLst>
              <a:gd name="adj" fmla="val 22222"/>
            </a:avLst>
          </a:prstGeom>
          <a:solidFill>
            <a:srgbClr val="FBE7A8"/>
          </a:solidFill>
          <a:ln w="12700">
            <a:solidFill>
              <a:srgbClr val="FBE7A8"/>
            </a:solidFill>
            <a:prstDash val="solid"/>
          </a:ln>
        </p:spPr>
      </p:sp>
      <p:sp>
        <p:nvSpPr>
          <p:cNvPr id="22" name="Text 19"/>
          <p:cNvSpPr txBox="1"/>
          <p:nvPr/>
        </p:nvSpPr>
        <p:spPr>
          <a:xfrm>
            <a:off x="6858000" y="3584448"/>
            <a:ext cx="1152144" cy="411480"/>
          </a:xfrm>
          <a:prstGeom prst="rect">
            <a:avLst/>
          </a:prstGeom>
          <a:noFill/>
          <a:ln/>
        </p:spPr>
        <p:txBody>
          <a:bodyPr wrap="square" lIns="0" tIns="0" rIns="0" bIns="0" rtlCol="0" anchor="ctr"/>
          <a:lstStyle/>
          <a:p>
            <a:pPr algn="ctr" indent="0" marL="0">
              <a:buNone/>
            </a:pPr>
            <a:r>
              <a:rPr lang="en-US" sz="1500" b="1" dirty="0">
                <a:solidFill>
                  <a:srgbClr val="10262B"/>
                </a:solidFill>
                <a:latin typeface="Calibri" pitchFamily="34" charset="0"/>
                <a:ea typeface="Calibri" pitchFamily="34" charset="-122"/>
                <a:cs typeface="Calibri" pitchFamily="34" charset="-120"/>
              </a:rPr>
              <a:t>deer</a:t>
            </a:r>
            <a:endParaRPr lang="en-US" sz="1500" dirty="0"/>
          </a:p>
        </p:txBody>
      </p:sp>
      <p:sp>
        <p:nvSpPr>
          <p:cNvPr id="23" name="Shape 20"/>
          <p:cNvSpPr/>
          <p:nvPr/>
        </p:nvSpPr>
        <p:spPr>
          <a:xfrm>
            <a:off x="8119872" y="3584448"/>
            <a:ext cx="1337310" cy="411480"/>
          </a:xfrm>
          <a:prstGeom prst="roundRect">
            <a:avLst>
              <a:gd name="adj" fmla="val 22222"/>
            </a:avLst>
          </a:prstGeom>
          <a:solidFill>
            <a:srgbClr val="F6D3E4"/>
          </a:solidFill>
          <a:ln w="12700">
            <a:solidFill>
              <a:srgbClr val="F6D3E4"/>
            </a:solidFill>
            <a:prstDash val="solid"/>
          </a:ln>
        </p:spPr>
      </p:sp>
      <p:sp>
        <p:nvSpPr>
          <p:cNvPr id="24" name="Text 21"/>
          <p:cNvSpPr txBox="1"/>
          <p:nvPr/>
        </p:nvSpPr>
        <p:spPr>
          <a:xfrm>
            <a:off x="8119872" y="3584448"/>
            <a:ext cx="1337310" cy="411480"/>
          </a:xfrm>
          <a:prstGeom prst="rect">
            <a:avLst/>
          </a:prstGeom>
          <a:noFill/>
          <a:ln/>
        </p:spPr>
        <p:txBody>
          <a:bodyPr wrap="square" lIns="0" tIns="0" rIns="0" bIns="0" rtlCol="0" anchor="ctr"/>
          <a:lstStyle/>
          <a:p>
            <a:pPr algn="ctr" indent="0" marL="0">
              <a:buNone/>
            </a:pPr>
            <a:r>
              <a:rPr lang="en-US" sz="1500" b="1" dirty="0">
                <a:solidFill>
                  <a:srgbClr val="10262B"/>
                </a:solidFill>
                <a:latin typeface="Calibri" pitchFamily="34" charset="0"/>
                <a:ea typeface="Calibri" pitchFamily="34" charset="-122"/>
                <a:cs typeface="Calibri" pitchFamily="34" charset="-120"/>
              </a:rPr>
              <a:t>chère</a:t>
            </a:r>
            <a:endParaRPr lang="en-US" sz="1500" dirty="0"/>
          </a:p>
        </p:txBody>
      </p:sp>
      <p:sp>
        <p:nvSpPr>
          <p:cNvPr id="25" name="Shape 22"/>
          <p:cNvSpPr/>
          <p:nvPr/>
        </p:nvSpPr>
        <p:spPr>
          <a:xfrm>
            <a:off x="6583680" y="4434840"/>
            <a:ext cx="5056632" cy="1691640"/>
          </a:xfrm>
          <a:prstGeom prst="roundRect">
            <a:avLst>
              <a:gd name="adj" fmla="val 6486"/>
            </a:avLst>
          </a:prstGeom>
          <a:solidFill>
            <a:srgbClr val="0B3D38"/>
          </a:solidFill>
          <a:ln w="9525">
            <a:solidFill>
              <a:srgbClr val="D5E0DD"/>
            </a:solidFill>
            <a:prstDash val="solid"/>
          </a:ln>
          <a:effectLst>
            <a:outerShdw sx="100000" sy="100000" kx="0" ky="0" algn="bl" rotWithShape="0" blurRad="101600" dist="25400" dir="5400000">
              <a:srgbClr val="000000">
                <a:alpha val="14000"/>
              </a:srgbClr>
            </a:outerShdw>
          </a:effectLst>
        </p:spPr>
      </p:sp>
      <p:sp>
        <p:nvSpPr>
          <p:cNvPr id="26" name="Text 23"/>
          <p:cNvSpPr txBox="1"/>
          <p:nvPr/>
        </p:nvSpPr>
        <p:spPr>
          <a:xfrm>
            <a:off x="6583680" y="4572000"/>
            <a:ext cx="5056632" cy="930402"/>
          </a:xfrm>
          <a:prstGeom prst="rect">
            <a:avLst/>
          </a:prstGeom>
          <a:noFill/>
          <a:ln/>
        </p:spPr>
        <p:txBody>
          <a:bodyPr wrap="square" lIns="0" tIns="0" rIns="0" bIns="0" rtlCol="0" anchor="ctr"/>
          <a:lstStyle/>
          <a:p>
            <a:pPr algn="ctr" indent="0" marL="0">
              <a:buNone/>
            </a:pPr>
            <a:r>
              <a:rPr lang="en-US" sz="4400" b="1" dirty="0">
                <a:solidFill>
                  <a:srgbClr val="F5B700"/>
                </a:solidFill>
                <a:latin typeface="Cambria" pitchFamily="34" charset="0"/>
                <a:ea typeface="Cambria" pitchFamily="34" charset="-122"/>
                <a:cs typeface="Cambria" pitchFamily="34" charset="-120"/>
              </a:rPr>
              <a:t>73%</a:t>
            </a:r>
            <a:endParaRPr lang="en-US" sz="4400" dirty="0"/>
          </a:p>
        </p:txBody>
      </p:sp>
      <p:sp>
        <p:nvSpPr>
          <p:cNvPr id="27" name="Text 24"/>
          <p:cNvSpPr txBox="1"/>
          <p:nvPr/>
        </p:nvSpPr>
        <p:spPr>
          <a:xfrm>
            <a:off x="6720840" y="5483657"/>
            <a:ext cx="4782312" cy="558241"/>
          </a:xfrm>
          <a:prstGeom prst="rect">
            <a:avLst/>
          </a:prstGeom>
          <a:noFill/>
          <a:ln/>
        </p:spPr>
        <p:txBody>
          <a:bodyPr wrap="square" lIns="0" tIns="0" rIns="0" bIns="0" rtlCol="0" anchor="t"/>
          <a:lstStyle/>
          <a:p>
            <a:pPr algn="ctr" indent="0" marL="0">
              <a:buNone/>
            </a:pPr>
            <a:r>
              <a:rPr lang="en-US" sz="1400" dirty="0">
                <a:solidFill>
                  <a:srgbClr val="CFE7E2"/>
                </a:solidFill>
                <a:latin typeface="Calibri" pitchFamily="34" charset="0"/>
                <a:ea typeface="Calibri" pitchFamily="34" charset="-122"/>
                <a:cs typeface="Calibri" pitchFamily="34" charset="-120"/>
              </a:rPr>
              <a:t>of distinct words appear only once (101 of 139)</a:t>
            </a:r>
            <a:endParaRPr lang="en-US" sz="1400" dirty="0"/>
          </a:p>
        </p:txBody>
      </p:sp>
      <p:sp>
        <p:nvSpPr>
          <p:cNvPr id="28" name="Text 25"/>
          <p:cNvSpPr txBox="1"/>
          <p:nvPr/>
        </p:nvSpPr>
        <p:spPr>
          <a:xfrm>
            <a:off x="11338560" y="6400800"/>
            <a:ext cx="457200" cy="274320"/>
          </a:xfrm>
          <a:prstGeom prst="rect">
            <a:avLst/>
          </a:prstGeom>
          <a:noFill/>
          <a:ln/>
        </p:spPr>
        <p:txBody>
          <a:bodyPr wrap="square" lIns="0" tIns="0" rIns="0" bIns="0" rtlCol="0" anchor="ctr"/>
          <a:lstStyle/>
          <a:p>
            <a:pPr algn="r" indent="0" marL="0">
              <a:buNone/>
            </a:pPr>
            <a:r>
              <a:rPr lang="en-US" sz="1100" dirty="0">
                <a:solidFill>
                  <a:srgbClr val="5B7370"/>
                </a:solidFill>
                <a:latin typeface="Calibri" pitchFamily="34" charset="0"/>
                <a:ea typeface="Calibri" pitchFamily="34" charset="-122"/>
                <a:cs typeface="Calibri" pitchFamily="34" charset="-120"/>
              </a:rPr>
              <a:t>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6"/>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822960"/>
          </a:xfrm>
          <a:prstGeom prst="rect">
            <a:avLst/>
          </a:prstGeom>
          <a:noFill/>
          <a:ln/>
        </p:spPr>
        <p:txBody>
          <a:bodyPr wrap="square" lIns="0" tIns="0" rIns="0" bIns="0" rtlCol="0" anchor="t"/>
          <a:lstStyle/>
          <a:p>
            <a:pPr indent="0" marL="0">
              <a:buNone/>
            </a:pPr>
            <a:r>
              <a:rPr lang="en-US" sz="3200" b="1" dirty="0">
                <a:solidFill>
                  <a:srgbClr val="10262B"/>
                </a:solidFill>
                <a:latin typeface="Cambria" pitchFamily="34" charset="0"/>
                <a:ea typeface="Cambria" pitchFamily="34" charset="-122"/>
                <a:cs typeface="Cambria" pitchFamily="34" charset="-120"/>
              </a:rPr>
              <a:t>From grammar rules to a parsing table</a:t>
            </a:r>
            <a:endParaRPr lang="en-US" sz="3200" dirty="0"/>
          </a:p>
        </p:txBody>
      </p:sp>
      <p:sp>
        <p:nvSpPr>
          <p:cNvPr id="3" name="Shape 1"/>
          <p:cNvSpPr/>
          <p:nvPr/>
        </p:nvSpPr>
        <p:spPr>
          <a:xfrm>
            <a:off x="9006840" y="347472"/>
            <a:ext cx="2651760" cy="384048"/>
          </a:xfrm>
          <a:prstGeom prst="roundRect">
            <a:avLst>
              <a:gd name="adj" fmla="val 50000"/>
            </a:avLst>
          </a:prstGeom>
          <a:solidFill>
            <a:srgbClr val="F5B700"/>
          </a:solidFill>
          <a:ln w="12700">
            <a:solidFill>
              <a:srgbClr val="F5B700"/>
            </a:solidFill>
            <a:prstDash val="solid"/>
          </a:ln>
        </p:spPr>
      </p:sp>
      <p:sp>
        <p:nvSpPr>
          <p:cNvPr id="4" name="Text 2"/>
          <p:cNvSpPr txBox="1"/>
          <p:nvPr/>
        </p:nvSpPr>
        <p:spPr>
          <a:xfrm>
            <a:off x="9006840" y="347472"/>
            <a:ext cx="2651760" cy="384048"/>
          </a:xfrm>
          <a:prstGeom prst="rect">
            <a:avLst/>
          </a:prstGeom>
          <a:noFill/>
          <a:ln/>
        </p:spPr>
        <p:txBody>
          <a:bodyPr wrap="square" lIns="0" tIns="0" rIns="0" bIns="0" rtlCol="0" anchor="ctr"/>
          <a:lstStyle/>
          <a:p>
            <a:pPr algn="ctr" indent="0" marL="0">
              <a:buNone/>
            </a:pPr>
            <a:r>
              <a:rPr lang="en-US" sz="1200" b="1" dirty="0">
                <a:solidFill>
                  <a:srgbClr val="0B3D38"/>
                </a:solidFill>
                <a:latin typeface="Calibri" pitchFamily="34" charset="0"/>
                <a:ea typeface="Calibri" pitchFamily="34" charset="-122"/>
                <a:cs typeface="Calibri" pitchFamily="34" charset="-120"/>
              </a:rPr>
              <a:t>Part 2  ·  Grammar and parser</a:t>
            </a:r>
            <a:endParaRPr lang="en-US" sz="1200" dirty="0"/>
          </a:p>
        </p:txBody>
      </p:sp>
      <p:sp>
        <p:nvSpPr>
          <p:cNvPr id="5" name="Shape 3"/>
          <p:cNvSpPr/>
          <p:nvPr/>
        </p:nvSpPr>
        <p:spPr>
          <a:xfrm>
            <a:off x="548640" y="1463040"/>
            <a:ext cx="2103120" cy="3749040"/>
          </a:xfrm>
          <a:prstGeom prst="roundRect">
            <a:avLst>
              <a:gd name="adj" fmla="val 5217"/>
            </a:avLst>
          </a:prstGeom>
          <a:solidFill>
            <a:srgbClr val="FFFFFF"/>
          </a:solidFill>
          <a:ln w="9525">
            <a:solidFill>
              <a:srgbClr val="D5E0DD"/>
            </a:solidFill>
            <a:prstDash val="solid"/>
          </a:ln>
          <a:effectLst>
            <a:outerShdw sx="100000" sy="100000" kx="0" ky="0" algn="bl" rotWithShape="0" blurRad="101600" dist="25400" dir="5400000">
              <a:srgbClr val="000000">
                <a:alpha val="14000"/>
              </a:srgbClr>
            </a:outerShdw>
          </a:effectLst>
        </p:spPr>
      </p:sp>
      <p:sp>
        <p:nvSpPr>
          <p:cNvPr id="6" name="Shape 4"/>
          <p:cNvSpPr/>
          <p:nvPr/>
        </p:nvSpPr>
        <p:spPr>
          <a:xfrm>
            <a:off x="731520" y="1645920"/>
            <a:ext cx="566928" cy="566928"/>
          </a:xfrm>
          <a:prstGeom prst="ellipse">
            <a:avLst/>
          </a:prstGeom>
          <a:solidFill>
            <a:srgbClr val="0F6B61"/>
          </a:solidFill>
          <a:ln w="12700">
            <a:solidFill>
              <a:srgbClr val="0F6B61"/>
            </a:solidFill>
            <a:prstDash val="solid"/>
          </a:ln>
        </p:spPr>
      </p:sp>
      <p:sp>
        <p:nvSpPr>
          <p:cNvPr id="7" name="Text 5"/>
          <p:cNvSpPr txBox="1"/>
          <p:nvPr/>
        </p:nvSpPr>
        <p:spPr>
          <a:xfrm>
            <a:off x="731520" y="1645920"/>
            <a:ext cx="566928"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8" name="Text 6"/>
          <p:cNvSpPr txBox="1"/>
          <p:nvPr/>
        </p:nvSpPr>
        <p:spPr>
          <a:xfrm>
            <a:off x="731520" y="2377440"/>
            <a:ext cx="1737360" cy="731520"/>
          </a:xfrm>
          <a:prstGeom prst="rect">
            <a:avLst/>
          </a:prstGeom>
          <a:noFill/>
          <a:ln/>
        </p:spPr>
        <p:txBody>
          <a:bodyPr wrap="square" lIns="0" tIns="0" rIns="0" bIns="0" rtlCol="0" anchor="t"/>
          <a:lstStyle/>
          <a:p>
            <a:pPr indent="0" marL="0">
              <a:buNone/>
            </a:pPr>
            <a:r>
              <a:rPr lang="en-US" sz="1700" b="1" dirty="0">
                <a:solidFill>
                  <a:srgbClr val="10262B"/>
                </a:solidFill>
                <a:latin typeface="Cambria" pitchFamily="34" charset="0"/>
                <a:ea typeface="Cambria" pitchFamily="34" charset="-122"/>
                <a:cs typeface="Cambria" pitchFamily="34" charset="-120"/>
              </a:rPr>
              <a:t>Design the CFG</a:t>
            </a:r>
            <a:endParaRPr lang="en-US" sz="1700" dirty="0"/>
          </a:p>
        </p:txBody>
      </p:sp>
      <p:sp>
        <p:nvSpPr>
          <p:cNvPr id="9" name="Text 7"/>
          <p:cNvSpPr txBox="1"/>
          <p:nvPr/>
        </p:nvSpPr>
        <p:spPr>
          <a:xfrm>
            <a:off x="731520" y="3108960"/>
            <a:ext cx="1737360" cy="1097280"/>
          </a:xfrm>
          <a:prstGeom prst="rect">
            <a:avLst/>
          </a:prstGeom>
          <a:noFill/>
          <a:ln/>
        </p:spPr>
        <p:txBody>
          <a:bodyPr wrap="square" lIns="0" tIns="0" rIns="0" bIns="0" rtlCol="0" anchor="t"/>
          <a:lstStyle/>
          <a:p>
            <a:pPr indent="0" marL="0">
              <a:buNone/>
            </a:pPr>
            <a:r>
              <a:rPr lang="en-US" sz="1300" dirty="0">
                <a:solidFill>
                  <a:srgbClr val="5B7370"/>
                </a:solidFill>
                <a:latin typeface="Calibri" pitchFamily="34" charset="0"/>
                <a:ea typeface="Calibri" pitchFamily="34" charset="-122"/>
                <a:cs typeface="Calibri" pitchFamily="34" charset="-120"/>
              </a:rPr>
              <a:t>20 rules written from the sentence shapes in the data.</a:t>
            </a:r>
            <a:endParaRPr lang="en-US" sz="1300" dirty="0"/>
          </a:p>
        </p:txBody>
      </p:sp>
      <p:sp>
        <p:nvSpPr>
          <p:cNvPr id="10" name="Shape 8"/>
          <p:cNvSpPr/>
          <p:nvPr/>
        </p:nvSpPr>
        <p:spPr>
          <a:xfrm>
            <a:off x="731520" y="4434840"/>
            <a:ext cx="1737360" cy="548640"/>
          </a:xfrm>
          <a:prstGeom prst="roundRect">
            <a:avLst>
              <a:gd name="adj" fmla="val 16667"/>
            </a:avLst>
          </a:prstGeom>
          <a:solidFill>
            <a:srgbClr val="E3F1EE"/>
          </a:solidFill>
          <a:ln w="12700">
            <a:solidFill>
              <a:srgbClr val="E3F1EE"/>
            </a:solidFill>
            <a:prstDash val="solid"/>
          </a:ln>
        </p:spPr>
      </p:sp>
      <p:sp>
        <p:nvSpPr>
          <p:cNvPr id="11" name="Text 9"/>
          <p:cNvSpPr txBox="1"/>
          <p:nvPr/>
        </p:nvSpPr>
        <p:spPr>
          <a:xfrm>
            <a:off x="731520" y="4434840"/>
            <a:ext cx="1737360" cy="548640"/>
          </a:xfrm>
          <a:prstGeom prst="rect">
            <a:avLst/>
          </a:prstGeom>
          <a:noFill/>
          <a:ln/>
        </p:spPr>
        <p:txBody>
          <a:bodyPr wrap="square" lIns="0" tIns="0" rIns="0" bIns="0" rtlCol="0" anchor="ctr"/>
          <a:lstStyle/>
          <a:p>
            <a:pPr algn="ctr" indent="0" marL="0">
              <a:buNone/>
            </a:pPr>
            <a:r>
              <a:rPr lang="en-US" sz="1400" b="1" dirty="0">
                <a:solidFill>
                  <a:srgbClr val="0F6B61"/>
                </a:solidFill>
                <a:latin typeface="Calibri" pitchFamily="34" charset="0"/>
                <a:ea typeface="Calibri" pitchFamily="34" charset="-122"/>
                <a:cs typeface="Calibri" pitchFamily="34" charset="-120"/>
              </a:rPr>
              <a:t>20 rules</a:t>
            </a:r>
            <a:endParaRPr lang="en-US" sz="1400" dirty="0"/>
          </a:p>
        </p:txBody>
      </p:sp>
      <p:sp>
        <p:nvSpPr>
          <p:cNvPr id="12" name="Shape 10"/>
          <p:cNvSpPr/>
          <p:nvPr/>
        </p:nvSpPr>
        <p:spPr>
          <a:xfrm>
            <a:off x="2798064" y="1463040"/>
            <a:ext cx="2103120" cy="3749040"/>
          </a:xfrm>
          <a:prstGeom prst="roundRect">
            <a:avLst>
              <a:gd name="adj" fmla="val 5217"/>
            </a:avLst>
          </a:prstGeom>
          <a:solidFill>
            <a:srgbClr val="FFFFFF"/>
          </a:solidFill>
          <a:ln w="9525">
            <a:solidFill>
              <a:srgbClr val="D5E0DD"/>
            </a:solidFill>
            <a:prstDash val="solid"/>
          </a:ln>
          <a:effectLst>
            <a:outerShdw sx="100000" sy="100000" kx="0" ky="0" algn="bl" rotWithShape="0" blurRad="101600" dist="25400" dir="5400000">
              <a:srgbClr val="000000">
                <a:alpha val="14000"/>
              </a:srgbClr>
            </a:outerShdw>
          </a:effectLst>
        </p:spPr>
      </p:sp>
      <p:sp>
        <p:nvSpPr>
          <p:cNvPr id="13" name="Shape 11"/>
          <p:cNvSpPr/>
          <p:nvPr/>
        </p:nvSpPr>
        <p:spPr>
          <a:xfrm>
            <a:off x="2980944" y="1645920"/>
            <a:ext cx="566928" cy="566928"/>
          </a:xfrm>
          <a:prstGeom prst="ellipse">
            <a:avLst/>
          </a:prstGeom>
          <a:solidFill>
            <a:srgbClr val="0F6B61"/>
          </a:solidFill>
          <a:ln w="12700">
            <a:solidFill>
              <a:srgbClr val="0F6B61"/>
            </a:solidFill>
            <a:prstDash val="solid"/>
          </a:ln>
        </p:spPr>
      </p:sp>
      <p:sp>
        <p:nvSpPr>
          <p:cNvPr id="14" name="Text 12"/>
          <p:cNvSpPr txBox="1"/>
          <p:nvPr/>
        </p:nvSpPr>
        <p:spPr>
          <a:xfrm>
            <a:off x="2980944" y="1645920"/>
            <a:ext cx="566928"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5" name="Text 13"/>
          <p:cNvSpPr txBox="1"/>
          <p:nvPr/>
        </p:nvSpPr>
        <p:spPr>
          <a:xfrm>
            <a:off x="2980944" y="2377440"/>
            <a:ext cx="1737360" cy="731520"/>
          </a:xfrm>
          <a:prstGeom prst="rect">
            <a:avLst/>
          </a:prstGeom>
          <a:noFill/>
          <a:ln/>
        </p:spPr>
        <p:txBody>
          <a:bodyPr wrap="square" lIns="0" tIns="0" rIns="0" bIns="0" rtlCol="0" anchor="t"/>
          <a:lstStyle/>
          <a:p>
            <a:pPr indent="0" marL="0">
              <a:buNone/>
            </a:pPr>
            <a:r>
              <a:rPr lang="en-US" sz="1700" b="1" dirty="0">
                <a:solidFill>
                  <a:srgbClr val="10262B"/>
                </a:solidFill>
                <a:latin typeface="Cambria" pitchFamily="34" charset="0"/>
                <a:ea typeface="Cambria" pitchFamily="34" charset="-122"/>
                <a:cs typeface="Cambria" pitchFamily="34" charset="-120"/>
              </a:rPr>
              <a:t>Remove left recursion</a:t>
            </a:r>
            <a:endParaRPr lang="en-US" sz="1700" dirty="0"/>
          </a:p>
        </p:txBody>
      </p:sp>
      <p:sp>
        <p:nvSpPr>
          <p:cNvPr id="16" name="Text 14"/>
          <p:cNvSpPr txBox="1"/>
          <p:nvPr/>
        </p:nvSpPr>
        <p:spPr>
          <a:xfrm>
            <a:off x="2980944" y="3108960"/>
            <a:ext cx="1737360" cy="1097280"/>
          </a:xfrm>
          <a:prstGeom prst="rect">
            <a:avLst/>
          </a:prstGeom>
          <a:noFill/>
          <a:ln/>
        </p:spPr>
        <p:txBody>
          <a:bodyPr wrap="square" lIns="0" tIns="0" rIns="0" bIns="0" rtlCol="0" anchor="t"/>
          <a:lstStyle/>
          <a:p>
            <a:pPr indent="0" marL="0">
              <a:buNone/>
            </a:pPr>
            <a:r>
              <a:rPr lang="en-US" sz="1300" dirty="0">
                <a:solidFill>
                  <a:srgbClr val="5B7370"/>
                </a:solidFill>
                <a:latin typeface="Calibri" pitchFamily="34" charset="0"/>
                <a:ea typeface="Calibri" pitchFamily="34" charset="-122"/>
                <a:cs typeface="Calibri" pitchFamily="34" charset="-120"/>
              </a:rPr>
              <a:t>UTT, ADJP and NBAR call themselves on the left.</a:t>
            </a:r>
            <a:endParaRPr lang="en-US" sz="1300" dirty="0"/>
          </a:p>
        </p:txBody>
      </p:sp>
      <p:sp>
        <p:nvSpPr>
          <p:cNvPr id="17" name="Shape 15"/>
          <p:cNvSpPr/>
          <p:nvPr/>
        </p:nvSpPr>
        <p:spPr>
          <a:xfrm>
            <a:off x="2980944" y="4434840"/>
            <a:ext cx="1737360" cy="548640"/>
          </a:xfrm>
          <a:prstGeom prst="roundRect">
            <a:avLst>
              <a:gd name="adj" fmla="val 16667"/>
            </a:avLst>
          </a:prstGeom>
          <a:solidFill>
            <a:srgbClr val="E3F1EE"/>
          </a:solidFill>
          <a:ln w="12700">
            <a:solidFill>
              <a:srgbClr val="E3F1EE"/>
            </a:solidFill>
            <a:prstDash val="solid"/>
          </a:ln>
        </p:spPr>
      </p:sp>
      <p:sp>
        <p:nvSpPr>
          <p:cNvPr id="18" name="Text 16"/>
          <p:cNvSpPr txBox="1"/>
          <p:nvPr/>
        </p:nvSpPr>
        <p:spPr>
          <a:xfrm>
            <a:off x="2980944" y="4434840"/>
            <a:ext cx="1737360" cy="548640"/>
          </a:xfrm>
          <a:prstGeom prst="rect">
            <a:avLst/>
          </a:prstGeom>
          <a:noFill/>
          <a:ln/>
        </p:spPr>
        <p:txBody>
          <a:bodyPr wrap="square" lIns="0" tIns="0" rIns="0" bIns="0" rtlCol="0" anchor="ctr"/>
          <a:lstStyle/>
          <a:p>
            <a:pPr algn="ctr" indent="0" marL="0">
              <a:buNone/>
            </a:pPr>
            <a:r>
              <a:rPr lang="en-US" sz="1400" b="1" dirty="0">
                <a:solidFill>
                  <a:srgbClr val="0F6B61"/>
                </a:solidFill>
                <a:latin typeface="Calibri" pitchFamily="34" charset="0"/>
                <a:ea typeface="Calibri" pitchFamily="34" charset="-122"/>
                <a:cs typeface="Calibri" pitchFamily="34" charset="-120"/>
              </a:rPr>
              <a:t>3 rewritten</a:t>
            </a:r>
            <a:endParaRPr lang="en-US" sz="1400" dirty="0"/>
          </a:p>
        </p:txBody>
      </p:sp>
      <p:sp>
        <p:nvSpPr>
          <p:cNvPr id="19" name="Shape 17"/>
          <p:cNvSpPr/>
          <p:nvPr/>
        </p:nvSpPr>
        <p:spPr>
          <a:xfrm>
            <a:off x="5047488" y="1463040"/>
            <a:ext cx="2103120" cy="3749040"/>
          </a:xfrm>
          <a:prstGeom prst="roundRect">
            <a:avLst>
              <a:gd name="adj" fmla="val 5217"/>
            </a:avLst>
          </a:prstGeom>
          <a:solidFill>
            <a:srgbClr val="FFFFFF"/>
          </a:solidFill>
          <a:ln w="9525">
            <a:solidFill>
              <a:srgbClr val="D5E0DD"/>
            </a:solidFill>
            <a:prstDash val="solid"/>
          </a:ln>
          <a:effectLst>
            <a:outerShdw sx="100000" sy="100000" kx="0" ky="0" algn="bl" rotWithShape="0" blurRad="101600" dist="25400" dir="5400000">
              <a:srgbClr val="000000">
                <a:alpha val="14000"/>
              </a:srgbClr>
            </a:outerShdw>
          </a:effectLst>
        </p:spPr>
      </p:sp>
      <p:sp>
        <p:nvSpPr>
          <p:cNvPr id="20" name="Shape 18"/>
          <p:cNvSpPr/>
          <p:nvPr/>
        </p:nvSpPr>
        <p:spPr>
          <a:xfrm>
            <a:off x="5230368" y="1645920"/>
            <a:ext cx="566928" cy="566928"/>
          </a:xfrm>
          <a:prstGeom prst="ellipse">
            <a:avLst/>
          </a:prstGeom>
          <a:solidFill>
            <a:srgbClr val="0F6B61"/>
          </a:solidFill>
          <a:ln w="12700">
            <a:solidFill>
              <a:srgbClr val="0F6B61"/>
            </a:solidFill>
            <a:prstDash val="solid"/>
          </a:ln>
        </p:spPr>
      </p:sp>
      <p:sp>
        <p:nvSpPr>
          <p:cNvPr id="21" name="Text 19"/>
          <p:cNvSpPr txBox="1"/>
          <p:nvPr/>
        </p:nvSpPr>
        <p:spPr>
          <a:xfrm>
            <a:off x="5230368" y="1645920"/>
            <a:ext cx="566928"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22" name="Text 20"/>
          <p:cNvSpPr txBox="1"/>
          <p:nvPr/>
        </p:nvSpPr>
        <p:spPr>
          <a:xfrm>
            <a:off x="5230368" y="2377440"/>
            <a:ext cx="1737360" cy="731520"/>
          </a:xfrm>
          <a:prstGeom prst="rect">
            <a:avLst/>
          </a:prstGeom>
          <a:noFill/>
          <a:ln/>
        </p:spPr>
        <p:txBody>
          <a:bodyPr wrap="square" lIns="0" tIns="0" rIns="0" bIns="0" rtlCol="0" anchor="t"/>
          <a:lstStyle/>
          <a:p>
            <a:pPr indent="0" marL="0">
              <a:buNone/>
            </a:pPr>
            <a:r>
              <a:rPr lang="en-US" sz="1700" b="1" dirty="0">
                <a:solidFill>
                  <a:srgbClr val="10262B"/>
                </a:solidFill>
                <a:latin typeface="Cambria" pitchFamily="34" charset="0"/>
                <a:ea typeface="Cambria" pitchFamily="34" charset="-122"/>
                <a:cs typeface="Cambria" pitchFamily="34" charset="-120"/>
              </a:rPr>
              <a:t>Left-factor</a:t>
            </a:r>
            <a:endParaRPr lang="en-US" sz="1700" dirty="0"/>
          </a:p>
        </p:txBody>
      </p:sp>
      <p:sp>
        <p:nvSpPr>
          <p:cNvPr id="23" name="Text 21"/>
          <p:cNvSpPr txBox="1"/>
          <p:nvPr/>
        </p:nvSpPr>
        <p:spPr>
          <a:xfrm>
            <a:off x="5230368" y="3108960"/>
            <a:ext cx="1737360" cy="1097280"/>
          </a:xfrm>
          <a:prstGeom prst="rect">
            <a:avLst/>
          </a:prstGeom>
          <a:noFill/>
          <a:ln/>
        </p:spPr>
        <p:txBody>
          <a:bodyPr wrap="square" lIns="0" tIns="0" rIns="0" bIns="0" rtlCol="0" anchor="t"/>
          <a:lstStyle/>
          <a:p>
            <a:pPr indent="0" marL="0">
              <a:buNone/>
            </a:pPr>
            <a:r>
              <a:rPr lang="en-US" sz="1300" dirty="0">
                <a:solidFill>
                  <a:srgbClr val="5B7370"/>
                </a:solidFill>
                <a:latin typeface="Calibri" pitchFamily="34" charset="0"/>
                <a:ea typeface="Calibri" pitchFamily="34" charset="-122"/>
                <a:cs typeface="Calibri" pitchFamily="34" charset="-120"/>
              </a:rPr>
              <a:t>CLAUSE, COMP and NBAR start alike; split off a helper.</a:t>
            </a:r>
            <a:endParaRPr lang="en-US" sz="1300" dirty="0"/>
          </a:p>
        </p:txBody>
      </p:sp>
      <p:sp>
        <p:nvSpPr>
          <p:cNvPr id="24" name="Shape 22"/>
          <p:cNvSpPr/>
          <p:nvPr/>
        </p:nvSpPr>
        <p:spPr>
          <a:xfrm>
            <a:off x="5230368" y="4434840"/>
            <a:ext cx="1737360" cy="548640"/>
          </a:xfrm>
          <a:prstGeom prst="roundRect">
            <a:avLst>
              <a:gd name="adj" fmla="val 16667"/>
            </a:avLst>
          </a:prstGeom>
          <a:solidFill>
            <a:srgbClr val="E3F1EE"/>
          </a:solidFill>
          <a:ln w="12700">
            <a:solidFill>
              <a:srgbClr val="E3F1EE"/>
            </a:solidFill>
            <a:prstDash val="solid"/>
          </a:ln>
        </p:spPr>
      </p:sp>
      <p:sp>
        <p:nvSpPr>
          <p:cNvPr id="25" name="Text 23"/>
          <p:cNvSpPr txBox="1"/>
          <p:nvPr/>
        </p:nvSpPr>
        <p:spPr>
          <a:xfrm>
            <a:off x="5230368" y="4434840"/>
            <a:ext cx="1737360" cy="548640"/>
          </a:xfrm>
          <a:prstGeom prst="rect">
            <a:avLst/>
          </a:prstGeom>
          <a:noFill/>
          <a:ln/>
        </p:spPr>
        <p:txBody>
          <a:bodyPr wrap="square" lIns="0" tIns="0" rIns="0" bIns="0" rtlCol="0" anchor="ctr"/>
          <a:lstStyle/>
          <a:p>
            <a:pPr algn="ctr" indent="0" marL="0">
              <a:buNone/>
            </a:pPr>
            <a:r>
              <a:rPr lang="en-US" sz="1400" b="1" dirty="0">
                <a:solidFill>
                  <a:srgbClr val="0F6B61"/>
                </a:solidFill>
                <a:latin typeface="Calibri" pitchFamily="34" charset="0"/>
                <a:ea typeface="Calibri" pitchFamily="34" charset="-122"/>
                <a:cs typeface="Calibri" pitchFamily="34" charset="-120"/>
              </a:rPr>
              <a:t>3 factored</a:t>
            </a:r>
            <a:endParaRPr lang="en-US" sz="1400" dirty="0"/>
          </a:p>
        </p:txBody>
      </p:sp>
      <p:sp>
        <p:nvSpPr>
          <p:cNvPr id="26" name="Shape 24"/>
          <p:cNvSpPr/>
          <p:nvPr/>
        </p:nvSpPr>
        <p:spPr>
          <a:xfrm>
            <a:off x="7296912" y="1463040"/>
            <a:ext cx="2103120" cy="3749040"/>
          </a:xfrm>
          <a:prstGeom prst="roundRect">
            <a:avLst>
              <a:gd name="adj" fmla="val 5217"/>
            </a:avLst>
          </a:prstGeom>
          <a:solidFill>
            <a:srgbClr val="FFFFFF"/>
          </a:solidFill>
          <a:ln w="9525">
            <a:solidFill>
              <a:srgbClr val="D5E0DD"/>
            </a:solidFill>
            <a:prstDash val="solid"/>
          </a:ln>
          <a:effectLst>
            <a:outerShdw sx="100000" sy="100000" kx="0" ky="0" algn="bl" rotWithShape="0" blurRad="101600" dist="25400" dir="5400000">
              <a:srgbClr val="000000">
                <a:alpha val="14000"/>
              </a:srgbClr>
            </a:outerShdw>
          </a:effectLst>
        </p:spPr>
      </p:sp>
      <p:sp>
        <p:nvSpPr>
          <p:cNvPr id="27" name="Shape 25"/>
          <p:cNvSpPr/>
          <p:nvPr/>
        </p:nvSpPr>
        <p:spPr>
          <a:xfrm>
            <a:off x="7479792" y="1645920"/>
            <a:ext cx="566928" cy="566928"/>
          </a:xfrm>
          <a:prstGeom prst="ellipse">
            <a:avLst/>
          </a:prstGeom>
          <a:solidFill>
            <a:srgbClr val="0F6B61"/>
          </a:solidFill>
          <a:ln w="12700">
            <a:solidFill>
              <a:srgbClr val="0F6B61"/>
            </a:solidFill>
            <a:prstDash val="solid"/>
          </a:ln>
        </p:spPr>
      </p:sp>
      <p:sp>
        <p:nvSpPr>
          <p:cNvPr id="28" name="Text 26"/>
          <p:cNvSpPr txBox="1"/>
          <p:nvPr/>
        </p:nvSpPr>
        <p:spPr>
          <a:xfrm>
            <a:off x="7479792" y="1645920"/>
            <a:ext cx="566928"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29" name="Text 27"/>
          <p:cNvSpPr txBox="1"/>
          <p:nvPr/>
        </p:nvSpPr>
        <p:spPr>
          <a:xfrm>
            <a:off x="7479792" y="2377440"/>
            <a:ext cx="1737360" cy="731520"/>
          </a:xfrm>
          <a:prstGeom prst="rect">
            <a:avLst/>
          </a:prstGeom>
          <a:noFill/>
          <a:ln/>
        </p:spPr>
        <p:txBody>
          <a:bodyPr wrap="square" lIns="0" tIns="0" rIns="0" bIns="0" rtlCol="0" anchor="t"/>
          <a:lstStyle/>
          <a:p>
            <a:pPr indent="0" marL="0">
              <a:buNone/>
            </a:pPr>
            <a:r>
              <a:rPr lang="en-US" sz="1700" b="1" dirty="0">
                <a:solidFill>
                  <a:srgbClr val="10262B"/>
                </a:solidFill>
                <a:latin typeface="Cambria" pitchFamily="34" charset="0"/>
                <a:ea typeface="Cambria" pitchFamily="34" charset="-122"/>
                <a:cs typeface="Cambria" pitchFamily="34" charset="-120"/>
              </a:rPr>
              <a:t>FIRST and FOLLOW</a:t>
            </a:r>
            <a:endParaRPr lang="en-US" sz="1700" dirty="0"/>
          </a:p>
        </p:txBody>
      </p:sp>
      <p:sp>
        <p:nvSpPr>
          <p:cNvPr id="30" name="Text 28"/>
          <p:cNvSpPr txBox="1"/>
          <p:nvPr/>
        </p:nvSpPr>
        <p:spPr>
          <a:xfrm>
            <a:off x="7479792" y="3108960"/>
            <a:ext cx="1737360" cy="1097280"/>
          </a:xfrm>
          <a:prstGeom prst="rect">
            <a:avLst/>
          </a:prstGeom>
          <a:noFill/>
          <a:ln/>
        </p:spPr>
        <p:txBody>
          <a:bodyPr wrap="square" lIns="0" tIns="0" rIns="0" bIns="0" rtlCol="0" anchor="t"/>
          <a:lstStyle/>
          <a:p>
            <a:pPr indent="0" marL="0">
              <a:buNone/>
            </a:pPr>
            <a:r>
              <a:rPr lang="en-US" sz="1300" dirty="0">
                <a:solidFill>
                  <a:srgbClr val="5B7370"/>
                </a:solidFill>
                <a:latin typeface="Calibri" pitchFamily="34" charset="0"/>
                <a:ea typeface="Calibri" pitchFamily="34" charset="-122"/>
                <a:cs typeface="Calibri" pitchFamily="34" charset="-120"/>
              </a:rPr>
              <a:t>What can start each rule, and what can come after it.</a:t>
            </a:r>
            <a:endParaRPr lang="en-US" sz="1300" dirty="0"/>
          </a:p>
        </p:txBody>
      </p:sp>
      <p:sp>
        <p:nvSpPr>
          <p:cNvPr id="31" name="Shape 29"/>
          <p:cNvSpPr/>
          <p:nvPr/>
        </p:nvSpPr>
        <p:spPr>
          <a:xfrm>
            <a:off x="7479792" y="4434840"/>
            <a:ext cx="1737360" cy="548640"/>
          </a:xfrm>
          <a:prstGeom prst="roundRect">
            <a:avLst>
              <a:gd name="adj" fmla="val 16667"/>
            </a:avLst>
          </a:prstGeom>
          <a:solidFill>
            <a:srgbClr val="E3F1EE"/>
          </a:solidFill>
          <a:ln w="12700">
            <a:solidFill>
              <a:srgbClr val="E3F1EE"/>
            </a:solidFill>
            <a:prstDash val="solid"/>
          </a:ln>
        </p:spPr>
      </p:sp>
      <p:sp>
        <p:nvSpPr>
          <p:cNvPr id="32" name="Text 30"/>
          <p:cNvSpPr txBox="1"/>
          <p:nvPr/>
        </p:nvSpPr>
        <p:spPr>
          <a:xfrm>
            <a:off x="7479792" y="4434840"/>
            <a:ext cx="1737360" cy="548640"/>
          </a:xfrm>
          <a:prstGeom prst="rect">
            <a:avLst/>
          </a:prstGeom>
          <a:noFill/>
          <a:ln/>
        </p:spPr>
        <p:txBody>
          <a:bodyPr wrap="square" lIns="0" tIns="0" rIns="0" bIns="0" rtlCol="0" anchor="ctr"/>
          <a:lstStyle/>
          <a:p>
            <a:pPr algn="ctr" indent="0" marL="0">
              <a:buNone/>
            </a:pPr>
            <a:r>
              <a:rPr lang="en-US" sz="1400" b="1" dirty="0">
                <a:solidFill>
                  <a:srgbClr val="0F6B61"/>
                </a:solidFill>
                <a:latin typeface="Calibri" pitchFamily="34" charset="0"/>
                <a:ea typeface="Calibri" pitchFamily="34" charset="-122"/>
                <a:cs typeface="Calibri" pitchFamily="34" charset="-120"/>
              </a:rPr>
              <a:t>26 symbols</a:t>
            </a:r>
            <a:endParaRPr lang="en-US" sz="1400" dirty="0"/>
          </a:p>
        </p:txBody>
      </p:sp>
      <p:sp>
        <p:nvSpPr>
          <p:cNvPr id="33" name="Shape 31"/>
          <p:cNvSpPr/>
          <p:nvPr/>
        </p:nvSpPr>
        <p:spPr>
          <a:xfrm>
            <a:off x="9546336" y="1463040"/>
            <a:ext cx="2103120" cy="3749040"/>
          </a:xfrm>
          <a:prstGeom prst="roundRect">
            <a:avLst>
              <a:gd name="adj" fmla="val 5217"/>
            </a:avLst>
          </a:prstGeom>
          <a:solidFill>
            <a:srgbClr val="FFFFFF"/>
          </a:solidFill>
          <a:ln w="9525">
            <a:solidFill>
              <a:srgbClr val="D5E0DD"/>
            </a:solidFill>
            <a:prstDash val="solid"/>
          </a:ln>
          <a:effectLst>
            <a:outerShdw sx="100000" sy="100000" kx="0" ky="0" algn="bl" rotWithShape="0" blurRad="101600" dist="25400" dir="5400000">
              <a:srgbClr val="000000">
                <a:alpha val="14000"/>
              </a:srgbClr>
            </a:outerShdw>
          </a:effectLst>
        </p:spPr>
      </p:sp>
      <p:sp>
        <p:nvSpPr>
          <p:cNvPr id="34" name="Shape 32"/>
          <p:cNvSpPr/>
          <p:nvPr/>
        </p:nvSpPr>
        <p:spPr>
          <a:xfrm>
            <a:off x="9729216" y="1645920"/>
            <a:ext cx="566928" cy="566928"/>
          </a:xfrm>
          <a:prstGeom prst="ellipse">
            <a:avLst/>
          </a:prstGeom>
          <a:solidFill>
            <a:srgbClr val="0F6B61"/>
          </a:solidFill>
          <a:ln w="12700">
            <a:solidFill>
              <a:srgbClr val="0F6B61"/>
            </a:solidFill>
            <a:prstDash val="solid"/>
          </a:ln>
        </p:spPr>
      </p:sp>
      <p:sp>
        <p:nvSpPr>
          <p:cNvPr id="35" name="Text 33"/>
          <p:cNvSpPr txBox="1"/>
          <p:nvPr/>
        </p:nvSpPr>
        <p:spPr>
          <a:xfrm>
            <a:off x="9729216" y="1645920"/>
            <a:ext cx="566928"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5</a:t>
            </a:r>
            <a:endParaRPr lang="en-US" sz="1600" dirty="0"/>
          </a:p>
        </p:txBody>
      </p:sp>
      <p:sp>
        <p:nvSpPr>
          <p:cNvPr id="36" name="Text 34"/>
          <p:cNvSpPr txBox="1"/>
          <p:nvPr/>
        </p:nvSpPr>
        <p:spPr>
          <a:xfrm>
            <a:off x="9729216" y="2377440"/>
            <a:ext cx="1737360" cy="731520"/>
          </a:xfrm>
          <a:prstGeom prst="rect">
            <a:avLst/>
          </a:prstGeom>
          <a:noFill/>
          <a:ln/>
        </p:spPr>
        <p:txBody>
          <a:bodyPr wrap="square" lIns="0" tIns="0" rIns="0" bIns="0" rtlCol="0" anchor="t"/>
          <a:lstStyle/>
          <a:p>
            <a:pPr indent="0" marL="0">
              <a:buNone/>
            </a:pPr>
            <a:r>
              <a:rPr lang="en-US" sz="1700" b="1" dirty="0">
                <a:solidFill>
                  <a:srgbClr val="10262B"/>
                </a:solidFill>
                <a:latin typeface="Cambria" pitchFamily="34" charset="0"/>
                <a:ea typeface="Cambria" pitchFamily="34" charset="-122"/>
                <a:cs typeface="Cambria" pitchFamily="34" charset="-120"/>
              </a:rPr>
              <a:t>LL(1) table</a:t>
            </a:r>
            <a:endParaRPr lang="en-US" sz="1700" dirty="0"/>
          </a:p>
        </p:txBody>
      </p:sp>
      <p:sp>
        <p:nvSpPr>
          <p:cNvPr id="37" name="Text 35"/>
          <p:cNvSpPr txBox="1"/>
          <p:nvPr/>
        </p:nvSpPr>
        <p:spPr>
          <a:xfrm>
            <a:off x="9729216" y="3108960"/>
            <a:ext cx="1737360" cy="1097280"/>
          </a:xfrm>
          <a:prstGeom prst="rect">
            <a:avLst/>
          </a:prstGeom>
          <a:noFill/>
          <a:ln/>
        </p:spPr>
        <p:txBody>
          <a:bodyPr wrap="square" lIns="0" tIns="0" rIns="0" bIns="0" rtlCol="0" anchor="t"/>
          <a:lstStyle/>
          <a:p>
            <a:pPr indent="0" marL="0">
              <a:buNone/>
            </a:pPr>
            <a:r>
              <a:rPr lang="en-US" sz="1300" dirty="0">
                <a:solidFill>
                  <a:srgbClr val="5B7370"/>
                </a:solidFill>
                <a:latin typeface="Calibri" pitchFamily="34" charset="0"/>
                <a:ea typeface="Calibri" pitchFamily="34" charset="-122"/>
                <a:cs typeface="Calibri" pitchFamily="34" charset="-120"/>
              </a:rPr>
              <a:t>Which rule to use for (symbol, next token).</a:t>
            </a:r>
            <a:endParaRPr lang="en-US" sz="1300" dirty="0"/>
          </a:p>
        </p:txBody>
      </p:sp>
      <p:sp>
        <p:nvSpPr>
          <p:cNvPr id="38" name="Shape 36"/>
          <p:cNvSpPr/>
          <p:nvPr/>
        </p:nvSpPr>
        <p:spPr>
          <a:xfrm>
            <a:off x="9729216" y="4434840"/>
            <a:ext cx="1737360" cy="548640"/>
          </a:xfrm>
          <a:prstGeom prst="roundRect">
            <a:avLst>
              <a:gd name="adj" fmla="val 16667"/>
            </a:avLst>
          </a:prstGeom>
          <a:solidFill>
            <a:srgbClr val="E3F1EE"/>
          </a:solidFill>
          <a:ln w="12700">
            <a:solidFill>
              <a:srgbClr val="E3F1EE"/>
            </a:solidFill>
            <a:prstDash val="solid"/>
          </a:ln>
        </p:spPr>
      </p:sp>
      <p:sp>
        <p:nvSpPr>
          <p:cNvPr id="39" name="Text 37"/>
          <p:cNvSpPr txBox="1"/>
          <p:nvPr/>
        </p:nvSpPr>
        <p:spPr>
          <a:xfrm>
            <a:off x="9729216" y="4434840"/>
            <a:ext cx="1737360" cy="548640"/>
          </a:xfrm>
          <a:prstGeom prst="rect">
            <a:avLst/>
          </a:prstGeom>
          <a:noFill/>
          <a:ln/>
        </p:spPr>
        <p:txBody>
          <a:bodyPr wrap="square" lIns="0" tIns="0" rIns="0" bIns="0" rtlCol="0" anchor="ctr"/>
          <a:lstStyle/>
          <a:p>
            <a:pPr algn="ctr" indent="0" marL="0">
              <a:buNone/>
            </a:pPr>
            <a:r>
              <a:rPr lang="en-US" sz="1400" b="1" dirty="0">
                <a:solidFill>
                  <a:srgbClr val="0F6B61"/>
                </a:solidFill>
                <a:latin typeface="Calibri" pitchFamily="34" charset="0"/>
                <a:ea typeface="Calibri" pitchFamily="34" charset="-122"/>
                <a:cs typeface="Calibri" pitchFamily="34" charset="-120"/>
              </a:rPr>
              <a:t>153 cells, 0 conflicts</a:t>
            </a:r>
            <a:endParaRPr lang="en-US" sz="1400" dirty="0"/>
          </a:p>
        </p:txBody>
      </p:sp>
      <p:sp>
        <p:nvSpPr>
          <p:cNvPr id="40" name="Text 38"/>
          <p:cNvSpPr txBox="1"/>
          <p:nvPr/>
        </p:nvSpPr>
        <p:spPr>
          <a:xfrm>
            <a:off x="548640" y="5532120"/>
            <a:ext cx="10972800" cy="457200"/>
          </a:xfrm>
          <a:prstGeom prst="rect">
            <a:avLst/>
          </a:prstGeom>
          <a:noFill/>
          <a:ln/>
        </p:spPr>
        <p:txBody>
          <a:bodyPr wrap="square" lIns="0" tIns="0" rIns="0" bIns="0" rtlCol="0" anchor="ctr"/>
          <a:lstStyle/>
          <a:p>
            <a:pPr indent="0" marL="0">
              <a:buNone/>
            </a:pPr>
            <a:r>
              <a:rPr lang="en-US" sz="2000" i="1" dirty="0">
                <a:solidFill>
                  <a:srgbClr val="0B3D38"/>
                </a:solidFill>
                <a:latin typeface="Cambria" pitchFamily="34" charset="0"/>
                <a:ea typeface="Cambria" pitchFamily="34" charset="-122"/>
                <a:cs typeface="Cambria" pitchFamily="34" charset="-120"/>
              </a:rPr>
              <a:t>Result: a grammar a parser can follow with just one token of lookahead.</a:t>
            </a:r>
            <a:endParaRPr lang="en-US" sz="2000" dirty="0"/>
          </a:p>
        </p:txBody>
      </p:sp>
      <p:sp>
        <p:nvSpPr>
          <p:cNvPr id="41" name="Text 39"/>
          <p:cNvSpPr txBox="1"/>
          <p:nvPr/>
        </p:nvSpPr>
        <p:spPr>
          <a:xfrm>
            <a:off x="11338560" y="6400800"/>
            <a:ext cx="457200" cy="274320"/>
          </a:xfrm>
          <a:prstGeom prst="rect">
            <a:avLst/>
          </a:prstGeom>
          <a:noFill/>
          <a:ln/>
        </p:spPr>
        <p:txBody>
          <a:bodyPr wrap="square" lIns="0" tIns="0" rIns="0" bIns="0" rtlCol="0" anchor="ctr"/>
          <a:lstStyle/>
          <a:p>
            <a:pPr algn="r" indent="0" marL="0">
              <a:buNone/>
            </a:pPr>
            <a:r>
              <a:rPr lang="en-US" sz="1100" dirty="0">
                <a:solidFill>
                  <a:srgbClr val="5B7370"/>
                </a:solidFill>
                <a:latin typeface="Calibri" pitchFamily="34" charset="0"/>
                <a:ea typeface="Calibri" pitchFamily="34" charset="-122"/>
                <a:cs typeface="Calibri" pitchFamily="34" charset="-120"/>
              </a:rPr>
              <a:t>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6"/>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822960"/>
          </a:xfrm>
          <a:prstGeom prst="rect">
            <a:avLst/>
          </a:prstGeom>
          <a:noFill/>
          <a:ln/>
        </p:spPr>
        <p:txBody>
          <a:bodyPr wrap="square" lIns="0" tIns="0" rIns="0" bIns="0" rtlCol="0" anchor="t"/>
          <a:lstStyle/>
          <a:p>
            <a:pPr indent="0" marL="0">
              <a:buNone/>
            </a:pPr>
            <a:r>
              <a:rPr lang="en-US" sz="3200" b="1" dirty="0">
                <a:solidFill>
                  <a:srgbClr val="10262B"/>
                </a:solidFill>
                <a:latin typeface="Cambria" pitchFamily="34" charset="0"/>
                <a:ea typeface="Cambria" pitchFamily="34" charset="-122"/>
                <a:cs typeface="Cambria" pitchFamily="34" charset="-120"/>
              </a:rPr>
              <a:t>Two rewrites that make it parseable</a:t>
            </a:r>
            <a:endParaRPr lang="en-US" sz="3200" dirty="0"/>
          </a:p>
        </p:txBody>
      </p:sp>
      <p:sp>
        <p:nvSpPr>
          <p:cNvPr id="3" name="Shape 1"/>
          <p:cNvSpPr/>
          <p:nvPr/>
        </p:nvSpPr>
        <p:spPr>
          <a:xfrm>
            <a:off x="9006840" y="347472"/>
            <a:ext cx="2651760" cy="384048"/>
          </a:xfrm>
          <a:prstGeom prst="roundRect">
            <a:avLst>
              <a:gd name="adj" fmla="val 50000"/>
            </a:avLst>
          </a:prstGeom>
          <a:solidFill>
            <a:srgbClr val="F5B700"/>
          </a:solidFill>
          <a:ln w="12700">
            <a:solidFill>
              <a:srgbClr val="F5B700"/>
            </a:solidFill>
            <a:prstDash val="solid"/>
          </a:ln>
        </p:spPr>
      </p:sp>
      <p:sp>
        <p:nvSpPr>
          <p:cNvPr id="4" name="Text 2"/>
          <p:cNvSpPr txBox="1"/>
          <p:nvPr/>
        </p:nvSpPr>
        <p:spPr>
          <a:xfrm>
            <a:off x="9006840" y="347472"/>
            <a:ext cx="2651760" cy="384048"/>
          </a:xfrm>
          <a:prstGeom prst="rect">
            <a:avLst/>
          </a:prstGeom>
          <a:noFill/>
          <a:ln/>
        </p:spPr>
        <p:txBody>
          <a:bodyPr wrap="square" lIns="0" tIns="0" rIns="0" bIns="0" rtlCol="0" anchor="ctr"/>
          <a:lstStyle/>
          <a:p>
            <a:pPr algn="ctr" indent="0" marL="0">
              <a:buNone/>
            </a:pPr>
            <a:r>
              <a:rPr lang="en-US" sz="1200" b="1" dirty="0">
                <a:solidFill>
                  <a:srgbClr val="0B3D38"/>
                </a:solidFill>
                <a:latin typeface="Calibri" pitchFamily="34" charset="0"/>
                <a:ea typeface="Calibri" pitchFamily="34" charset="-122"/>
                <a:cs typeface="Calibri" pitchFamily="34" charset="-120"/>
              </a:rPr>
              <a:t>Part 2  ·  Grammar and parser</a:t>
            </a:r>
            <a:endParaRPr lang="en-US" sz="1200" dirty="0"/>
          </a:p>
        </p:txBody>
      </p:sp>
      <p:sp>
        <p:nvSpPr>
          <p:cNvPr id="5" name="Shape 3"/>
          <p:cNvSpPr/>
          <p:nvPr/>
        </p:nvSpPr>
        <p:spPr>
          <a:xfrm>
            <a:off x="548640" y="1371600"/>
            <a:ext cx="5440680" cy="4754880"/>
          </a:xfrm>
          <a:prstGeom prst="roundRect">
            <a:avLst>
              <a:gd name="adj" fmla="val 2308"/>
            </a:avLst>
          </a:prstGeom>
          <a:solidFill>
            <a:srgbClr val="FFFFFF"/>
          </a:solidFill>
          <a:ln w="9525">
            <a:solidFill>
              <a:srgbClr val="D5E0DD"/>
            </a:solidFill>
            <a:prstDash val="solid"/>
          </a:ln>
          <a:effectLst>
            <a:outerShdw sx="100000" sy="100000" kx="0" ky="0" algn="bl" rotWithShape="0" blurRad="101600" dist="25400" dir="5400000">
              <a:srgbClr val="000000">
                <a:alpha val="14000"/>
              </a:srgbClr>
            </a:outerShdw>
          </a:effectLst>
        </p:spPr>
      </p:sp>
      <p:sp>
        <p:nvSpPr>
          <p:cNvPr id="6" name="Shape 4"/>
          <p:cNvSpPr/>
          <p:nvPr/>
        </p:nvSpPr>
        <p:spPr>
          <a:xfrm>
            <a:off x="777240" y="1554480"/>
            <a:ext cx="502920" cy="502920"/>
          </a:xfrm>
          <a:prstGeom prst="ellipse">
            <a:avLst/>
          </a:prstGeom>
          <a:solidFill>
            <a:srgbClr val="0F6B61"/>
          </a:solidFill>
          <a:ln w="12700">
            <a:solidFill>
              <a:srgbClr val="0F6B61"/>
            </a:solidFill>
            <a:prstDash val="solid"/>
          </a:ln>
        </p:spPr>
      </p:sp>
      <p:sp>
        <p:nvSpPr>
          <p:cNvPr id="7" name="Text 5"/>
          <p:cNvSpPr txBox="1"/>
          <p:nvPr/>
        </p:nvSpPr>
        <p:spPr>
          <a:xfrm>
            <a:off x="777240" y="155448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8" name="Text 6"/>
          <p:cNvSpPr txBox="1"/>
          <p:nvPr/>
        </p:nvSpPr>
        <p:spPr>
          <a:xfrm>
            <a:off x="1463040" y="1572768"/>
            <a:ext cx="4297680" cy="457200"/>
          </a:xfrm>
          <a:prstGeom prst="rect">
            <a:avLst/>
          </a:prstGeom>
          <a:noFill/>
          <a:ln/>
        </p:spPr>
        <p:txBody>
          <a:bodyPr wrap="square" lIns="0" tIns="0" rIns="0" bIns="0" rtlCol="0" anchor="ctr"/>
          <a:lstStyle/>
          <a:p>
            <a:pPr indent="0" marL="0">
              <a:buNone/>
            </a:pPr>
            <a:r>
              <a:rPr lang="en-US" sz="2000" b="1" dirty="0">
                <a:solidFill>
                  <a:srgbClr val="10262B"/>
                </a:solidFill>
                <a:latin typeface="Cambria" pitchFamily="34" charset="0"/>
                <a:ea typeface="Cambria" pitchFamily="34" charset="-122"/>
                <a:cs typeface="Cambria" pitchFamily="34" charset="-120"/>
              </a:rPr>
              <a:t>Remove left recursion</a:t>
            </a:r>
            <a:endParaRPr lang="en-US" sz="2000" dirty="0"/>
          </a:p>
        </p:txBody>
      </p:sp>
      <p:sp>
        <p:nvSpPr>
          <p:cNvPr id="9" name="Text 7"/>
          <p:cNvSpPr txBox="1"/>
          <p:nvPr/>
        </p:nvSpPr>
        <p:spPr>
          <a:xfrm>
            <a:off x="822960" y="2148840"/>
            <a:ext cx="4892040" cy="548640"/>
          </a:xfrm>
          <a:prstGeom prst="rect">
            <a:avLst/>
          </a:prstGeom>
          <a:noFill/>
          <a:ln/>
        </p:spPr>
        <p:txBody>
          <a:bodyPr wrap="square" lIns="0" tIns="0" rIns="0" bIns="0" rtlCol="0" anchor="t"/>
          <a:lstStyle/>
          <a:p>
            <a:pPr indent="0" marL="0">
              <a:buNone/>
            </a:pPr>
            <a:r>
              <a:rPr lang="en-US" sz="1300" dirty="0">
                <a:solidFill>
                  <a:srgbClr val="5B7370"/>
                </a:solidFill>
                <a:latin typeface="Calibri" pitchFamily="34" charset="0"/>
                <a:ea typeface="Calibri" pitchFamily="34" charset="-122"/>
                <a:cs typeface="Calibri" pitchFamily="34" charset="-120"/>
              </a:rPr>
              <a:t>A rule that starts with itself makes a top-down parser loop forever without reading a token.</a:t>
            </a:r>
            <a:endParaRPr lang="en-US" sz="1300" dirty="0"/>
          </a:p>
        </p:txBody>
      </p:sp>
      <p:sp>
        <p:nvSpPr>
          <p:cNvPr id="10" name="Text 8"/>
          <p:cNvSpPr txBox="1"/>
          <p:nvPr/>
        </p:nvSpPr>
        <p:spPr>
          <a:xfrm>
            <a:off x="822960" y="2743200"/>
            <a:ext cx="1828800" cy="256032"/>
          </a:xfrm>
          <a:prstGeom prst="rect">
            <a:avLst/>
          </a:prstGeom>
          <a:noFill/>
          <a:ln/>
        </p:spPr>
        <p:txBody>
          <a:bodyPr wrap="square" lIns="0" tIns="0" rIns="0" bIns="0" rtlCol="0" anchor="ctr"/>
          <a:lstStyle/>
          <a:p>
            <a:pPr indent="0" marL="0">
              <a:buNone/>
            </a:pPr>
            <a:r>
              <a:rPr lang="en-US" sz="1100" b="1" dirty="0">
                <a:solidFill>
                  <a:srgbClr val="C4553F"/>
                </a:solidFill>
                <a:latin typeface="Calibri" pitchFamily="34" charset="0"/>
                <a:ea typeface="Calibri" pitchFamily="34" charset="-122"/>
                <a:cs typeface="Calibri" pitchFamily="34" charset="-120"/>
              </a:rPr>
              <a:t>BEFORE</a:t>
            </a:r>
            <a:endParaRPr lang="en-US" sz="1100" dirty="0"/>
          </a:p>
        </p:txBody>
      </p:sp>
      <p:sp>
        <p:nvSpPr>
          <p:cNvPr id="11" name="Shape 9"/>
          <p:cNvSpPr/>
          <p:nvPr/>
        </p:nvSpPr>
        <p:spPr>
          <a:xfrm>
            <a:off x="822960" y="3017520"/>
            <a:ext cx="4892040" cy="685800"/>
          </a:xfrm>
          <a:prstGeom prst="roundRect">
            <a:avLst>
              <a:gd name="adj" fmla="val 10667"/>
            </a:avLst>
          </a:prstGeom>
          <a:solidFill>
            <a:srgbClr val="F6EFED"/>
          </a:solidFill>
          <a:ln w="12700">
            <a:solidFill>
              <a:srgbClr val="F6EFED"/>
            </a:solidFill>
            <a:prstDash val="solid"/>
          </a:ln>
        </p:spPr>
      </p:sp>
      <p:sp>
        <p:nvSpPr>
          <p:cNvPr id="12" name="Text 10"/>
          <p:cNvSpPr txBox="1"/>
          <p:nvPr/>
        </p:nvSpPr>
        <p:spPr>
          <a:xfrm>
            <a:off x="914400" y="3017520"/>
            <a:ext cx="4709160" cy="685800"/>
          </a:xfrm>
          <a:prstGeom prst="rect">
            <a:avLst/>
          </a:prstGeom>
          <a:noFill/>
          <a:ln/>
        </p:spPr>
        <p:txBody>
          <a:bodyPr wrap="square" lIns="0" tIns="0" rIns="0" bIns="0" rtlCol="0" anchor="ctr"/>
          <a:lstStyle/>
          <a:p>
            <a:pPr indent="0" marL="0">
              <a:buNone/>
            </a:pPr>
            <a:r>
              <a:rPr lang="en-US" sz="1200" dirty="0">
                <a:solidFill>
                  <a:srgbClr val="10262B"/>
                </a:solidFill>
                <a:latin typeface="Courier New" pitchFamily="34" charset="0"/>
                <a:ea typeface="Courier New" pitchFamily="34" charset="-122"/>
                <a:cs typeface="Courier New" pitchFamily="34" charset="-120"/>
              </a:rPr>
              <a:t>UTT -&gt; UTT CONJ CLAUSE | CONJ CLAUSE | CLAUSE</a:t>
            </a:r>
            <a:endParaRPr lang="en-US" sz="1200" dirty="0"/>
          </a:p>
        </p:txBody>
      </p:sp>
      <p:sp>
        <p:nvSpPr>
          <p:cNvPr id="13" name="Text 11"/>
          <p:cNvSpPr txBox="1"/>
          <p:nvPr/>
        </p:nvSpPr>
        <p:spPr>
          <a:xfrm>
            <a:off x="822960" y="3794760"/>
            <a:ext cx="1828800" cy="256032"/>
          </a:xfrm>
          <a:prstGeom prst="rect">
            <a:avLst/>
          </a:prstGeom>
          <a:noFill/>
          <a:ln/>
        </p:spPr>
        <p:txBody>
          <a:bodyPr wrap="square" lIns="0" tIns="0" rIns="0" bIns="0" rtlCol="0" anchor="ctr"/>
          <a:lstStyle/>
          <a:p>
            <a:pPr indent="0" marL="0">
              <a:buNone/>
            </a:pPr>
            <a:r>
              <a:rPr lang="en-US" sz="1100" b="1" dirty="0">
                <a:solidFill>
                  <a:srgbClr val="0F6B61"/>
                </a:solidFill>
                <a:latin typeface="Calibri" pitchFamily="34" charset="0"/>
                <a:ea typeface="Calibri" pitchFamily="34" charset="-122"/>
                <a:cs typeface="Calibri" pitchFamily="34" charset="-120"/>
              </a:rPr>
              <a:t>AFTER</a:t>
            </a:r>
            <a:endParaRPr lang="en-US" sz="1100" dirty="0"/>
          </a:p>
        </p:txBody>
      </p:sp>
      <p:sp>
        <p:nvSpPr>
          <p:cNvPr id="14" name="Shape 12"/>
          <p:cNvSpPr/>
          <p:nvPr/>
        </p:nvSpPr>
        <p:spPr>
          <a:xfrm>
            <a:off x="822960" y="4069080"/>
            <a:ext cx="4892040" cy="914400"/>
          </a:xfrm>
          <a:prstGeom prst="roundRect">
            <a:avLst>
              <a:gd name="adj" fmla="val 8000"/>
            </a:avLst>
          </a:prstGeom>
          <a:solidFill>
            <a:srgbClr val="E3F1EE"/>
          </a:solidFill>
          <a:ln w="12700">
            <a:solidFill>
              <a:srgbClr val="E3F1EE"/>
            </a:solidFill>
            <a:prstDash val="solid"/>
          </a:ln>
        </p:spPr>
      </p:sp>
      <p:sp>
        <p:nvSpPr>
          <p:cNvPr id="15" name="Text 13"/>
          <p:cNvSpPr txBox="1"/>
          <p:nvPr/>
        </p:nvSpPr>
        <p:spPr>
          <a:xfrm>
            <a:off x="914400" y="4069080"/>
            <a:ext cx="4709160" cy="914400"/>
          </a:xfrm>
          <a:prstGeom prst="rect">
            <a:avLst/>
          </a:prstGeom>
          <a:noFill/>
          <a:ln/>
        </p:spPr>
        <p:txBody>
          <a:bodyPr wrap="square" lIns="0" tIns="0" rIns="0" bIns="0" rtlCol="0" anchor="ctr"/>
          <a:lstStyle/>
          <a:p>
            <a:pPr indent="0" marL="0">
              <a:spcAft>
                <a:spcPts val="400"/>
              </a:spcAft>
              <a:buNone/>
            </a:pPr>
            <a:r>
              <a:rPr lang="en-US" sz="1200" dirty="0">
                <a:solidFill>
                  <a:srgbClr val="10262B"/>
                </a:solidFill>
                <a:latin typeface="Courier New" pitchFamily="34" charset="0"/>
                <a:ea typeface="Courier New" pitchFamily="34" charset="-122"/>
                <a:cs typeface="Courier New" pitchFamily="34" charset="-120"/>
              </a:rPr>
              <a:t>UTT  -&gt; CONJ CLAUSE UTT' | CLAUSE UTT'</a:t>
            </a:r>
            <a:endParaRPr lang="en-US" sz="1200" dirty="0"/>
          </a:p>
          <a:p>
            <a:pPr indent="0" marL="0">
              <a:spcAft>
                <a:spcPts val="400"/>
              </a:spcAft>
              <a:buNone/>
            </a:pPr>
            <a:r>
              <a:rPr lang="en-US" sz="1200" dirty="0">
                <a:solidFill>
                  <a:srgbClr val="10262B"/>
                </a:solidFill>
                <a:latin typeface="Courier New" pitchFamily="34" charset="0"/>
                <a:ea typeface="Courier New" pitchFamily="34" charset="-122"/>
                <a:cs typeface="Courier New" pitchFamily="34" charset="-120"/>
              </a:rPr>
              <a:t>UTT' -&gt; CONJ CLAUSE UTT' | ε</a:t>
            </a:r>
            <a:endParaRPr lang="en-US" sz="1200" dirty="0"/>
          </a:p>
        </p:txBody>
      </p:sp>
      <p:sp>
        <p:nvSpPr>
          <p:cNvPr id="16" name="Text 14"/>
          <p:cNvSpPr txBox="1"/>
          <p:nvPr/>
        </p:nvSpPr>
        <p:spPr>
          <a:xfrm>
            <a:off x="822960" y="5166360"/>
            <a:ext cx="4892040" cy="822960"/>
          </a:xfrm>
          <a:prstGeom prst="rect">
            <a:avLst/>
          </a:prstGeom>
          <a:noFill/>
          <a:ln/>
        </p:spPr>
        <p:txBody>
          <a:bodyPr wrap="square" lIns="0" tIns="0" rIns="0" bIns="0" rtlCol="0" anchor="t"/>
          <a:lstStyle/>
          <a:p>
            <a:pPr indent="0" marL="0">
              <a:buNone/>
            </a:pPr>
            <a:r>
              <a:rPr lang="en-US" sz="1400" i="1" dirty="0">
                <a:solidFill>
                  <a:srgbClr val="0B3D38"/>
                </a:solidFill>
                <a:latin typeface="Calibri" pitchFamily="34" charset="0"/>
                <a:ea typeface="Calibri" pitchFamily="34" charset="-122"/>
                <a:cs typeface="Calibri" pitchFamily="34" charset="-120"/>
              </a:rPr>
              <a:t>The helper UTT' handles the repetition: several clauses joined by “make” or “et”.</a:t>
            </a:r>
            <a:endParaRPr lang="en-US" sz="1400" dirty="0"/>
          </a:p>
        </p:txBody>
      </p:sp>
      <p:sp>
        <p:nvSpPr>
          <p:cNvPr id="17" name="Shape 15"/>
          <p:cNvSpPr/>
          <p:nvPr/>
        </p:nvSpPr>
        <p:spPr>
          <a:xfrm>
            <a:off x="6199632" y="1371600"/>
            <a:ext cx="5440680" cy="4754880"/>
          </a:xfrm>
          <a:prstGeom prst="roundRect">
            <a:avLst>
              <a:gd name="adj" fmla="val 2308"/>
            </a:avLst>
          </a:prstGeom>
          <a:solidFill>
            <a:srgbClr val="FFFFFF"/>
          </a:solidFill>
          <a:ln w="9525">
            <a:solidFill>
              <a:srgbClr val="D5E0DD"/>
            </a:solidFill>
            <a:prstDash val="solid"/>
          </a:ln>
          <a:effectLst>
            <a:outerShdw sx="100000" sy="100000" kx="0" ky="0" algn="bl" rotWithShape="0" blurRad="101600" dist="25400" dir="5400000">
              <a:srgbClr val="000000">
                <a:alpha val="14000"/>
              </a:srgbClr>
            </a:outerShdw>
          </a:effectLst>
        </p:spPr>
      </p:sp>
      <p:sp>
        <p:nvSpPr>
          <p:cNvPr id="18" name="Shape 16"/>
          <p:cNvSpPr/>
          <p:nvPr/>
        </p:nvSpPr>
        <p:spPr>
          <a:xfrm>
            <a:off x="6428232" y="1554480"/>
            <a:ext cx="502920" cy="502920"/>
          </a:xfrm>
          <a:prstGeom prst="ellipse">
            <a:avLst/>
          </a:prstGeom>
          <a:solidFill>
            <a:srgbClr val="0F6B61"/>
          </a:solidFill>
          <a:ln w="12700">
            <a:solidFill>
              <a:srgbClr val="0F6B61"/>
            </a:solidFill>
            <a:prstDash val="solid"/>
          </a:ln>
        </p:spPr>
      </p:sp>
      <p:sp>
        <p:nvSpPr>
          <p:cNvPr id="19" name="Text 17"/>
          <p:cNvSpPr txBox="1"/>
          <p:nvPr/>
        </p:nvSpPr>
        <p:spPr>
          <a:xfrm>
            <a:off x="6428232" y="155448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20" name="Text 18"/>
          <p:cNvSpPr txBox="1"/>
          <p:nvPr/>
        </p:nvSpPr>
        <p:spPr>
          <a:xfrm>
            <a:off x="7114032" y="1572768"/>
            <a:ext cx="4297680" cy="457200"/>
          </a:xfrm>
          <a:prstGeom prst="rect">
            <a:avLst/>
          </a:prstGeom>
          <a:noFill/>
          <a:ln/>
        </p:spPr>
        <p:txBody>
          <a:bodyPr wrap="square" lIns="0" tIns="0" rIns="0" bIns="0" rtlCol="0" anchor="ctr"/>
          <a:lstStyle/>
          <a:p>
            <a:pPr indent="0" marL="0">
              <a:buNone/>
            </a:pPr>
            <a:r>
              <a:rPr lang="en-US" sz="2000" b="1" dirty="0">
                <a:solidFill>
                  <a:srgbClr val="10262B"/>
                </a:solidFill>
                <a:latin typeface="Cambria" pitchFamily="34" charset="0"/>
                <a:ea typeface="Cambria" pitchFamily="34" charset="-122"/>
                <a:cs typeface="Cambria" pitchFamily="34" charset="-120"/>
              </a:rPr>
              <a:t>Left-factor</a:t>
            </a:r>
            <a:endParaRPr lang="en-US" sz="2000" dirty="0"/>
          </a:p>
        </p:txBody>
      </p:sp>
      <p:sp>
        <p:nvSpPr>
          <p:cNvPr id="21" name="Text 19"/>
          <p:cNvSpPr txBox="1"/>
          <p:nvPr/>
        </p:nvSpPr>
        <p:spPr>
          <a:xfrm>
            <a:off x="6473952" y="2148840"/>
            <a:ext cx="4892040" cy="548640"/>
          </a:xfrm>
          <a:prstGeom prst="rect">
            <a:avLst/>
          </a:prstGeom>
          <a:noFill/>
          <a:ln/>
        </p:spPr>
        <p:txBody>
          <a:bodyPr wrap="square" lIns="0" tIns="0" rIns="0" bIns="0" rtlCol="0" anchor="t"/>
          <a:lstStyle/>
          <a:p>
            <a:pPr indent="0" marL="0">
              <a:buNone/>
            </a:pPr>
            <a:r>
              <a:rPr lang="en-US" sz="1300" dirty="0">
                <a:solidFill>
                  <a:srgbClr val="5B7370"/>
                </a:solidFill>
                <a:latin typeface="Calibri" pitchFamily="34" charset="0"/>
                <a:ea typeface="Calibri" pitchFamily="34" charset="-122"/>
                <a:cs typeface="Calibri" pitchFamily="34" charset="-120"/>
              </a:rPr>
              <a:t>Two rules that start the same way force the parser to guess with one token of lookahead.</a:t>
            </a:r>
            <a:endParaRPr lang="en-US" sz="1300" dirty="0"/>
          </a:p>
        </p:txBody>
      </p:sp>
      <p:sp>
        <p:nvSpPr>
          <p:cNvPr id="22" name="Text 20"/>
          <p:cNvSpPr txBox="1"/>
          <p:nvPr/>
        </p:nvSpPr>
        <p:spPr>
          <a:xfrm>
            <a:off x="6473952" y="2743200"/>
            <a:ext cx="1828800" cy="256032"/>
          </a:xfrm>
          <a:prstGeom prst="rect">
            <a:avLst/>
          </a:prstGeom>
          <a:noFill/>
          <a:ln/>
        </p:spPr>
        <p:txBody>
          <a:bodyPr wrap="square" lIns="0" tIns="0" rIns="0" bIns="0" rtlCol="0" anchor="ctr"/>
          <a:lstStyle/>
          <a:p>
            <a:pPr indent="0" marL="0">
              <a:buNone/>
            </a:pPr>
            <a:r>
              <a:rPr lang="en-US" sz="1100" b="1" dirty="0">
                <a:solidFill>
                  <a:srgbClr val="C4553F"/>
                </a:solidFill>
                <a:latin typeface="Calibri" pitchFamily="34" charset="0"/>
                <a:ea typeface="Calibri" pitchFamily="34" charset="-122"/>
                <a:cs typeface="Calibri" pitchFamily="34" charset="-120"/>
              </a:rPr>
              <a:t>BEFORE</a:t>
            </a:r>
            <a:endParaRPr lang="en-US" sz="1100" dirty="0"/>
          </a:p>
        </p:txBody>
      </p:sp>
      <p:sp>
        <p:nvSpPr>
          <p:cNvPr id="23" name="Shape 21"/>
          <p:cNvSpPr/>
          <p:nvPr/>
        </p:nvSpPr>
        <p:spPr>
          <a:xfrm>
            <a:off x="6473952" y="3017520"/>
            <a:ext cx="4892040" cy="685800"/>
          </a:xfrm>
          <a:prstGeom prst="roundRect">
            <a:avLst>
              <a:gd name="adj" fmla="val 10667"/>
            </a:avLst>
          </a:prstGeom>
          <a:solidFill>
            <a:srgbClr val="F6EFED"/>
          </a:solidFill>
          <a:ln w="12700">
            <a:solidFill>
              <a:srgbClr val="F6EFED"/>
            </a:solidFill>
            <a:prstDash val="solid"/>
          </a:ln>
        </p:spPr>
      </p:sp>
      <p:sp>
        <p:nvSpPr>
          <p:cNvPr id="24" name="Text 22"/>
          <p:cNvSpPr txBox="1"/>
          <p:nvPr/>
        </p:nvSpPr>
        <p:spPr>
          <a:xfrm>
            <a:off x="6565392" y="3017520"/>
            <a:ext cx="4709160" cy="685800"/>
          </a:xfrm>
          <a:prstGeom prst="rect">
            <a:avLst/>
          </a:prstGeom>
          <a:noFill/>
          <a:ln/>
        </p:spPr>
        <p:txBody>
          <a:bodyPr wrap="square" lIns="0" tIns="0" rIns="0" bIns="0" rtlCol="0" anchor="ctr"/>
          <a:lstStyle/>
          <a:p>
            <a:pPr indent="0" marL="0">
              <a:buNone/>
            </a:pPr>
            <a:r>
              <a:rPr lang="en-US" sz="1200" dirty="0">
                <a:solidFill>
                  <a:srgbClr val="10262B"/>
                </a:solidFill>
                <a:latin typeface="Courier New" pitchFamily="34" charset="0"/>
                <a:ea typeface="Courier New" pitchFamily="34" charset="-122"/>
                <a:cs typeface="Courier New" pitchFamily="34" charset="-120"/>
              </a:rPr>
              <a:t>CLAUSE -&gt; NP PRED | NP | VP | COP COMP | ADV ADJP</a:t>
            </a:r>
            <a:endParaRPr lang="en-US" sz="1200" dirty="0"/>
          </a:p>
        </p:txBody>
      </p:sp>
      <p:sp>
        <p:nvSpPr>
          <p:cNvPr id="25" name="Text 23"/>
          <p:cNvSpPr txBox="1"/>
          <p:nvPr/>
        </p:nvSpPr>
        <p:spPr>
          <a:xfrm>
            <a:off x="6473952" y="3794760"/>
            <a:ext cx="1828800" cy="256032"/>
          </a:xfrm>
          <a:prstGeom prst="rect">
            <a:avLst/>
          </a:prstGeom>
          <a:noFill/>
          <a:ln/>
        </p:spPr>
        <p:txBody>
          <a:bodyPr wrap="square" lIns="0" tIns="0" rIns="0" bIns="0" rtlCol="0" anchor="ctr"/>
          <a:lstStyle/>
          <a:p>
            <a:pPr indent="0" marL="0">
              <a:buNone/>
            </a:pPr>
            <a:r>
              <a:rPr lang="en-US" sz="1100" b="1" dirty="0">
                <a:solidFill>
                  <a:srgbClr val="0F6B61"/>
                </a:solidFill>
                <a:latin typeface="Calibri" pitchFamily="34" charset="0"/>
                <a:ea typeface="Calibri" pitchFamily="34" charset="-122"/>
                <a:cs typeface="Calibri" pitchFamily="34" charset="-120"/>
              </a:rPr>
              <a:t>AFTER</a:t>
            </a:r>
            <a:endParaRPr lang="en-US" sz="1100" dirty="0"/>
          </a:p>
        </p:txBody>
      </p:sp>
      <p:sp>
        <p:nvSpPr>
          <p:cNvPr id="26" name="Shape 24"/>
          <p:cNvSpPr/>
          <p:nvPr/>
        </p:nvSpPr>
        <p:spPr>
          <a:xfrm>
            <a:off x="6473952" y="4069080"/>
            <a:ext cx="4892040" cy="914400"/>
          </a:xfrm>
          <a:prstGeom prst="roundRect">
            <a:avLst>
              <a:gd name="adj" fmla="val 8000"/>
            </a:avLst>
          </a:prstGeom>
          <a:solidFill>
            <a:srgbClr val="E3F1EE"/>
          </a:solidFill>
          <a:ln w="12700">
            <a:solidFill>
              <a:srgbClr val="E3F1EE"/>
            </a:solidFill>
            <a:prstDash val="solid"/>
          </a:ln>
        </p:spPr>
      </p:sp>
      <p:sp>
        <p:nvSpPr>
          <p:cNvPr id="27" name="Text 25"/>
          <p:cNvSpPr txBox="1"/>
          <p:nvPr/>
        </p:nvSpPr>
        <p:spPr>
          <a:xfrm>
            <a:off x="6565392" y="4069080"/>
            <a:ext cx="4709160" cy="914400"/>
          </a:xfrm>
          <a:prstGeom prst="rect">
            <a:avLst/>
          </a:prstGeom>
          <a:noFill/>
          <a:ln/>
        </p:spPr>
        <p:txBody>
          <a:bodyPr wrap="square" lIns="0" tIns="0" rIns="0" bIns="0" rtlCol="0" anchor="ctr"/>
          <a:lstStyle/>
          <a:p>
            <a:pPr indent="0" marL="0">
              <a:spcAft>
                <a:spcPts val="400"/>
              </a:spcAft>
              <a:buNone/>
            </a:pPr>
            <a:r>
              <a:rPr lang="en-US" sz="1200" dirty="0">
                <a:solidFill>
                  <a:srgbClr val="10262B"/>
                </a:solidFill>
                <a:latin typeface="Courier New" pitchFamily="34" charset="0"/>
                <a:ea typeface="Courier New" pitchFamily="34" charset="-122"/>
                <a:cs typeface="Courier New" pitchFamily="34" charset="-120"/>
              </a:rPr>
              <a:t>CLAUSE  -&gt; NP CLAUSE' | VP | COP COMP | ...</a:t>
            </a:r>
            <a:endParaRPr lang="en-US" sz="1200" dirty="0"/>
          </a:p>
          <a:p>
            <a:pPr indent="0" marL="0">
              <a:spcAft>
                <a:spcPts val="400"/>
              </a:spcAft>
              <a:buNone/>
            </a:pPr>
            <a:r>
              <a:rPr lang="en-US" sz="1200" dirty="0">
                <a:solidFill>
                  <a:srgbClr val="10262B"/>
                </a:solidFill>
                <a:latin typeface="Courier New" pitchFamily="34" charset="0"/>
                <a:ea typeface="Courier New" pitchFamily="34" charset="-122"/>
                <a:cs typeface="Courier New" pitchFamily="34" charset="-120"/>
              </a:rPr>
              <a:t>CLAUSE' -&gt; PRED | ε</a:t>
            </a:r>
            <a:endParaRPr lang="en-US" sz="1200" dirty="0"/>
          </a:p>
        </p:txBody>
      </p:sp>
      <p:sp>
        <p:nvSpPr>
          <p:cNvPr id="28" name="Text 26"/>
          <p:cNvSpPr txBox="1"/>
          <p:nvPr/>
        </p:nvSpPr>
        <p:spPr>
          <a:xfrm>
            <a:off x="6473952" y="5166360"/>
            <a:ext cx="4892040" cy="822960"/>
          </a:xfrm>
          <a:prstGeom prst="rect">
            <a:avLst/>
          </a:prstGeom>
          <a:noFill/>
          <a:ln/>
        </p:spPr>
        <p:txBody>
          <a:bodyPr wrap="square" lIns="0" tIns="0" rIns="0" bIns="0" rtlCol="0" anchor="t"/>
          <a:lstStyle/>
          <a:p>
            <a:pPr indent="0" marL="0">
              <a:buNone/>
            </a:pPr>
            <a:r>
              <a:rPr lang="en-US" sz="1400" i="1" dirty="0">
                <a:solidFill>
                  <a:srgbClr val="0B3D38"/>
                </a:solidFill>
                <a:latin typeface="Calibri" pitchFamily="34" charset="0"/>
                <a:ea typeface="Calibri" pitchFamily="34" charset="-122"/>
                <a:cs typeface="Calibri" pitchFamily="34" charset="-120"/>
              </a:rPr>
              <a:t>Read the noun phrase first, then decide whether a predicate follows.</a:t>
            </a:r>
            <a:endParaRPr lang="en-US" sz="1400" dirty="0"/>
          </a:p>
        </p:txBody>
      </p:sp>
      <p:sp>
        <p:nvSpPr>
          <p:cNvPr id="29" name="Text 27"/>
          <p:cNvSpPr txBox="1"/>
          <p:nvPr/>
        </p:nvSpPr>
        <p:spPr>
          <a:xfrm>
            <a:off x="11338560" y="6400800"/>
            <a:ext cx="457200" cy="274320"/>
          </a:xfrm>
          <a:prstGeom prst="rect">
            <a:avLst/>
          </a:prstGeom>
          <a:noFill/>
          <a:ln/>
        </p:spPr>
        <p:txBody>
          <a:bodyPr wrap="square" lIns="0" tIns="0" rIns="0" bIns="0" rtlCol="0" anchor="ctr"/>
          <a:lstStyle/>
          <a:p>
            <a:pPr algn="r" indent="0" marL="0">
              <a:buNone/>
            </a:pPr>
            <a:r>
              <a:rPr lang="en-US" sz="1100" dirty="0">
                <a:solidFill>
                  <a:srgbClr val="5B7370"/>
                </a:solidFill>
                <a:latin typeface="Calibri" pitchFamily="34" charset="0"/>
                <a:ea typeface="Calibri" pitchFamily="34" charset="-122"/>
                <a:cs typeface="Calibri" pitchFamily="34" charset="-120"/>
              </a:rPr>
              <a:t>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7F6"/>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822960"/>
          </a:xfrm>
          <a:prstGeom prst="rect">
            <a:avLst/>
          </a:prstGeom>
          <a:noFill/>
          <a:ln/>
        </p:spPr>
        <p:txBody>
          <a:bodyPr wrap="square" lIns="0" tIns="0" rIns="0" bIns="0" rtlCol="0" anchor="t"/>
          <a:lstStyle/>
          <a:p>
            <a:pPr indent="0" marL="0">
              <a:buNone/>
            </a:pPr>
            <a:r>
              <a:rPr lang="en-US" sz="3200" b="1" dirty="0">
                <a:solidFill>
                  <a:srgbClr val="10262B"/>
                </a:solidFill>
                <a:latin typeface="Cambria" pitchFamily="34" charset="0"/>
                <a:ea typeface="Cambria" pitchFamily="34" charset="-122"/>
                <a:cs typeface="Cambria" pitchFamily="34" charset="-120"/>
              </a:rPr>
              <a:t>The LL(1) parsing table</a:t>
            </a:r>
            <a:endParaRPr lang="en-US" sz="3200" dirty="0"/>
          </a:p>
        </p:txBody>
      </p:sp>
      <p:sp>
        <p:nvSpPr>
          <p:cNvPr id="3" name="Shape 1"/>
          <p:cNvSpPr/>
          <p:nvPr/>
        </p:nvSpPr>
        <p:spPr>
          <a:xfrm>
            <a:off x="9006840" y="347472"/>
            <a:ext cx="2651760" cy="384048"/>
          </a:xfrm>
          <a:prstGeom prst="roundRect">
            <a:avLst>
              <a:gd name="adj" fmla="val 50000"/>
            </a:avLst>
          </a:prstGeom>
          <a:solidFill>
            <a:srgbClr val="F5B700"/>
          </a:solidFill>
          <a:ln w="12700">
            <a:solidFill>
              <a:srgbClr val="F5B700"/>
            </a:solidFill>
            <a:prstDash val="solid"/>
          </a:ln>
        </p:spPr>
      </p:sp>
      <p:sp>
        <p:nvSpPr>
          <p:cNvPr id="4" name="Text 2"/>
          <p:cNvSpPr txBox="1"/>
          <p:nvPr/>
        </p:nvSpPr>
        <p:spPr>
          <a:xfrm>
            <a:off x="9006840" y="347472"/>
            <a:ext cx="2651760" cy="384048"/>
          </a:xfrm>
          <a:prstGeom prst="rect">
            <a:avLst/>
          </a:prstGeom>
          <a:noFill/>
          <a:ln/>
        </p:spPr>
        <p:txBody>
          <a:bodyPr wrap="square" lIns="0" tIns="0" rIns="0" bIns="0" rtlCol="0" anchor="ctr"/>
          <a:lstStyle/>
          <a:p>
            <a:pPr algn="ctr" indent="0" marL="0">
              <a:buNone/>
            </a:pPr>
            <a:r>
              <a:rPr lang="en-US" sz="1200" b="1" dirty="0">
                <a:solidFill>
                  <a:srgbClr val="0B3D38"/>
                </a:solidFill>
                <a:latin typeface="Calibri" pitchFamily="34" charset="0"/>
                <a:ea typeface="Calibri" pitchFamily="34" charset="-122"/>
                <a:cs typeface="Calibri" pitchFamily="34" charset="-120"/>
              </a:rPr>
              <a:t>Part 2  ·  Grammar and parser</a:t>
            </a:r>
            <a:endParaRPr lang="en-US" sz="1200" dirty="0"/>
          </a:p>
        </p:txBody>
      </p:sp>
      <p:sp>
        <p:nvSpPr>
          <p:cNvPr id="5" name="Shape 3"/>
          <p:cNvSpPr/>
          <p:nvPr/>
        </p:nvSpPr>
        <p:spPr>
          <a:xfrm>
            <a:off x="548640" y="1371600"/>
            <a:ext cx="7863840" cy="4709160"/>
          </a:xfrm>
          <a:prstGeom prst="roundRect">
            <a:avLst>
              <a:gd name="adj" fmla="val 2330"/>
            </a:avLst>
          </a:prstGeom>
          <a:solidFill>
            <a:srgbClr val="FFFFFF"/>
          </a:solidFill>
          <a:ln w="9525">
            <a:solidFill>
              <a:srgbClr val="D5E0DD"/>
            </a:solidFill>
            <a:prstDash val="solid"/>
          </a:ln>
          <a:effectLst>
            <a:outerShdw sx="100000" sy="100000" kx="0" ky="0" algn="bl" rotWithShape="0" blurRad="101600" dist="25400" dir="5400000">
              <a:srgbClr val="000000">
                <a:alpha val="14000"/>
              </a:srgbClr>
            </a:outerShdw>
          </a:effectLst>
        </p:spPr>
      </p:sp>
      <p:pic>
        <p:nvPicPr>
          <p:cNvPr id="6" name="Image 0" descr="C:\Users\Glorious Samsimbom\AppData\Local\Temp\claude\C--Users-Glorious-Samsimbom-compiler-contruction-yaounde\21dbdbd6-0919-4463-a6fe-e3c086e6c5f5\scratchpad\shots\gui_g5_table.png">    </p:cNvPr>
          <p:cNvPicPr>
            <a:picLocks noChangeAspect="1"/>
          </p:cNvPicPr>
          <p:nvPr/>
        </p:nvPicPr>
        <p:blipFill>
          <a:blip r:embed="rId1"/>
          <a:stretch>
            <a:fillRect/>
          </a:stretch>
        </p:blipFill>
        <p:spPr>
          <a:xfrm>
            <a:off x="640080" y="1496224"/>
            <a:ext cx="7680960" cy="4459912"/>
          </a:xfrm>
          <a:prstGeom prst="rect">
            <a:avLst/>
          </a:prstGeom>
        </p:spPr>
      </p:pic>
      <p:sp>
        <p:nvSpPr>
          <p:cNvPr id="7" name="Shape 4"/>
          <p:cNvSpPr/>
          <p:nvPr/>
        </p:nvSpPr>
        <p:spPr>
          <a:xfrm>
            <a:off x="8686800" y="1371600"/>
            <a:ext cx="2953512" cy="1508760"/>
          </a:xfrm>
          <a:prstGeom prst="roundRect">
            <a:avLst>
              <a:gd name="adj" fmla="val 7273"/>
            </a:avLst>
          </a:prstGeom>
          <a:solidFill>
            <a:srgbClr val="FFFFFF"/>
          </a:solidFill>
          <a:ln w="9525">
            <a:solidFill>
              <a:srgbClr val="D5E0DD"/>
            </a:solidFill>
            <a:prstDash val="solid"/>
          </a:ln>
          <a:effectLst>
            <a:outerShdw sx="100000" sy="100000" kx="0" ky="0" algn="bl" rotWithShape="0" blurRad="101600" dist="25400" dir="5400000">
              <a:srgbClr val="000000">
                <a:alpha val="14000"/>
              </a:srgbClr>
            </a:outerShdw>
          </a:effectLst>
        </p:spPr>
      </p:sp>
      <p:sp>
        <p:nvSpPr>
          <p:cNvPr id="8" name="Text 5"/>
          <p:cNvSpPr txBox="1"/>
          <p:nvPr/>
        </p:nvSpPr>
        <p:spPr>
          <a:xfrm>
            <a:off x="8686800" y="1508760"/>
            <a:ext cx="2953512" cy="829818"/>
          </a:xfrm>
          <a:prstGeom prst="rect">
            <a:avLst/>
          </a:prstGeom>
          <a:noFill/>
          <a:ln/>
        </p:spPr>
        <p:txBody>
          <a:bodyPr wrap="square" lIns="0" tIns="0" rIns="0" bIns="0" rtlCol="0" anchor="ctr"/>
          <a:lstStyle/>
          <a:p>
            <a:pPr algn="ctr" indent="0" marL="0">
              <a:buNone/>
            </a:pPr>
            <a:r>
              <a:rPr lang="en-US" sz="4400" b="1" dirty="0">
                <a:solidFill>
                  <a:srgbClr val="0F6B61"/>
                </a:solidFill>
                <a:latin typeface="Cambria" pitchFamily="34" charset="0"/>
                <a:ea typeface="Cambria" pitchFamily="34" charset="-122"/>
                <a:cs typeface="Cambria" pitchFamily="34" charset="-120"/>
              </a:rPr>
              <a:t>153</a:t>
            </a:r>
            <a:endParaRPr lang="en-US" sz="4400" dirty="0"/>
          </a:p>
        </p:txBody>
      </p:sp>
      <p:sp>
        <p:nvSpPr>
          <p:cNvPr id="9" name="Text 6"/>
          <p:cNvSpPr txBox="1"/>
          <p:nvPr/>
        </p:nvSpPr>
        <p:spPr>
          <a:xfrm>
            <a:off x="8823960" y="2307031"/>
            <a:ext cx="2679192" cy="497891"/>
          </a:xfrm>
          <a:prstGeom prst="rect">
            <a:avLst/>
          </a:prstGeom>
          <a:noFill/>
          <a:ln/>
        </p:spPr>
        <p:txBody>
          <a:bodyPr wrap="square" lIns="0" tIns="0" rIns="0" bIns="0" rtlCol="0" anchor="t"/>
          <a:lstStyle/>
          <a:p>
            <a:pPr algn="ctr" indent="0" marL="0">
              <a:buNone/>
            </a:pPr>
            <a:r>
              <a:rPr lang="en-US" sz="1400" dirty="0">
                <a:solidFill>
                  <a:srgbClr val="5B7370"/>
                </a:solidFill>
                <a:latin typeface="Calibri" pitchFamily="34" charset="0"/>
                <a:ea typeface="Calibri" pitchFamily="34" charset="-122"/>
                <a:cs typeface="Calibri" pitchFamily="34" charset="-120"/>
              </a:rPr>
              <a:t>filled cells</a:t>
            </a:r>
            <a:endParaRPr lang="en-US" sz="1400" dirty="0"/>
          </a:p>
        </p:txBody>
      </p:sp>
      <p:sp>
        <p:nvSpPr>
          <p:cNvPr id="10" name="Shape 7"/>
          <p:cNvSpPr/>
          <p:nvPr/>
        </p:nvSpPr>
        <p:spPr>
          <a:xfrm>
            <a:off x="8686800" y="3017520"/>
            <a:ext cx="2953512" cy="1508760"/>
          </a:xfrm>
          <a:prstGeom prst="roundRect">
            <a:avLst>
              <a:gd name="adj" fmla="val 7273"/>
            </a:avLst>
          </a:prstGeom>
          <a:solidFill>
            <a:srgbClr val="0B3D38"/>
          </a:solidFill>
          <a:ln w="9525">
            <a:solidFill>
              <a:srgbClr val="D5E0DD"/>
            </a:solidFill>
            <a:prstDash val="solid"/>
          </a:ln>
          <a:effectLst>
            <a:outerShdw sx="100000" sy="100000" kx="0" ky="0" algn="bl" rotWithShape="0" blurRad="101600" dist="25400" dir="5400000">
              <a:srgbClr val="000000">
                <a:alpha val="14000"/>
              </a:srgbClr>
            </a:outerShdw>
          </a:effectLst>
        </p:spPr>
      </p:sp>
      <p:sp>
        <p:nvSpPr>
          <p:cNvPr id="11" name="Text 8"/>
          <p:cNvSpPr txBox="1"/>
          <p:nvPr/>
        </p:nvSpPr>
        <p:spPr>
          <a:xfrm>
            <a:off x="8686800" y="3154680"/>
            <a:ext cx="2953512" cy="829818"/>
          </a:xfrm>
          <a:prstGeom prst="rect">
            <a:avLst/>
          </a:prstGeom>
          <a:noFill/>
          <a:ln/>
        </p:spPr>
        <p:txBody>
          <a:bodyPr wrap="square" lIns="0" tIns="0" rIns="0" bIns="0" rtlCol="0" anchor="ctr"/>
          <a:lstStyle/>
          <a:p>
            <a:pPr algn="ctr" indent="0" marL="0">
              <a:buNone/>
            </a:pPr>
            <a:r>
              <a:rPr lang="en-US" sz="4400" b="1" dirty="0">
                <a:solidFill>
                  <a:srgbClr val="F5B700"/>
                </a:solidFill>
                <a:latin typeface="Cambria" pitchFamily="34" charset="0"/>
                <a:ea typeface="Cambria" pitchFamily="34" charset="-122"/>
                <a:cs typeface="Cambria" pitchFamily="34" charset="-120"/>
              </a:rPr>
              <a:t>0</a:t>
            </a:r>
            <a:endParaRPr lang="en-US" sz="4400" dirty="0"/>
          </a:p>
        </p:txBody>
      </p:sp>
      <p:sp>
        <p:nvSpPr>
          <p:cNvPr id="12" name="Text 9"/>
          <p:cNvSpPr txBox="1"/>
          <p:nvPr/>
        </p:nvSpPr>
        <p:spPr>
          <a:xfrm>
            <a:off x="8823960" y="3952951"/>
            <a:ext cx="2679192" cy="497891"/>
          </a:xfrm>
          <a:prstGeom prst="rect">
            <a:avLst/>
          </a:prstGeom>
          <a:noFill/>
          <a:ln/>
        </p:spPr>
        <p:txBody>
          <a:bodyPr wrap="square" lIns="0" tIns="0" rIns="0" bIns="0" rtlCol="0" anchor="t"/>
          <a:lstStyle/>
          <a:p>
            <a:pPr algn="ctr" indent="0" marL="0">
              <a:buNone/>
            </a:pPr>
            <a:r>
              <a:rPr lang="en-US" sz="1400" dirty="0">
                <a:solidFill>
                  <a:srgbClr val="CFE7E2"/>
                </a:solidFill>
                <a:latin typeface="Calibri" pitchFamily="34" charset="0"/>
                <a:ea typeface="Calibri" pitchFamily="34" charset="-122"/>
                <a:cs typeface="Calibri" pitchFamily="34" charset="-120"/>
              </a:rPr>
              <a:t>conflicts: the grammar is LL(1)</a:t>
            </a:r>
            <a:endParaRPr lang="en-US" sz="1400" dirty="0"/>
          </a:p>
        </p:txBody>
      </p:sp>
      <p:sp>
        <p:nvSpPr>
          <p:cNvPr id="13" name="Shape 10"/>
          <p:cNvSpPr/>
          <p:nvPr/>
        </p:nvSpPr>
        <p:spPr>
          <a:xfrm>
            <a:off x="8686800" y="4663440"/>
            <a:ext cx="2953512" cy="1417320"/>
          </a:xfrm>
          <a:prstGeom prst="roundRect">
            <a:avLst>
              <a:gd name="adj" fmla="val 7742"/>
            </a:avLst>
          </a:prstGeom>
          <a:solidFill>
            <a:srgbClr val="FFFFFF"/>
          </a:solidFill>
          <a:ln w="9525">
            <a:solidFill>
              <a:srgbClr val="D5E0DD"/>
            </a:solidFill>
            <a:prstDash val="solid"/>
          </a:ln>
          <a:effectLst>
            <a:outerShdw sx="100000" sy="100000" kx="0" ky="0" algn="bl" rotWithShape="0" blurRad="101600" dist="25400" dir="5400000">
              <a:srgbClr val="000000">
                <a:alpha val="14000"/>
              </a:srgbClr>
            </a:outerShdw>
          </a:effectLst>
        </p:spPr>
      </p:sp>
      <p:sp>
        <p:nvSpPr>
          <p:cNvPr id="14" name="Text 11"/>
          <p:cNvSpPr txBox="1"/>
          <p:nvPr/>
        </p:nvSpPr>
        <p:spPr>
          <a:xfrm>
            <a:off x="8823960" y="4709160"/>
            <a:ext cx="2697480" cy="1325880"/>
          </a:xfrm>
          <a:prstGeom prst="rect">
            <a:avLst/>
          </a:prstGeom>
          <a:noFill/>
          <a:ln/>
        </p:spPr>
        <p:txBody>
          <a:bodyPr wrap="square" lIns="0" tIns="0" rIns="0" bIns="0" rtlCol="0" anchor="ctr"/>
          <a:lstStyle/>
          <a:p>
            <a:pPr indent="0" marL="0">
              <a:buNone/>
            </a:pPr>
            <a:r>
              <a:rPr lang="en-US" sz="1250" dirty="0">
                <a:solidFill>
                  <a:srgbClr val="10262B"/>
                </a:solidFill>
                <a:latin typeface="Calibri" pitchFamily="34" charset="0"/>
                <a:ea typeface="Calibri" pitchFamily="34" charset="-122"/>
                <a:cs typeface="Calibri" pitchFamily="34" charset="-120"/>
              </a:rPr>
              <a:t>Row: the symbol being built. Column: the next token. Cell: the rule to use. Empty cell = syntax error.</a:t>
            </a:r>
            <a:endParaRPr lang="en-US" sz="1250" dirty="0"/>
          </a:p>
        </p:txBody>
      </p:sp>
      <p:sp>
        <p:nvSpPr>
          <p:cNvPr id="15" name="Text 12"/>
          <p:cNvSpPr txBox="1"/>
          <p:nvPr/>
        </p:nvSpPr>
        <p:spPr>
          <a:xfrm>
            <a:off x="11338560" y="6400800"/>
            <a:ext cx="457200" cy="274320"/>
          </a:xfrm>
          <a:prstGeom prst="rect">
            <a:avLst/>
          </a:prstGeom>
          <a:noFill/>
          <a:ln/>
        </p:spPr>
        <p:txBody>
          <a:bodyPr wrap="square" lIns="0" tIns="0" rIns="0" bIns="0" rtlCol="0" anchor="ctr"/>
          <a:lstStyle/>
          <a:p>
            <a:pPr algn="r" indent="0" marL="0">
              <a:buNone/>
            </a:pPr>
            <a:r>
              <a:rPr lang="en-US" sz="1100" dirty="0">
                <a:solidFill>
                  <a:srgbClr val="5B7370"/>
                </a:solidFill>
                <a:latin typeface="Calibri" pitchFamily="34" charset="0"/>
                <a:ea typeface="Calibri" pitchFamily="34" charset="-122"/>
                <a:cs typeface="Calibri" pitchFamily="34" charset="-120"/>
              </a:rPr>
              <a:t>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7F6"/>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822960"/>
          </a:xfrm>
          <a:prstGeom prst="rect">
            <a:avLst/>
          </a:prstGeom>
          <a:noFill/>
          <a:ln/>
        </p:spPr>
        <p:txBody>
          <a:bodyPr wrap="square" lIns="0" tIns="0" rIns="0" bIns="0" rtlCol="0" anchor="t"/>
          <a:lstStyle/>
          <a:p>
            <a:pPr indent="0" marL="0">
              <a:buNone/>
            </a:pPr>
            <a:r>
              <a:rPr lang="en-US" sz="3200" b="1" dirty="0">
                <a:solidFill>
                  <a:srgbClr val="10262B"/>
                </a:solidFill>
                <a:latin typeface="Cambria" pitchFamily="34" charset="0"/>
                <a:ea typeface="Cambria" pitchFamily="34" charset="-122"/>
                <a:cs typeface="Cambria" pitchFamily="34" charset="-120"/>
              </a:rPr>
              <a:t>The parser: a stack and one token of lookahead</a:t>
            </a:r>
            <a:endParaRPr lang="en-US" sz="3200" dirty="0"/>
          </a:p>
        </p:txBody>
      </p:sp>
      <p:sp>
        <p:nvSpPr>
          <p:cNvPr id="3" name="Shape 1"/>
          <p:cNvSpPr/>
          <p:nvPr/>
        </p:nvSpPr>
        <p:spPr>
          <a:xfrm>
            <a:off x="9006840" y="347472"/>
            <a:ext cx="2651760" cy="384048"/>
          </a:xfrm>
          <a:prstGeom prst="roundRect">
            <a:avLst>
              <a:gd name="adj" fmla="val 50000"/>
            </a:avLst>
          </a:prstGeom>
          <a:solidFill>
            <a:srgbClr val="F5B700"/>
          </a:solidFill>
          <a:ln w="12700">
            <a:solidFill>
              <a:srgbClr val="F5B700"/>
            </a:solidFill>
            <a:prstDash val="solid"/>
          </a:ln>
        </p:spPr>
      </p:sp>
      <p:sp>
        <p:nvSpPr>
          <p:cNvPr id="4" name="Text 2"/>
          <p:cNvSpPr txBox="1"/>
          <p:nvPr/>
        </p:nvSpPr>
        <p:spPr>
          <a:xfrm>
            <a:off x="9006840" y="347472"/>
            <a:ext cx="2651760" cy="384048"/>
          </a:xfrm>
          <a:prstGeom prst="rect">
            <a:avLst/>
          </a:prstGeom>
          <a:noFill/>
          <a:ln/>
        </p:spPr>
        <p:txBody>
          <a:bodyPr wrap="square" lIns="0" tIns="0" rIns="0" bIns="0" rtlCol="0" anchor="ctr"/>
          <a:lstStyle/>
          <a:p>
            <a:pPr algn="ctr" indent="0" marL="0">
              <a:buNone/>
            </a:pPr>
            <a:r>
              <a:rPr lang="en-US" sz="1200" b="1" dirty="0">
                <a:solidFill>
                  <a:srgbClr val="0B3D38"/>
                </a:solidFill>
                <a:latin typeface="Calibri" pitchFamily="34" charset="0"/>
                <a:ea typeface="Calibri" pitchFamily="34" charset="-122"/>
                <a:cs typeface="Calibri" pitchFamily="34" charset="-120"/>
              </a:rPr>
              <a:t>Part 2  ·  Grammar and parser</a:t>
            </a:r>
            <a:endParaRPr lang="en-US" sz="1200" dirty="0"/>
          </a:p>
        </p:txBody>
      </p:sp>
      <p:sp>
        <p:nvSpPr>
          <p:cNvPr id="5" name="Shape 3"/>
          <p:cNvSpPr/>
          <p:nvPr/>
        </p:nvSpPr>
        <p:spPr>
          <a:xfrm>
            <a:off x="548640" y="1371600"/>
            <a:ext cx="5486400" cy="3703320"/>
          </a:xfrm>
          <a:prstGeom prst="roundRect">
            <a:avLst>
              <a:gd name="adj" fmla="val 2963"/>
            </a:avLst>
          </a:prstGeom>
          <a:solidFill>
            <a:srgbClr val="FFFFFF"/>
          </a:solidFill>
          <a:ln w="9525">
            <a:solidFill>
              <a:srgbClr val="D5E0DD"/>
            </a:solidFill>
            <a:prstDash val="solid"/>
          </a:ln>
          <a:effectLst>
            <a:outerShdw sx="100000" sy="100000" kx="0" ky="0" algn="bl" rotWithShape="0" blurRad="101600" dist="25400" dir="5400000">
              <a:srgbClr val="000000">
                <a:alpha val="14000"/>
              </a:srgbClr>
            </a:outerShdw>
          </a:effectLst>
        </p:spPr>
      </p:sp>
      <p:pic>
        <p:nvPicPr>
          <p:cNvPr id="6" name="Image 0" descr="C:\Users\Glorious Samsimbom\AppData\Local\Temp\claude\C--Users-Glorious-Samsimbom-compiler-contruction-yaounde\21dbdbd6-0919-4463-a6fe-e3c086e6c5f5\scratchpad\shots\gui_trace_F04.png">    </p:cNvPr>
          <p:cNvPicPr>
            <a:picLocks noChangeAspect="1"/>
          </p:cNvPicPr>
          <p:nvPr/>
        </p:nvPicPr>
        <p:blipFill>
          <a:blip r:embed="rId1"/>
          <a:stretch>
            <a:fillRect/>
          </a:stretch>
        </p:blipFill>
        <p:spPr>
          <a:xfrm>
            <a:off x="640080" y="1515347"/>
            <a:ext cx="5303520" cy="3415826"/>
          </a:xfrm>
          <a:prstGeom prst="rect">
            <a:avLst/>
          </a:prstGeom>
        </p:spPr>
      </p:pic>
      <p:sp>
        <p:nvSpPr>
          <p:cNvPr id="7" name="Shape 4"/>
          <p:cNvSpPr/>
          <p:nvPr/>
        </p:nvSpPr>
        <p:spPr>
          <a:xfrm>
            <a:off x="6153912" y="1371600"/>
            <a:ext cx="5486400" cy="3703320"/>
          </a:xfrm>
          <a:prstGeom prst="roundRect">
            <a:avLst>
              <a:gd name="adj" fmla="val 2963"/>
            </a:avLst>
          </a:prstGeom>
          <a:solidFill>
            <a:srgbClr val="FFFFFF"/>
          </a:solidFill>
          <a:ln w="9525">
            <a:solidFill>
              <a:srgbClr val="D5E0DD"/>
            </a:solidFill>
            <a:prstDash val="solid"/>
          </a:ln>
          <a:effectLst>
            <a:outerShdw sx="100000" sy="100000" kx="0" ky="0" algn="bl" rotWithShape="0" blurRad="101600" dist="25400" dir="5400000">
              <a:srgbClr val="000000">
                <a:alpha val="14000"/>
              </a:srgbClr>
            </a:outerShdw>
          </a:effectLst>
        </p:spPr>
      </p:sp>
      <p:pic>
        <p:nvPicPr>
          <p:cNvPr id="8" name="Image 1" descr="C:\Users\Glorious Samsimbom\AppData\Local\Temp\claude\C--Users-Glorious-Samsimbom-compiler-contruction-yaounde\21dbdbd6-0919-4463-a6fe-e3c086e6c5f5\scratchpad\shots\gui_tree_F04.png">    </p:cNvPr>
          <p:cNvPicPr>
            <a:picLocks noChangeAspect="1"/>
          </p:cNvPicPr>
          <p:nvPr/>
        </p:nvPicPr>
        <p:blipFill>
          <a:blip r:embed="rId2"/>
          <a:stretch>
            <a:fillRect/>
          </a:stretch>
        </p:blipFill>
        <p:spPr>
          <a:xfrm>
            <a:off x="6245352" y="1515347"/>
            <a:ext cx="5303520" cy="3415826"/>
          </a:xfrm>
          <a:prstGeom prst="rect">
            <a:avLst/>
          </a:prstGeom>
        </p:spPr>
      </p:pic>
      <p:sp>
        <p:nvSpPr>
          <p:cNvPr id="9" name="Text 5"/>
          <p:cNvSpPr txBox="1"/>
          <p:nvPr/>
        </p:nvSpPr>
        <p:spPr>
          <a:xfrm>
            <a:off x="548640" y="5120640"/>
            <a:ext cx="5486400" cy="320040"/>
          </a:xfrm>
          <a:prstGeom prst="rect">
            <a:avLst/>
          </a:prstGeom>
          <a:noFill/>
          <a:ln/>
        </p:spPr>
        <p:txBody>
          <a:bodyPr wrap="square" lIns="0" tIns="0" rIns="0" bIns="0" rtlCol="0" anchor="ctr"/>
          <a:lstStyle/>
          <a:p>
            <a:pPr algn="ctr" indent="0" marL="0">
              <a:buNone/>
            </a:pPr>
            <a:r>
              <a:rPr lang="en-US" sz="1200" i="1" dirty="0">
                <a:solidFill>
                  <a:srgbClr val="5B7370"/>
                </a:solidFill>
                <a:latin typeface="Calibri" pitchFamily="34" charset="0"/>
                <a:ea typeface="Calibri" pitchFamily="34" charset="-122"/>
                <a:cs typeface="Calibri" pitchFamily="34" charset="-120"/>
              </a:rPr>
              <a:t>Step-by-step trace for “U don chop?” (Have you eaten?)</a:t>
            </a:r>
            <a:endParaRPr lang="en-US" sz="1200" dirty="0"/>
          </a:p>
        </p:txBody>
      </p:sp>
      <p:sp>
        <p:nvSpPr>
          <p:cNvPr id="10" name="Text 6"/>
          <p:cNvSpPr txBox="1"/>
          <p:nvPr/>
        </p:nvSpPr>
        <p:spPr>
          <a:xfrm>
            <a:off x="6153912" y="5120640"/>
            <a:ext cx="5486400" cy="320040"/>
          </a:xfrm>
          <a:prstGeom prst="rect">
            <a:avLst/>
          </a:prstGeom>
          <a:noFill/>
          <a:ln/>
        </p:spPr>
        <p:txBody>
          <a:bodyPr wrap="square" lIns="0" tIns="0" rIns="0" bIns="0" rtlCol="0" anchor="ctr"/>
          <a:lstStyle/>
          <a:p>
            <a:pPr algn="ctr" indent="0" marL="0">
              <a:buNone/>
            </a:pPr>
            <a:r>
              <a:rPr lang="en-US" sz="1200" i="1" dirty="0">
                <a:solidFill>
                  <a:srgbClr val="5B7370"/>
                </a:solidFill>
                <a:latin typeface="Calibri" pitchFamily="34" charset="0"/>
                <a:ea typeface="Calibri" pitchFamily="34" charset="-122"/>
                <a:cs typeface="Calibri" pitchFamily="34" charset="-120"/>
              </a:rPr>
              <a:t>The parse tree the trace builds</a:t>
            </a:r>
            <a:endParaRPr lang="en-US" sz="1200" dirty="0"/>
          </a:p>
        </p:txBody>
      </p:sp>
      <p:sp>
        <p:nvSpPr>
          <p:cNvPr id="11" name="Shape 7"/>
          <p:cNvSpPr/>
          <p:nvPr/>
        </p:nvSpPr>
        <p:spPr>
          <a:xfrm>
            <a:off x="548640" y="5577840"/>
            <a:ext cx="11091672" cy="777240"/>
          </a:xfrm>
          <a:prstGeom prst="roundRect">
            <a:avLst>
              <a:gd name="adj" fmla="val 14118"/>
            </a:avLst>
          </a:prstGeom>
          <a:solidFill>
            <a:srgbClr val="E3F1EE"/>
          </a:solidFill>
          <a:ln w="9525">
            <a:solidFill>
              <a:srgbClr val="D5E0DD"/>
            </a:solidFill>
            <a:prstDash val="solid"/>
          </a:ln>
          <a:effectLst>
            <a:outerShdw sx="100000" sy="100000" kx="0" ky="0" algn="bl" rotWithShape="0" blurRad="101600" dist="25400" dir="5400000">
              <a:srgbClr val="000000">
                <a:alpha val="14000"/>
              </a:srgbClr>
            </a:outerShdw>
          </a:effectLst>
        </p:spPr>
      </p:sp>
      <p:sp>
        <p:nvSpPr>
          <p:cNvPr id="12" name="Text 8"/>
          <p:cNvSpPr txBox="1"/>
          <p:nvPr/>
        </p:nvSpPr>
        <p:spPr>
          <a:xfrm>
            <a:off x="548640" y="5577840"/>
            <a:ext cx="11091672" cy="777240"/>
          </a:xfrm>
          <a:prstGeom prst="rect">
            <a:avLst/>
          </a:prstGeom>
          <a:noFill/>
          <a:ln/>
        </p:spPr>
        <p:txBody>
          <a:bodyPr wrap="square" lIns="0" tIns="0" rIns="0" bIns="0" rtlCol="0" anchor="ctr"/>
          <a:lstStyle/>
          <a:p>
            <a:pPr algn="ctr" indent="0" marL="0">
              <a:buNone/>
            </a:pPr>
            <a:r>
              <a:rPr lang="en-US" sz="1800" b="1" dirty="0">
                <a:solidFill>
                  <a:srgbClr val="0B3D38"/>
                </a:solidFill>
                <a:latin typeface="Cambria" pitchFamily="34" charset="0"/>
                <a:ea typeface="Cambria" pitchFamily="34" charset="-122"/>
                <a:cs typeface="Cambria" pitchFamily="34" charset="-120"/>
              </a:rPr>
              <a:t>match a token  ·  or expand the top symbol with table[symbol, next token]  ·  accept when $ meets $</a:t>
            </a:r>
            <a:endParaRPr lang="en-US" sz="1800" dirty="0"/>
          </a:p>
        </p:txBody>
      </p:sp>
      <p:sp>
        <p:nvSpPr>
          <p:cNvPr id="13" name="Text 9"/>
          <p:cNvSpPr txBox="1"/>
          <p:nvPr/>
        </p:nvSpPr>
        <p:spPr>
          <a:xfrm>
            <a:off x="11338560" y="6400800"/>
            <a:ext cx="457200" cy="274320"/>
          </a:xfrm>
          <a:prstGeom prst="rect">
            <a:avLst/>
          </a:prstGeom>
          <a:noFill/>
          <a:ln/>
        </p:spPr>
        <p:txBody>
          <a:bodyPr wrap="square" lIns="0" tIns="0" rIns="0" bIns="0" rtlCol="0" anchor="ctr"/>
          <a:lstStyle/>
          <a:p>
            <a:pPr algn="r" indent="0" marL="0">
              <a:buNone/>
            </a:pPr>
            <a:r>
              <a:rPr lang="en-US" sz="1100" dirty="0">
                <a:solidFill>
                  <a:srgbClr val="5B7370"/>
                </a:solidFill>
                <a:latin typeface="Calibri" pitchFamily="34" charset="0"/>
                <a:ea typeface="Calibri" pitchFamily="34" charset="-122"/>
                <a:cs typeface="Calibri" pitchFamily="34" charset="-120"/>
              </a:rPr>
              <a:t>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7F6"/>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822960"/>
          </a:xfrm>
          <a:prstGeom prst="rect">
            <a:avLst/>
          </a:prstGeom>
          <a:noFill/>
          <a:ln/>
        </p:spPr>
        <p:txBody>
          <a:bodyPr wrap="square" lIns="0" tIns="0" rIns="0" bIns="0" rtlCol="0" anchor="t"/>
          <a:lstStyle/>
          <a:p>
            <a:pPr indent="0" marL="0">
              <a:buNone/>
            </a:pPr>
            <a:r>
              <a:rPr lang="en-US" sz="3200" b="1" dirty="0">
                <a:solidFill>
                  <a:srgbClr val="10262B"/>
                </a:solidFill>
                <a:latin typeface="Cambria" pitchFamily="34" charset="0"/>
                <a:ea typeface="Cambria" pitchFamily="34" charset="-122"/>
                <a:cs typeface="Cambria" pitchFamily="34" charset="-120"/>
              </a:rPr>
              <a:t>Live demo</a:t>
            </a:r>
            <a:endParaRPr lang="en-US" sz="3200" dirty="0"/>
          </a:p>
        </p:txBody>
      </p:sp>
      <p:sp>
        <p:nvSpPr>
          <p:cNvPr id="3" name="Shape 1"/>
          <p:cNvSpPr/>
          <p:nvPr/>
        </p:nvSpPr>
        <p:spPr>
          <a:xfrm>
            <a:off x="9006840" y="347472"/>
            <a:ext cx="2651760" cy="384048"/>
          </a:xfrm>
          <a:prstGeom prst="roundRect">
            <a:avLst>
              <a:gd name="adj" fmla="val 50000"/>
            </a:avLst>
          </a:prstGeom>
          <a:solidFill>
            <a:srgbClr val="F5B700"/>
          </a:solidFill>
          <a:ln w="12700">
            <a:solidFill>
              <a:srgbClr val="F5B700"/>
            </a:solidFill>
            <a:prstDash val="solid"/>
          </a:ln>
        </p:spPr>
      </p:sp>
      <p:sp>
        <p:nvSpPr>
          <p:cNvPr id="4" name="Text 2"/>
          <p:cNvSpPr txBox="1"/>
          <p:nvPr/>
        </p:nvSpPr>
        <p:spPr>
          <a:xfrm>
            <a:off x="9006840" y="347472"/>
            <a:ext cx="2651760" cy="384048"/>
          </a:xfrm>
          <a:prstGeom prst="rect">
            <a:avLst/>
          </a:prstGeom>
          <a:noFill/>
          <a:ln/>
        </p:spPr>
        <p:txBody>
          <a:bodyPr wrap="square" lIns="0" tIns="0" rIns="0" bIns="0" rtlCol="0" anchor="ctr"/>
          <a:lstStyle/>
          <a:p>
            <a:pPr algn="ctr" indent="0" marL="0">
              <a:buNone/>
            </a:pPr>
            <a:r>
              <a:rPr lang="en-US" sz="1200" b="1" dirty="0">
                <a:solidFill>
                  <a:srgbClr val="0B3D38"/>
                </a:solidFill>
                <a:latin typeface="Calibri" pitchFamily="34" charset="0"/>
                <a:ea typeface="Calibri" pitchFamily="34" charset="-122"/>
                <a:cs typeface="Calibri" pitchFamily="34" charset="-120"/>
              </a:rPr>
              <a:t>Part 3  ·  Demo and results</a:t>
            </a:r>
            <a:endParaRPr lang="en-US" sz="1200" dirty="0"/>
          </a:p>
        </p:txBody>
      </p:sp>
      <p:sp>
        <p:nvSpPr>
          <p:cNvPr id="5" name="Shape 3"/>
          <p:cNvSpPr/>
          <p:nvPr/>
        </p:nvSpPr>
        <p:spPr>
          <a:xfrm>
            <a:off x="548640" y="1371600"/>
            <a:ext cx="5486400" cy="822960"/>
          </a:xfrm>
          <a:prstGeom prst="roundRect">
            <a:avLst>
              <a:gd name="adj" fmla="val 13333"/>
            </a:avLst>
          </a:prstGeom>
          <a:solidFill>
            <a:srgbClr val="FFFFFF"/>
          </a:solidFill>
          <a:ln w="9525">
            <a:solidFill>
              <a:srgbClr val="D5E0DD"/>
            </a:solidFill>
            <a:prstDash val="solid"/>
          </a:ln>
          <a:effectLst>
            <a:outerShdw sx="100000" sy="100000" kx="0" ky="0" algn="bl" rotWithShape="0" blurRad="101600" dist="25400" dir="5400000">
              <a:srgbClr val="000000">
                <a:alpha val="14000"/>
              </a:srgbClr>
            </a:outerShdw>
          </a:effectLst>
        </p:spPr>
      </p:sp>
      <p:sp>
        <p:nvSpPr>
          <p:cNvPr id="6" name="Shape 4"/>
          <p:cNvSpPr/>
          <p:nvPr/>
        </p:nvSpPr>
        <p:spPr>
          <a:xfrm>
            <a:off x="713232" y="1527048"/>
            <a:ext cx="512064" cy="512064"/>
          </a:xfrm>
          <a:prstGeom prst="ellipse">
            <a:avLst/>
          </a:prstGeom>
          <a:solidFill>
            <a:srgbClr val="0F6B61"/>
          </a:solidFill>
          <a:ln w="12700">
            <a:solidFill>
              <a:srgbClr val="0F6B61"/>
            </a:solidFill>
            <a:prstDash val="solid"/>
          </a:ln>
        </p:spPr>
      </p:sp>
      <p:sp>
        <p:nvSpPr>
          <p:cNvPr id="7" name="Text 5"/>
          <p:cNvSpPr txBox="1"/>
          <p:nvPr/>
        </p:nvSpPr>
        <p:spPr>
          <a:xfrm>
            <a:off x="713232" y="1527048"/>
            <a:ext cx="512064"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8" name="Text 6"/>
          <p:cNvSpPr txBox="1"/>
          <p:nvPr/>
        </p:nvSpPr>
        <p:spPr>
          <a:xfrm>
            <a:off x="1417320" y="1444752"/>
            <a:ext cx="4480560" cy="347472"/>
          </a:xfrm>
          <a:prstGeom prst="rect">
            <a:avLst/>
          </a:prstGeom>
          <a:noFill/>
          <a:ln/>
        </p:spPr>
        <p:txBody>
          <a:bodyPr wrap="square" lIns="0" tIns="0" rIns="0" bIns="0" rtlCol="0" anchor="ctr"/>
          <a:lstStyle/>
          <a:p>
            <a:pPr indent="0" marL="0">
              <a:buNone/>
            </a:pPr>
            <a:r>
              <a:rPr lang="en-US" sz="1600" b="1" dirty="0">
                <a:solidFill>
                  <a:srgbClr val="10262B"/>
                </a:solidFill>
                <a:latin typeface="Cambria" pitchFamily="34" charset="0"/>
                <a:ea typeface="Cambria" pitchFamily="34" charset="-122"/>
                <a:cs typeface="Cambria" pitchFamily="34" charset="-120"/>
              </a:rPr>
              <a:t>Open the app</a:t>
            </a:r>
            <a:endParaRPr lang="en-US" sz="1600" dirty="0"/>
          </a:p>
        </p:txBody>
      </p:sp>
      <p:sp>
        <p:nvSpPr>
          <p:cNvPr id="9" name="Text 7"/>
          <p:cNvSpPr txBox="1"/>
          <p:nvPr/>
        </p:nvSpPr>
        <p:spPr>
          <a:xfrm>
            <a:off x="1417320" y="1792224"/>
            <a:ext cx="4480560" cy="329184"/>
          </a:xfrm>
          <a:prstGeom prst="rect">
            <a:avLst/>
          </a:prstGeom>
          <a:noFill/>
          <a:ln/>
        </p:spPr>
        <p:txBody>
          <a:bodyPr wrap="square" lIns="0" tIns="0" rIns="0" bIns="0" rtlCol="0" anchor="ctr"/>
          <a:lstStyle/>
          <a:p>
            <a:pPr indent="0" marL="0">
              <a:buNone/>
            </a:pPr>
            <a:r>
              <a:rPr lang="en-US" sz="1150" dirty="0">
                <a:solidFill>
                  <a:srgbClr val="5B7370"/>
                </a:solidFill>
                <a:latin typeface="Courier New" pitchFamily="34" charset="0"/>
                <a:ea typeface="Courier New" pitchFamily="34" charset="-122"/>
                <a:cs typeface="Courier New" pitchFamily="34" charset="-120"/>
              </a:rPr>
              <a:t>py gui.py</a:t>
            </a:r>
            <a:endParaRPr lang="en-US" sz="1150" dirty="0"/>
          </a:p>
        </p:txBody>
      </p:sp>
      <p:sp>
        <p:nvSpPr>
          <p:cNvPr id="10" name="Shape 8"/>
          <p:cNvSpPr/>
          <p:nvPr/>
        </p:nvSpPr>
        <p:spPr>
          <a:xfrm>
            <a:off x="548640" y="2313432"/>
            <a:ext cx="5486400" cy="822960"/>
          </a:xfrm>
          <a:prstGeom prst="roundRect">
            <a:avLst>
              <a:gd name="adj" fmla="val 13333"/>
            </a:avLst>
          </a:prstGeom>
          <a:solidFill>
            <a:srgbClr val="FFFFFF"/>
          </a:solidFill>
          <a:ln w="9525">
            <a:solidFill>
              <a:srgbClr val="D5E0DD"/>
            </a:solidFill>
            <a:prstDash val="solid"/>
          </a:ln>
          <a:effectLst>
            <a:outerShdw sx="100000" sy="100000" kx="0" ky="0" algn="bl" rotWithShape="0" blurRad="101600" dist="25400" dir="5400000">
              <a:srgbClr val="000000">
                <a:alpha val="14000"/>
              </a:srgbClr>
            </a:outerShdw>
          </a:effectLst>
        </p:spPr>
      </p:sp>
      <p:sp>
        <p:nvSpPr>
          <p:cNvPr id="11" name="Shape 9"/>
          <p:cNvSpPr/>
          <p:nvPr/>
        </p:nvSpPr>
        <p:spPr>
          <a:xfrm>
            <a:off x="713232" y="2468880"/>
            <a:ext cx="512064" cy="512064"/>
          </a:xfrm>
          <a:prstGeom prst="ellipse">
            <a:avLst/>
          </a:prstGeom>
          <a:solidFill>
            <a:srgbClr val="0F6B61"/>
          </a:solidFill>
          <a:ln w="12700">
            <a:solidFill>
              <a:srgbClr val="0F6B61"/>
            </a:solidFill>
            <a:prstDash val="solid"/>
          </a:ln>
        </p:spPr>
      </p:sp>
      <p:sp>
        <p:nvSpPr>
          <p:cNvPr id="12" name="Text 10"/>
          <p:cNvSpPr txBox="1"/>
          <p:nvPr/>
        </p:nvSpPr>
        <p:spPr>
          <a:xfrm>
            <a:off x="713232" y="2468880"/>
            <a:ext cx="512064"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3" name="Text 11"/>
          <p:cNvSpPr txBox="1"/>
          <p:nvPr/>
        </p:nvSpPr>
        <p:spPr>
          <a:xfrm>
            <a:off x="1417320" y="2386584"/>
            <a:ext cx="4480560" cy="347472"/>
          </a:xfrm>
          <a:prstGeom prst="rect">
            <a:avLst/>
          </a:prstGeom>
          <a:noFill/>
          <a:ln/>
        </p:spPr>
        <p:txBody>
          <a:bodyPr wrap="square" lIns="0" tIns="0" rIns="0" bIns="0" rtlCol="0" anchor="ctr"/>
          <a:lstStyle/>
          <a:p>
            <a:pPr indent="0" marL="0">
              <a:buNone/>
            </a:pPr>
            <a:r>
              <a:rPr lang="en-US" sz="1600" b="1" dirty="0">
                <a:solidFill>
                  <a:srgbClr val="10262B"/>
                </a:solidFill>
                <a:latin typeface="Cambria" pitchFamily="34" charset="0"/>
                <a:ea typeface="Cambria" pitchFamily="34" charset="-122"/>
                <a:cs typeface="Cambria" pitchFamily="34" charset="-120"/>
              </a:rPr>
              <a:t>Accepted, three languages</a:t>
            </a:r>
            <a:endParaRPr lang="en-US" sz="1600" dirty="0"/>
          </a:p>
        </p:txBody>
      </p:sp>
      <p:sp>
        <p:nvSpPr>
          <p:cNvPr id="14" name="Text 12"/>
          <p:cNvSpPr txBox="1"/>
          <p:nvPr/>
        </p:nvSpPr>
        <p:spPr>
          <a:xfrm>
            <a:off x="1417320" y="2734056"/>
            <a:ext cx="4480560" cy="329184"/>
          </a:xfrm>
          <a:prstGeom prst="rect">
            <a:avLst/>
          </a:prstGeom>
          <a:noFill/>
          <a:ln/>
        </p:spPr>
        <p:txBody>
          <a:bodyPr wrap="square" lIns="0" tIns="0" rIns="0" bIns="0" rtlCol="0" anchor="ctr"/>
          <a:lstStyle/>
          <a:p>
            <a:pPr indent="0" marL="0">
              <a:buNone/>
            </a:pPr>
            <a:r>
              <a:rPr lang="en-US" sz="1150" dirty="0">
                <a:solidFill>
                  <a:srgbClr val="5B7370"/>
                </a:solidFill>
                <a:latin typeface="Courier New" pitchFamily="34" charset="0"/>
                <a:ea typeface="Courier New" pitchFamily="34" charset="-122"/>
                <a:cs typeface="Courier New" pitchFamily="34" charset="-120"/>
              </a:rPr>
              <a:t>E05  I send my aza make you fund me fapnkolo</a:t>
            </a:r>
            <a:endParaRPr lang="en-US" sz="1150" dirty="0"/>
          </a:p>
        </p:txBody>
      </p:sp>
      <p:sp>
        <p:nvSpPr>
          <p:cNvPr id="15" name="Shape 13"/>
          <p:cNvSpPr/>
          <p:nvPr/>
        </p:nvSpPr>
        <p:spPr>
          <a:xfrm>
            <a:off x="548640" y="3255264"/>
            <a:ext cx="5486400" cy="822960"/>
          </a:xfrm>
          <a:prstGeom prst="roundRect">
            <a:avLst>
              <a:gd name="adj" fmla="val 13333"/>
            </a:avLst>
          </a:prstGeom>
          <a:solidFill>
            <a:srgbClr val="FFFFFF"/>
          </a:solidFill>
          <a:ln w="9525">
            <a:solidFill>
              <a:srgbClr val="D5E0DD"/>
            </a:solidFill>
            <a:prstDash val="solid"/>
          </a:ln>
          <a:effectLst>
            <a:outerShdw sx="100000" sy="100000" kx="0" ky="0" algn="bl" rotWithShape="0" blurRad="101600" dist="25400" dir="5400000">
              <a:srgbClr val="000000">
                <a:alpha val="14000"/>
              </a:srgbClr>
            </a:outerShdw>
          </a:effectLst>
        </p:spPr>
      </p:sp>
      <p:sp>
        <p:nvSpPr>
          <p:cNvPr id="16" name="Shape 14"/>
          <p:cNvSpPr/>
          <p:nvPr/>
        </p:nvSpPr>
        <p:spPr>
          <a:xfrm>
            <a:off x="713232" y="3410712"/>
            <a:ext cx="512064" cy="512064"/>
          </a:xfrm>
          <a:prstGeom prst="ellipse">
            <a:avLst/>
          </a:prstGeom>
          <a:solidFill>
            <a:srgbClr val="0F6B61"/>
          </a:solidFill>
          <a:ln w="12700">
            <a:solidFill>
              <a:srgbClr val="0F6B61"/>
            </a:solidFill>
            <a:prstDash val="solid"/>
          </a:ln>
        </p:spPr>
      </p:sp>
      <p:sp>
        <p:nvSpPr>
          <p:cNvPr id="17" name="Text 15"/>
          <p:cNvSpPr txBox="1"/>
          <p:nvPr/>
        </p:nvSpPr>
        <p:spPr>
          <a:xfrm>
            <a:off x="713232" y="3410712"/>
            <a:ext cx="512064"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8" name="Text 16"/>
          <p:cNvSpPr txBox="1"/>
          <p:nvPr/>
        </p:nvSpPr>
        <p:spPr>
          <a:xfrm>
            <a:off x="1417320" y="3328416"/>
            <a:ext cx="4480560" cy="347472"/>
          </a:xfrm>
          <a:prstGeom prst="rect">
            <a:avLst/>
          </a:prstGeom>
          <a:noFill/>
          <a:ln/>
        </p:spPr>
        <p:txBody>
          <a:bodyPr wrap="square" lIns="0" tIns="0" rIns="0" bIns="0" rtlCol="0" anchor="ctr"/>
          <a:lstStyle/>
          <a:p>
            <a:pPr indent="0" marL="0">
              <a:buNone/>
            </a:pPr>
            <a:r>
              <a:rPr lang="en-US" sz="1600" b="1" dirty="0">
                <a:solidFill>
                  <a:srgbClr val="10262B"/>
                </a:solidFill>
                <a:latin typeface="Cambria" pitchFamily="34" charset="0"/>
                <a:ea typeface="Cambria" pitchFamily="34" charset="-122"/>
                <a:cs typeface="Cambria" pitchFamily="34" charset="-120"/>
              </a:rPr>
              <a:t>Parse tree tab</a:t>
            </a:r>
            <a:endParaRPr lang="en-US" sz="1600" dirty="0"/>
          </a:p>
        </p:txBody>
      </p:sp>
      <p:sp>
        <p:nvSpPr>
          <p:cNvPr id="19" name="Text 17"/>
          <p:cNvSpPr txBox="1"/>
          <p:nvPr/>
        </p:nvSpPr>
        <p:spPr>
          <a:xfrm>
            <a:off x="1417320" y="3675888"/>
            <a:ext cx="4480560" cy="329184"/>
          </a:xfrm>
          <a:prstGeom prst="rect">
            <a:avLst/>
          </a:prstGeom>
          <a:noFill/>
          <a:ln/>
        </p:spPr>
        <p:txBody>
          <a:bodyPr wrap="square" lIns="0" tIns="0" rIns="0" bIns="0" rtlCol="0" anchor="ctr"/>
          <a:lstStyle/>
          <a:p>
            <a:pPr indent="0" marL="0">
              <a:buNone/>
            </a:pPr>
            <a:r>
              <a:rPr lang="en-US" sz="1150" dirty="0">
                <a:solidFill>
                  <a:srgbClr val="5B7370"/>
                </a:solidFill>
                <a:latin typeface="Courier New" pitchFamily="34" charset="0"/>
                <a:ea typeface="Courier New" pitchFamily="34" charset="-122"/>
                <a:cs typeface="Courier New" pitchFamily="34" charset="-120"/>
              </a:rPr>
              <a:t>F04  U don chop?</a:t>
            </a:r>
            <a:endParaRPr lang="en-US" sz="1150" dirty="0"/>
          </a:p>
        </p:txBody>
      </p:sp>
      <p:sp>
        <p:nvSpPr>
          <p:cNvPr id="20" name="Shape 18"/>
          <p:cNvSpPr/>
          <p:nvPr/>
        </p:nvSpPr>
        <p:spPr>
          <a:xfrm>
            <a:off x="548640" y="4197096"/>
            <a:ext cx="5486400" cy="822960"/>
          </a:xfrm>
          <a:prstGeom prst="roundRect">
            <a:avLst>
              <a:gd name="adj" fmla="val 13333"/>
            </a:avLst>
          </a:prstGeom>
          <a:solidFill>
            <a:srgbClr val="FFFFFF"/>
          </a:solidFill>
          <a:ln w="9525">
            <a:solidFill>
              <a:srgbClr val="D5E0DD"/>
            </a:solidFill>
            <a:prstDash val="solid"/>
          </a:ln>
          <a:effectLst>
            <a:outerShdw sx="100000" sy="100000" kx="0" ky="0" algn="bl" rotWithShape="0" blurRad="101600" dist="25400" dir="5400000">
              <a:srgbClr val="000000">
                <a:alpha val="14000"/>
              </a:srgbClr>
            </a:outerShdw>
          </a:effectLst>
        </p:spPr>
      </p:sp>
      <p:sp>
        <p:nvSpPr>
          <p:cNvPr id="21" name="Shape 19"/>
          <p:cNvSpPr/>
          <p:nvPr/>
        </p:nvSpPr>
        <p:spPr>
          <a:xfrm>
            <a:off x="713232" y="4352544"/>
            <a:ext cx="512064" cy="512064"/>
          </a:xfrm>
          <a:prstGeom prst="ellipse">
            <a:avLst/>
          </a:prstGeom>
          <a:solidFill>
            <a:srgbClr val="C4553F"/>
          </a:solidFill>
          <a:ln w="12700">
            <a:solidFill>
              <a:srgbClr val="C4553F"/>
            </a:solidFill>
            <a:prstDash val="solid"/>
          </a:ln>
        </p:spPr>
      </p:sp>
      <p:sp>
        <p:nvSpPr>
          <p:cNvPr id="22" name="Text 20"/>
          <p:cNvSpPr txBox="1"/>
          <p:nvPr/>
        </p:nvSpPr>
        <p:spPr>
          <a:xfrm>
            <a:off x="713232" y="4352544"/>
            <a:ext cx="512064"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23" name="Text 21"/>
          <p:cNvSpPr txBox="1"/>
          <p:nvPr/>
        </p:nvSpPr>
        <p:spPr>
          <a:xfrm>
            <a:off x="1417320" y="4270248"/>
            <a:ext cx="4480560" cy="347472"/>
          </a:xfrm>
          <a:prstGeom prst="rect">
            <a:avLst/>
          </a:prstGeom>
          <a:noFill/>
          <a:ln/>
        </p:spPr>
        <p:txBody>
          <a:bodyPr wrap="square" lIns="0" tIns="0" rIns="0" bIns="0" rtlCol="0" anchor="ctr"/>
          <a:lstStyle/>
          <a:p>
            <a:pPr indent="0" marL="0">
              <a:buNone/>
            </a:pPr>
            <a:r>
              <a:rPr lang="en-US" sz="1600" b="1" dirty="0">
                <a:solidFill>
                  <a:srgbClr val="10262B"/>
                </a:solidFill>
                <a:latin typeface="Cambria" pitchFamily="34" charset="0"/>
                <a:ea typeface="Cambria" pitchFamily="34" charset="-122"/>
                <a:cs typeface="Cambria" pitchFamily="34" charset="-120"/>
              </a:rPr>
              <a:t>Rejected, with the reason</a:t>
            </a:r>
            <a:endParaRPr lang="en-US" sz="1600" dirty="0"/>
          </a:p>
        </p:txBody>
      </p:sp>
      <p:sp>
        <p:nvSpPr>
          <p:cNvPr id="24" name="Text 22"/>
          <p:cNvSpPr txBox="1"/>
          <p:nvPr/>
        </p:nvSpPr>
        <p:spPr>
          <a:xfrm>
            <a:off x="1417320" y="4617720"/>
            <a:ext cx="4480560" cy="329184"/>
          </a:xfrm>
          <a:prstGeom prst="rect">
            <a:avLst/>
          </a:prstGeom>
          <a:noFill/>
          <a:ln/>
        </p:spPr>
        <p:txBody>
          <a:bodyPr wrap="square" lIns="0" tIns="0" rIns="0" bIns="0" rtlCol="0" anchor="ctr"/>
          <a:lstStyle/>
          <a:p>
            <a:pPr indent="0" marL="0">
              <a:buNone/>
            </a:pPr>
            <a:r>
              <a:rPr lang="en-US" sz="1150" dirty="0">
                <a:solidFill>
                  <a:srgbClr val="5B7370"/>
                </a:solidFill>
                <a:latin typeface="Courier New" pitchFamily="34" charset="0"/>
                <a:ea typeface="Courier New" pitchFamily="34" charset="-122"/>
                <a:cs typeface="Courier New" pitchFamily="34" charset="-120"/>
              </a:rPr>
              <a:t>T03  Enlève ta brouette la sur la route</a:t>
            </a:r>
            <a:endParaRPr lang="en-US" sz="1150" dirty="0"/>
          </a:p>
        </p:txBody>
      </p:sp>
      <p:sp>
        <p:nvSpPr>
          <p:cNvPr id="25" name="Shape 23"/>
          <p:cNvSpPr/>
          <p:nvPr/>
        </p:nvSpPr>
        <p:spPr>
          <a:xfrm>
            <a:off x="548640" y="5138928"/>
            <a:ext cx="5486400" cy="822960"/>
          </a:xfrm>
          <a:prstGeom prst="roundRect">
            <a:avLst>
              <a:gd name="adj" fmla="val 13333"/>
            </a:avLst>
          </a:prstGeom>
          <a:solidFill>
            <a:srgbClr val="FFFFFF"/>
          </a:solidFill>
          <a:ln w="9525">
            <a:solidFill>
              <a:srgbClr val="D5E0DD"/>
            </a:solidFill>
            <a:prstDash val="solid"/>
          </a:ln>
          <a:effectLst>
            <a:outerShdw sx="100000" sy="100000" kx="0" ky="0" algn="bl" rotWithShape="0" blurRad="101600" dist="25400" dir="5400000">
              <a:srgbClr val="000000">
                <a:alpha val="14000"/>
              </a:srgbClr>
            </a:outerShdw>
          </a:effectLst>
        </p:spPr>
      </p:sp>
      <p:sp>
        <p:nvSpPr>
          <p:cNvPr id="26" name="Shape 24"/>
          <p:cNvSpPr/>
          <p:nvPr/>
        </p:nvSpPr>
        <p:spPr>
          <a:xfrm>
            <a:off x="713232" y="5294376"/>
            <a:ext cx="512064" cy="512064"/>
          </a:xfrm>
          <a:prstGeom prst="ellipse">
            <a:avLst/>
          </a:prstGeom>
          <a:solidFill>
            <a:srgbClr val="0F6B61"/>
          </a:solidFill>
          <a:ln w="12700">
            <a:solidFill>
              <a:srgbClr val="0F6B61"/>
            </a:solidFill>
            <a:prstDash val="solid"/>
          </a:ln>
        </p:spPr>
      </p:sp>
      <p:sp>
        <p:nvSpPr>
          <p:cNvPr id="27" name="Text 25"/>
          <p:cNvSpPr txBox="1"/>
          <p:nvPr/>
        </p:nvSpPr>
        <p:spPr>
          <a:xfrm>
            <a:off x="713232" y="5294376"/>
            <a:ext cx="512064"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5</a:t>
            </a:r>
            <a:endParaRPr lang="en-US" sz="1600" dirty="0"/>
          </a:p>
        </p:txBody>
      </p:sp>
      <p:sp>
        <p:nvSpPr>
          <p:cNvPr id="28" name="Text 26"/>
          <p:cNvSpPr txBox="1"/>
          <p:nvPr/>
        </p:nvSpPr>
        <p:spPr>
          <a:xfrm>
            <a:off x="1417320" y="5212080"/>
            <a:ext cx="4480560" cy="347472"/>
          </a:xfrm>
          <a:prstGeom prst="rect">
            <a:avLst/>
          </a:prstGeom>
          <a:noFill/>
          <a:ln/>
        </p:spPr>
        <p:txBody>
          <a:bodyPr wrap="square" lIns="0" tIns="0" rIns="0" bIns="0" rtlCol="0" anchor="ctr"/>
          <a:lstStyle/>
          <a:p>
            <a:pPr indent="0" marL="0">
              <a:buNone/>
            </a:pPr>
            <a:r>
              <a:rPr lang="en-US" sz="1600" b="1" dirty="0">
                <a:solidFill>
                  <a:srgbClr val="10262B"/>
                </a:solidFill>
                <a:latin typeface="Cambria" pitchFamily="34" charset="0"/>
                <a:ea typeface="Cambria" pitchFamily="34" charset="-122"/>
                <a:cs typeface="Cambria" pitchFamily="34" charset="-120"/>
              </a:rPr>
              <a:t>All results window</a:t>
            </a:r>
            <a:endParaRPr lang="en-US" sz="1600" dirty="0"/>
          </a:p>
        </p:txBody>
      </p:sp>
      <p:sp>
        <p:nvSpPr>
          <p:cNvPr id="29" name="Text 27"/>
          <p:cNvSpPr txBox="1"/>
          <p:nvPr/>
        </p:nvSpPr>
        <p:spPr>
          <a:xfrm>
            <a:off x="1417320" y="5559552"/>
            <a:ext cx="4480560" cy="329184"/>
          </a:xfrm>
          <a:prstGeom prst="rect">
            <a:avLst/>
          </a:prstGeom>
          <a:noFill/>
          <a:ln/>
        </p:spPr>
        <p:txBody>
          <a:bodyPr wrap="square" lIns="0" tIns="0" rIns="0" bIns="0" rtlCol="0" anchor="ctr"/>
          <a:lstStyle/>
          <a:p>
            <a:pPr indent="0" marL="0">
              <a:buNone/>
            </a:pPr>
            <a:r>
              <a:rPr lang="en-US" sz="1150" dirty="0">
                <a:solidFill>
                  <a:srgbClr val="5B7370"/>
                </a:solidFill>
                <a:latin typeface="Courier New" pitchFamily="34" charset="0"/>
                <a:ea typeface="Courier New" pitchFamily="34" charset="-122"/>
                <a:cs typeface="Courier New" pitchFamily="34" charset="-120"/>
              </a:rPr>
              <a:t>31 green rows, 19 red rows</a:t>
            </a:r>
            <a:endParaRPr lang="en-US" sz="1150" dirty="0"/>
          </a:p>
        </p:txBody>
      </p:sp>
      <p:sp>
        <p:nvSpPr>
          <p:cNvPr id="30" name="Shape 28"/>
          <p:cNvSpPr/>
          <p:nvPr/>
        </p:nvSpPr>
        <p:spPr>
          <a:xfrm>
            <a:off x="6309360" y="1371600"/>
            <a:ext cx="5330952" cy="4114800"/>
          </a:xfrm>
          <a:prstGeom prst="roundRect">
            <a:avLst>
              <a:gd name="adj" fmla="val 2667"/>
            </a:avLst>
          </a:prstGeom>
          <a:solidFill>
            <a:srgbClr val="FFFFFF"/>
          </a:solidFill>
          <a:ln w="9525">
            <a:solidFill>
              <a:srgbClr val="D5E0DD"/>
            </a:solidFill>
            <a:prstDash val="solid"/>
          </a:ln>
          <a:effectLst>
            <a:outerShdw sx="100000" sy="100000" kx="0" ky="0" algn="bl" rotWithShape="0" blurRad="101600" dist="25400" dir="5400000">
              <a:srgbClr val="000000">
                <a:alpha val="14000"/>
              </a:srgbClr>
            </a:outerShdw>
          </a:effectLst>
        </p:spPr>
      </p:sp>
      <p:pic>
        <p:nvPicPr>
          <p:cNvPr id="31" name="Image 0" descr="C:\Users\Glorious Samsimbom\AppData\Local\Temp\claude\C--Users-Glorious-Samsimbom-compiler-contruction-yaounde\21dbdbd6-0919-4463-a6fe-e3c086e6c5f5\scratchpad\shots\gui_rej_T03.png">    </p:cNvPr>
          <p:cNvPicPr>
            <a:picLocks noChangeAspect="1"/>
          </p:cNvPicPr>
          <p:nvPr/>
        </p:nvPicPr>
        <p:blipFill>
          <a:blip r:embed="rId1"/>
          <a:stretch>
            <a:fillRect/>
          </a:stretch>
        </p:blipFill>
        <p:spPr>
          <a:xfrm>
            <a:off x="6400800" y="1771146"/>
            <a:ext cx="5148072" cy="3315707"/>
          </a:xfrm>
          <a:prstGeom prst="rect">
            <a:avLst/>
          </a:prstGeom>
        </p:spPr>
      </p:pic>
      <p:sp>
        <p:nvSpPr>
          <p:cNvPr id="32" name="Text 29"/>
          <p:cNvSpPr txBox="1"/>
          <p:nvPr/>
        </p:nvSpPr>
        <p:spPr>
          <a:xfrm>
            <a:off x="6309360" y="5577840"/>
            <a:ext cx="5330952" cy="548640"/>
          </a:xfrm>
          <a:prstGeom prst="rect">
            <a:avLst/>
          </a:prstGeom>
          <a:noFill/>
          <a:ln/>
        </p:spPr>
        <p:txBody>
          <a:bodyPr wrap="square" lIns="0" tIns="0" rIns="0" bIns="0" rtlCol="0" anchor="t"/>
          <a:lstStyle/>
          <a:p>
            <a:pPr indent="0" marL="0">
              <a:buNone/>
            </a:pPr>
            <a:r>
              <a:rPr lang="en-US" sz="1200" i="1" dirty="0">
                <a:solidFill>
                  <a:srgbClr val="5B7370"/>
                </a:solidFill>
                <a:latin typeface="Calibri" pitchFamily="34" charset="0"/>
                <a:ea typeface="Calibri" pitchFamily="34" charset="-122"/>
                <a:cs typeface="Calibri" pitchFamily="34" charset="-120"/>
              </a:rPr>
              <a:t>What the audience should see for T03: a red row where the parser stopped, and the reason.</a:t>
            </a:r>
            <a:endParaRPr lang="en-US" sz="1200" dirty="0"/>
          </a:p>
        </p:txBody>
      </p:sp>
      <p:sp>
        <p:nvSpPr>
          <p:cNvPr id="33" name="Text 30"/>
          <p:cNvSpPr txBox="1"/>
          <p:nvPr/>
        </p:nvSpPr>
        <p:spPr>
          <a:xfrm>
            <a:off x="11338560" y="6400800"/>
            <a:ext cx="457200" cy="274320"/>
          </a:xfrm>
          <a:prstGeom prst="rect">
            <a:avLst/>
          </a:prstGeom>
          <a:noFill/>
          <a:ln/>
        </p:spPr>
        <p:txBody>
          <a:bodyPr wrap="square" lIns="0" tIns="0" rIns="0" bIns="0" rtlCol="0" anchor="ctr"/>
          <a:lstStyle/>
          <a:p>
            <a:pPr algn="r" indent="0" marL="0">
              <a:buNone/>
            </a:pPr>
            <a:r>
              <a:rPr lang="en-US" sz="1100" dirty="0">
                <a:solidFill>
                  <a:srgbClr val="5B7370"/>
                </a:solidFill>
                <a:latin typeface="Calibri" pitchFamily="34" charset="0"/>
                <a:ea typeface="Calibri" pitchFamily="34" charset="-122"/>
                <a:cs typeface="Calibri" pitchFamily="34" charset="-120"/>
              </a:rPr>
              <a:t>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7F6"/>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822960"/>
          </a:xfrm>
          <a:prstGeom prst="rect">
            <a:avLst/>
          </a:prstGeom>
          <a:noFill/>
          <a:ln/>
        </p:spPr>
        <p:txBody>
          <a:bodyPr wrap="square" lIns="0" tIns="0" rIns="0" bIns="0" rtlCol="0" anchor="t"/>
          <a:lstStyle/>
          <a:p>
            <a:pPr indent="0" marL="0">
              <a:buNone/>
            </a:pPr>
            <a:r>
              <a:rPr lang="en-US" sz="3200" b="1" dirty="0">
                <a:solidFill>
                  <a:srgbClr val="10262B"/>
                </a:solidFill>
                <a:latin typeface="Cambria" pitchFamily="34" charset="0"/>
                <a:ea typeface="Cambria" pitchFamily="34" charset="-122"/>
                <a:cs typeface="Cambria" pitchFamily="34" charset="-120"/>
              </a:rPr>
              <a:t>31 accepted, 19 rejected, every one explained</a:t>
            </a:r>
            <a:endParaRPr lang="en-US" sz="3200" dirty="0"/>
          </a:p>
        </p:txBody>
      </p:sp>
      <p:sp>
        <p:nvSpPr>
          <p:cNvPr id="3" name="Shape 1"/>
          <p:cNvSpPr/>
          <p:nvPr/>
        </p:nvSpPr>
        <p:spPr>
          <a:xfrm>
            <a:off x="9006840" y="347472"/>
            <a:ext cx="2651760" cy="384048"/>
          </a:xfrm>
          <a:prstGeom prst="roundRect">
            <a:avLst>
              <a:gd name="adj" fmla="val 50000"/>
            </a:avLst>
          </a:prstGeom>
          <a:solidFill>
            <a:srgbClr val="F5B700"/>
          </a:solidFill>
          <a:ln w="12700">
            <a:solidFill>
              <a:srgbClr val="F5B700"/>
            </a:solidFill>
            <a:prstDash val="solid"/>
          </a:ln>
        </p:spPr>
      </p:sp>
      <p:sp>
        <p:nvSpPr>
          <p:cNvPr id="4" name="Text 2"/>
          <p:cNvSpPr txBox="1"/>
          <p:nvPr/>
        </p:nvSpPr>
        <p:spPr>
          <a:xfrm>
            <a:off x="9006840" y="347472"/>
            <a:ext cx="2651760" cy="384048"/>
          </a:xfrm>
          <a:prstGeom prst="rect">
            <a:avLst/>
          </a:prstGeom>
          <a:noFill/>
          <a:ln/>
        </p:spPr>
        <p:txBody>
          <a:bodyPr wrap="square" lIns="0" tIns="0" rIns="0" bIns="0" rtlCol="0" anchor="ctr"/>
          <a:lstStyle/>
          <a:p>
            <a:pPr algn="ctr" indent="0" marL="0">
              <a:buNone/>
            </a:pPr>
            <a:r>
              <a:rPr lang="en-US" sz="1200" b="1" dirty="0">
                <a:solidFill>
                  <a:srgbClr val="0B3D38"/>
                </a:solidFill>
                <a:latin typeface="Calibri" pitchFamily="34" charset="0"/>
                <a:ea typeface="Calibri" pitchFamily="34" charset="-122"/>
                <a:cs typeface="Calibri" pitchFamily="34" charset="-120"/>
              </a:rPr>
              <a:t>Part 3  ·  Demo and results</a:t>
            </a:r>
            <a:endParaRPr lang="en-US" sz="1200" dirty="0"/>
          </a:p>
        </p:txBody>
      </p:sp>
      <p:sp>
        <p:nvSpPr>
          <p:cNvPr id="5" name="Shape 3"/>
          <p:cNvSpPr/>
          <p:nvPr/>
        </p:nvSpPr>
        <p:spPr>
          <a:xfrm>
            <a:off x="548640" y="1371600"/>
            <a:ext cx="6949440" cy="4754880"/>
          </a:xfrm>
          <a:prstGeom prst="roundRect">
            <a:avLst>
              <a:gd name="adj" fmla="val 2308"/>
            </a:avLst>
          </a:prstGeom>
          <a:solidFill>
            <a:srgbClr val="FFFFFF"/>
          </a:solidFill>
          <a:ln w="9525">
            <a:solidFill>
              <a:srgbClr val="D5E0DD"/>
            </a:solidFill>
            <a:prstDash val="solid"/>
          </a:ln>
          <a:effectLst>
            <a:outerShdw sx="100000" sy="100000" kx="0" ky="0" algn="bl" rotWithShape="0" blurRad="101600" dist="25400" dir="5400000">
              <a:srgbClr val="000000">
                <a:alpha val="14000"/>
              </a:srgbClr>
            </a:outerShdw>
          </a:effectLst>
        </p:spPr>
      </p:sp>
      <p:graphicFrame>
        <p:nvGraphicFramePr>
          <p:cNvPr id="6" name="Chart 0" descr=""/>
          <p:cNvGraphicFramePr/>
          <p:nvPr/>
        </p:nvGraphicFramePr>
        <p:xfrm>
          <a:off x="685800" y="1463040"/>
          <a:ext cx="6675120" cy="457200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7772400" y="1371600"/>
            <a:ext cx="1874520" cy="1554480"/>
          </a:xfrm>
          <a:prstGeom prst="roundRect">
            <a:avLst>
              <a:gd name="adj" fmla="val 7059"/>
            </a:avLst>
          </a:prstGeom>
          <a:solidFill>
            <a:srgbClr val="FFFFFF"/>
          </a:solidFill>
          <a:ln w="9525">
            <a:solidFill>
              <a:srgbClr val="D5E0DD"/>
            </a:solidFill>
            <a:prstDash val="solid"/>
          </a:ln>
          <a:effectLst>
            <a:outerShdw sx="100000" sy="100000" kx="0" ky="0" algn="bl" rotWithShape="0" blurRad="101600" dist="25400" dir="5400000">
              <a:srgbClr val="000000">
                <a:alpha val="14000"/>
              </a:srgbClr>
            </a:outerShdw>
          </a:effectLst>
        </p:spPr>
      </p:sp>
      <p:sp>
        <p:nvSpPr>
          <p:cNvPr id="8" name="Text 5"/>
          <p:cNvSpPr txBox="1"/>
          <p:nvPr/>
        </p:nvSpPr>
        <p:spPr>
          <a:xfrm>
            <a:off x="7772400" y="1508760"/>
            <a:ext cx="1874520" cy="854964"/>
          </a:xfrm>
          <a:prstGeom prst="rect">
            <a:avLst/>
          </a:prstGeom>
          <a:noFill/>
          <a:ln/>
        </p:spPr>
        <p:txBody>
          <a:bodyPr wrap="square" lIns="0" tIns="0" rIns="0" bIns="0" rtlCol="0" anchor="ctr"/>
          <a:lstStyle/>
          <a:p>
            <a:pPr algn="ctr" indent="0" marL="0">
              <a:buNone/>
            </a:pPr>
            <a:r>
              <a:rPr lang="en-US" sz="4400" b="1" dirty="0">
                <a:solidFill>
                  <a:srgbClr val="0F6B61"/>
                </a:solidFill>
                <a:latin typeface="Cambria" pitchFamily="34" charset="0"/>
                <a:ea typeface="Cambria" pitchFamily="34" charset="-122"/>
                <a:cs typeface="Cambria" pitchFamily="34" charset="-120"/>
              </a:rPr>
              <a:t>31</a:t>
            </a:r>
            <a:endParaRPr lang="en-US" sz="4400" dirty="0"/>
          </a:p>
        </p:txBody>
      </p:sp>
      <p:sp>
        <p:nvSpPr>
          <p:cNvPr id="9" name="Text 6"/>
          <p:cNvSpPr txBox="1"/>
          <p:nvPr/>
        </p:nvSpPr>
        <p:spPr>
          <a:xfrm>
            <a:off x="7909560" y="2335378"/>
            <a:ext cx="1600200" cy="512978"/>
          </a:xfrm>
          <a:prstGeom prst="rect">
            <a:avLst/>
          </a:prstGeom>
          <a:noFill/>
          <a:ln/>
        </p:spPr>
        <p:txBody>
          <a:bodyPr wrap="square" lIns="0" tIns="0" rIns="0" bIns="0" rtlCol="0" anchor="t"/>
          <a:lstStyle/>
          <a:p>
            <a:pPr algn="ctr" indent="0" marL="0">
              <a:buNone/>
            </a:pPr>
            <a:r>
              <a:rPr lang="en-US" sz="1400" dirty="0">
                <a:solidFill>
                  <a:srgbClr val="5B7370"/>
                </a:solidFill>
                <a:latin typeface="Calibri" pitchFamily="34" charset="0"/>
                <a:ea typeface="Calibri" pitchFamily="34" charset="-122"/>
                <a:cs typeface="Calibri" pitchFamily="34" charset="-120"/>
              </a:rPr>
              <a:t>accepted</a:t>
            </a:r>
            <a:endParaRPr lang="en-US" sz="1400" dirty="0"/>
          </a:p>
        </p:txBody>
      </p:sp>
      <p:sp>
        <p:nvSpPr>
          <p:cNvPr id="10" name="Shape 7"/>
          <p:cNvSpPr/>
          <p:nvPr/>
        </p:nvSpPr>
        <p:spPr>
          <a:xfrm>
            <a:off x="9765792" y="1371600"/>
            <a:ext cx="1874520" cy="1554480"/>
          </a:xfrm>
          <a:prstGeom prst="roundRect">
            <a:avLst>
              <a:gd name="adj" fmla="val 7059"/>
            </a:avLst>
          </a:prstGeom>
          <a:solidFill>
            <a:srgbClr val="F6EFED"/>
          </a:solidFill>
          <a:ln w="9525">
            <a:solidFill>
              <a:srgbClr val="D5E0DD"/>
            </a:solidFill>
            <a:prstDash val="solid"/>
          </a:ln>
          <a:effectLst>
            <a:outerShdw sx="100000" sy="100000" kx="0" ky="0" algn="bl" rotWithShape="0" blurRad="101600" dist="25400" dir="5400000">
              <a:srgbClr val="000000">
                <a:alpha val="14000"/>
              </a:srgbClr>
            </a:outerShdw>
          </a:effectLst>
        </p:spPr>
      </p:sp>
      <p:sp>
        <p:nvSpPr>
          <p:cNvPr id="11" name="Text 8"/>
          <p:cNvSpPr txBox="1"/>
          <p:nvPr/>
        </p:nvSpPr>
        <p:spPr>
          <a:xfrm>
            <a:off x="9765792" y="1508760"/>
            <a:ext cx="1874520" cy="854964"/>
          </a:xfrm>
          <a:prstGeom prst="rect">
            <a:avLst/>
          </a:prstGeom>
          <a:noFill/>
          <a:ln/>
        </p:spPr>
        <p:txBody>
          <a:bodyPr wrap="square" lIns="0" tIns="0" rIns="0" bIns="0" rtlCol="0" anchor="ctr"/>
          <a:lstStyle/>
          <a:p>
            <a:pPr algn="ctr" indent="0" marL="0">
              <a:buNone/>
            </a:pPr>
            <a:r>
              <a:rPr lang="en-US" sz="4400" b="1" dirty="0">
                <a:solidFill>
                  <a:srgbClr val="C4553F"/>
                </a:solidFill>
                <a:latin typeface="Cambria" pitchFamily="34" charset="0"/>
                <a:ea typeface="Cambria" pitchFamily="34" charset="-122"/>
                <a:cs typeface="Cambria" pitchFamily="34" charset="-120"/>
              </a:rPr>
              <a:t>19</a:t>
            </a:r>
            <a:endParaRPr lang="en-US" sz="4400" dirty="0"/>
          </a:p>
        </p:txBody>
      </p:sp>
      <p:sp>
        <p:nvSpPr>
          <p:cNvPr id="12" name="Text 9"/>
          <p:cNvSpPr txBox="1"/>
          <p:nvPr/>
        </p:nvSpPr>
        <p:spPr>
          <a:xfrm>
            <a:off x="9902952" y="2335378"/>
            <a:ext cx="1600200" cy="512978"/>
          </a:xfrm>
          <a:prstGeom prst="rect">
            <a:avLst/>
          </a:prstGeom>
          <a:noFill/>
          <a:ln/>
        </p:spPr>
        <p:txBody>
          <a:bodyPr wrap="square" lIns="0" tIns="0" rIns="0" bIns="0" rtlCol="0" anchor="t"/>
          <a:lstStyle/>
          <a:p>
            <a:pPr algn="ctr" indent="0" marL="0">
              <a:buNone/>
            </a:pPr>
            <a:r>
              <a:rPr lang="en-US" sz="1400" dirty="0">
                <a:solidFill>
                  <a:srgbClr val="5B7370"/>
                </a:solidFill>
                <a:latin typeface="Calibri" pitchFamily="34" charset="0"/>
                <a:ea typeface="Calibri" pitchFamily="34" charset="-122"/>
                <a:cs typeface="Calibri" pitchFamily="34" charset="-120"/>
              </a:rPr>
              <a:t>rejected</a:t>
            </a:r>
            <a:endParaRPr lang="en-US" sz="1400" dirty="0"/>
          </a:p>
        </p:txBody>
      </p:sp>
      <p:sp>
        <p:nvSpPr>
          <p:cNvPr id="13" name="Shape 10"/>
          <p:cNvSpPr/>
          <p:nvPr/>
        </p:nvSpPr>
        <p:spPr>
          <a:xfrm>
            <a:off x="7772400" y="3063240"/>
            <a:ext cx="3867912" cy="1371600"/>
          </a:xfrm>
          <a:prstGeom prst="roundRect">
            <a:avLst>
              <a:gd name="adj" fmla="val 8000"/>
            </a:avLst>
          </a:prstGeom>
          <a:solidFill>
            <a:srgbClr val="0B3D38"/>
          </a:solidFill>
          <a:ln w="9525">
            <a:solidFill>
              <a:srgbClr val="D5E0DD"/>
            </a:solidFill>
            <a:prstDash val="solid"/>
          </a:ln>
          <a:effectLst>
            <a:outerShdw sx="100000" sy="100000" kx="0" ky="0" algn="bl" rotWithShape="0" blurRad="101600" dist="25400" dir="5400000">
              <a:srgbClr val="000000">
                <a:alpha val="14000"/>
              </a:srgbClr>
            </a:outerShdw>
          </a:effectLst>
        </p:spPr>
      </p:sp>
      <p:sp>
        <p:nvSpPr>
          <p:cNvPr id="14" name="Text 11"/>
          <p:cNvSpPr txBox="1"/>
          <p:nvPr/>
        </p:nvSpPr>
        <p:spPr>
          <a:xfrm>
            <a:off x="7772400" y="3200400"/>
            <a:ext cx="3867912" cy="754380"/>
          </a:xfrm>
          <a:prstGeom prst="rect">
            <a:avLst/>
          </a:prstGeom>
          <a:noFill/>
          <a:ln/>
        </p:spPr>
        <p:txBody>
          <a:bodyPr wrap="square" lIns="0" tIns="0" rIns="0" bIns="0" rtlCol="0" anchor="ctr"/>
          <a:lstStyle/>
          <a:p>
            <a:pPr algn="ctr" indent="0" marL="0">
              <a:buNone/>
            </a:pPr>
            <a:r>
              <a:rPr lang="en-US" sz="4400" b="1" dirty="0">
                <a:solidFill>
                  <a:srgbClr val="F5B700"/>
                </a:solidFill>
                <a:latin typeface="Cambria" pitchFamily="34" charset="0"/>
                <a:ea typeface="Cambria" pitchFamily="34" charset="-122"/>
                <a:cs typeface="Cambria" pitchFamily="34" charset="-120"/>
              </a:rPr>
              <a:t>62%</a:t>
            </a:r>
            <a:endParaRPr lang="en-US" sz="4400" dirty="0"/>
          </a:p>
        </p:txBody>
      </p:sp>
      <p:sp>
        <p:nvSpPr>
          <p:cNvPr id="15" name="Text 12"/>
          <p:cNvSpPr txBox="1"/>
          <p:nvPr/>
        </p:nvSpPr>
        <p:spPr>
          <a:xfrm>
            <a:off x="7909560" y="3913632"/>
            <a:ext cx="3593592" cy="452628"/>
          </a:xfrm>
          <a:prstGeom prst="rect">
            <a:avLst/>
          </a:prstGeom>
          <a:noFill/>
          <a:ln/>
        </p:spPr>
        <p:txBody>
          <a:bodyPr wrap="square" lIns="0" tIns="0" rIns="0" bIns="0" rtlCol="0" anchor="t"/>
          <a:lstStyle/>
          <a:p>
            <a:pPr algn="ctr" indent="0" marL="0">
              <a:buNone/>
            </a:pPr>
            <a:r>
              <a:rPr lang="en-US" sz="1400" dirty="0">
                <a:solidFill>
                  <a:srgbClr val="CFE7E2"/>
                </a:solidFill>
                <a:latin typeface="Calibri" pitchFamily="34" charset="0"/>
                <a:ea typeface="Calibri" pitchFamily="34" charset="-122"/>
                <a:cs typeface="Calibri" pitchFamily="34" charset="-120"/>
              </a:rPr>
              <a:t>accepted overall</a:t>
            </a:r>
            <a:endParaRPr lang="en-US" sz="1400" dirty="0"/>
          </a:p>
        </p:txBody>
      </p:sp>
      <p:sp>
        <p:nvSpPr>
          <p:cNvPr id="16" name="Shape 13"/>
          <p:cNvSpPr/>
          <p:nvPr/>
        </p:nvSpPr>
        <p:spPr>
          <a:xfrm>
            <a:off x="7772400" y="4572000"/>
            <a:ext cx="3867912" cy="1554480"/>
          </a:xfrm>
          <a:prstGeom prst="roundRect">
            <a:avLst>
              <a:gd name="adj" fmla="val 7059"/>
            </a:avLst>
          </a:prstGeom>
          <a:solidFill>
            <a:srgbClr val="FFFFFF"/>
          </a:solidFill>
          <a:ln w="9525">
            <a:solidFill>
              <a:srgbClr val="D5E0DD"/>
            </a:solidFill>
            <a:prstDash val="solid"/>
          </a:ln>
          <a:effectLst>
            <a:outerShdw sx="100000" sy="100000" kx="0" ky="0" algn="bl" rotWithShape="0" blurRad="101600" dist="25400" dir="5400000">
              <a:srgbClr val="000000">
                <a:alpha val="14000"/>
              </a:srgbClr>
            </a:outerShdw>
          </a:effectLst>
        </p:spPr>
      </p:sp>
      <p:sp>
        <p:nvSpPr>
          <p:cNvPr id="17" name="Text 14"/>
          <p:cNvSpPr txBox="1"/>
          <p:nvPr/>
        </p:nvSpPr>
        <p:spPr>
          <a:xfrm>
            <a:off x="7909560" y="4617720"/>
            <a:ext cx="3611880" cy="1463040"/>
          </a:xfrm>
          <a:prstGeom prst="rect">
            <a:avLst/>
          </a:prstGeom>
          <a:noFill/>
          <a:ln/>
        </p:spPr>
        <p:txBody>
          <a:bodyPr wrap="square" lIns="0" tIns="0" rIns="0" bIns="0" rtlCol="0" anchor="ctr"/>
          <a:lstStyle/>
          <a:p>
            <a:pPr indent="0" marL="0">
              <a:buNone/>
            </a:pPr>
            <a:r>
              <a:rPr lang="en-US" sz="1300" i="1" dirty="0">
                <a:solidFill>
                  <a:srgbClr val="10262B"/>
                </a:solidFill>
                <a:latin typeface="Calibri" pitchFamily="34" charset="0"/>
                <a:ea typeface="Calibri" pitchFamily="34" charset="-122"/>
                <a:cs typeface="Calibri" pitchFamily="34" charset="-120"/>
              </a:rPr>
              <a:t>62% is optimistic: the grammar was designed on these same 50 utterances. A held-out test set is future work.</a:t>
            </a:r>
            <a:endParaRPr lang="en-US" sz="1300" dirty="0"/>
          </a:p>
        </p:txBody>
      </p:sp>
      <p:sp>
        <p:nvSpPr>
          <p:cNvPr id="18" name="Text 15"/>
          <p:cNvSpPr txBox="1"/>
          <p:nvPr/>
        </p:nvSpPr>
        <p:spPr>
          <a:xfrm>
            <a:off x="11338560" y="6400800"/>
            <a:ext cx="457200" cy="274320"/>
          </a:xfrm>
          <a:prstGeom prst="rect">
            <a:avLst/>
          </a:prstGeom>
          <a:noFill/>
          <a:ln/>
        </p:spPr>
        <p:txBody>
          <a:bodyPr wrap="square" lIns="0" tIns="0" rIns="0" bIns="0" rtlCol="0" anchor="ctr"/>
          <a:lstStyle/>
          <a:p>
            <a:pPr algn="r" indent="0" marL="0">
              <a:buNone/>
            </a:pPr>
            <a:r>
              <a:rPr lang="en-US" sz="1100" dirty="0">
                <a:solidFill>
                  <a:srgbClr val="5B7370"/>
                </a:solidFill>
                <a:latin typeface="Calibri" pitchFamily="34" charset="0"/>
                <a:ea typeface="Calibri" pitchFamily="34" charset="-122"/>
                <a:cs typeface="Calibri" pitchFamily="34" charset="-120"/>
              </a:rPr>
              <a:t>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7F6"/>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822960"/>
          </a:xfrm>
          <a:prstGeom prst="rect">
            <a:avLst/>
          </a:prstGeom>
          <a:noFill/>
          <a:ln/>
        </p:spPr>
        <p:txBody>
          <a:bodyPr wrap="square" lIns="0" tIns="0" rIns="0" bIns="0" rtlCol="0" anchor="t"/>
          <a:lstStyle/>
          <a:p>
            <a:pPr indent="0" marL="0">
              <a:buNone/>
            </a:pPr>
            <a:r>
              <a:rPr lang="en-US" sz="3200" b="1" dirty="0">
                <a:solidFill>
                  <a:srgbClr val="10262B"/>
                </a:solidFill>
                <a:latin typeface="Cambria" pitchFamily="34" charset="0"/>
                <a:ea typeface="Cambria" pitchFamily="34" charset="-122"/>
                <a:cs typeface="Cambria" pitchFamily="34" charset="-120"/>
              </a:rPr>
              <a:t>Why Yaoundé speech resists a simple grammar</a:t>
            </a:r>
            <a:endParaRPr lang="en-US" sz="3200" dirty="0"/>
          </a:p>
        </p:txBody>
      </p:sp>
      <p:sp>
        <p:nvSpPr>
          <p:cNvPr id="3" name="Shape 1"/>
          <p:cNvSpPr/>
          <p:nvPr/>
        </p:nvSpPr>
        <p:spPr>
          <a:xfrm>
            <a:off x="9006840" y="347472"/>
            <a:ext cx="2651760" cy="384048"/>
          </a:xfrm>
          <a:prstGeom prst="roundRect">
            <a:avLst>
              <a:gd name="adj" fmla="val 50000"/>
            </a:avLst>
          </a:prstGeom>
          <a:solidFill>
            <a:srgbClr val="F5B700"/>
          </a:solidFill>
          <a:ln w="12700">
            <a:solidFill>
              <a:srgbClr val="F5B700"/>
            </a:solidFill>
            <a:prstDash val="solid"/>
          </a:ln>
        </p:spPr>
      </p:sp>
      <p:sp>
        <p:nvSpPr>
          <p:cNvPr id="4" name="Text 2"/>
          <p:cNvSpPr txBox="1"/>
          <p:nvPr/>
        </p:nvSpPr>
        <p:spPr>
          <a:xfrm>
            <a:off x="9006840" y="347472"/>
            <a:ext cx="2651760" cy="384048"/>
          </a:xfrm>
          <a:prstGeom prst="rect">
            <a:avLst/>
          </a:prstGeom>
          <a:noFill/>
          <a:ln/>
        </p:spPr>
        <p:txBody>
          <a:bodyPr wrap="square" lIns="0" tIns="0" rIns="0" bIns="0" rtlCol="0" anchor="ctr"/>
          <a:lstStyle/>
          <a:p>
            <a:pPr algn="ctr" indent="0" marL="0">
              <a:buNone/>
            </a:pPr>
            <a:r>
              <a:rPr lang="en-US" sz="1200" b="1" dirty="0">
                <a:solidFill>
                  <a:srgbClr val="0B3D38"/>
                </a:solidFill>
                <a:latin typeface="Calibri" pitchFamily="34" charset="0"/>
                <a:ea typeface="Calibri" pitchFamily="34" charset="-122"/>
                <a:cs typeface="Calibri" pitchFamily="34" charset="-120"/>
              </a:rPr>
              <a:t>Part 3  ·  Demo and results</a:t>
            </a:r>
            <a:endParaRPr lang="en-US" sz="1200" dirty="0"/>
          </a:p>
        </p:txBody>
      </p:sp>
      <p:sp>
        <p:nvSpPr>
          <p:cNvPr id="5" name="Shape 3"/>
          <p:cNvSpPr/>
          <p:nvPr/>
        </p:nvSpPr>
        <p:spPr>
          <a:xfrm>
            <a:off x="548640" y="1371600"/>
            <a:ext cx="3611880" cy="3794760"/>
          </a:xfrm>
          <a:prstGeom prst="roundRect">
            <a:avLst>
              <a:gd name="adj" fmla="val 3038"/>
            </a:avLst>
          </a:prstGeom>
          <a:solidFill>
            <a:srgbClr val="FFFFFF"/>
          </a:solidFill>
          <a:ln w="9525">
            <a:solidFill>
              <a:srgbClr val="D5E0DD"/>
            </a:solidFill>
            <a:prstDash val="solid"/>
          </a:ln>
          <a:effectLst>
            <a:outerShdw sx="100000" sy="100000" kx="0" ky="0" algn="bl" rotWithShape="0" blurRad="101600" dist="25400" dir="5400000">
              <a:srgbClr val="000000">
                <a:alpha val="14000"/>
              </a:srgbClr>
            </a:outerShdw>
          </a:effectLst>
        </p:spPr>
      </p:sp>
      <p:sp>
        <p:nvSpPr>
          <p:cNvPr id="6" name="Shape 4"/>
          <p:cNvSpPr/>
          <p:nvPr/>
        </p:nvSpPr>
        <p:spPr>
          <a:xfrm>
            <a:off x="822960" y="1600200"/>
            <a:ext cx="685800" cy="685800"/>
          </a:xfrm>
          <a:prstGeom prst="ellipse">
            <a:avLst/>
          </a:prstGeom>
          <a:solidFill>
            <a:srgbClr val="0F6B61"/>
          </a:solidFill>
          <a:ln w="12700">
            <a:solidFill>
              <a:srgbClr val="0F6B61"/>
            </a:solidFill>
            <a:prstDash val="solid"/>
          </a:ln>
        </p:spPr>
      </p:sp>
      <p:sp>
        <p:nvSpPr>
          <p:cNvPr id="7" name="Text 5"/>
          <p:cNvSpPr txBox="1"/>
          <p:nvPr/>
        </p:nvSpPr>
        <p:spPr>
          <a:xfrm>
            <a:off x="822960" y="1600200"/>
            <a:ext cx="685800" cy="68580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Aa</a:t>
            </a:r>
            <a:endParaRPr lang="en-US" sz="2000" dirty="0"/>
          </a:p>
        </p:txBody>
      </p:sp>
      <p:sp>
        <p:nvSpPr>
          <p:cNvPr id="8" name="Text 6"/>
          <p:cNvSpPr txBox="1"/>
          <p:nvPr/>
        </p:nvSpPr>
        <p:spPr>
          <a:xfrm>
            <a:off x="822960" y="2468880"/>
            <a:ext cx="3108960" cy="640080"/>
          </a:xfrm>
          <a:prstGeom prst="rect">
            <a:avLst/>
          </a:prstGeom>
          <a:noFill/>
          <a:ln/>
        </p:spPr>
        <p:txBody>
          <a:bodyPr wrap="square" lIns="0" tIns="0" rIns="0" bIns="0" rtlCol="0" anchor="t"/>
          <a:lstStyle/>
          <a:p>
            <a:pPr indent="0" marL="0">
              <a:buNone/>
            </a:pPr>
            <a:r>
              <a:rPr lang="en-US" sz="1900" b="1" dirty="0">
                <a:solidFill>
                  <a:srgbClr val="10262B"/>
                </a:solidFill>
                <a:latin typeface="Cambria" pitchFamily="34" charset="0"/>
                <a:ea typeface="Cambria" pitchFamily="34" charset="-122"/>
                <a:cs typeface="Cambria" pitchFamily="34" charset="-120"/>
              </a:rPr>
              <a:t>Unknown or noisy input</a:t>
            </a:r>
            <a:endParaRPr lang="en-US" sz="1900" dirty="0"/>
          </a:p>
        </p:txBody>
      </p:sp>
      <p:sp>
        <p:nvSpPr>
          <p:cNvPr id="9" name="Text 7"/>
          <p:cNvSpPr txBox="1"/>
          <p:nvPr/>
        </p:nvSpPr>
        <p:spPr>
          <a:xfrm>
            <a:off x="822960" y="3154680"/>
            <a:ext cx="3108960" cy="822960"/>
          </a:xfrm>
          <a:prstGeom prst="rect">
            <a:avLst/>
          </a:prstGeom>
          <a:noFill/>
          <a:ln/>
        </p:spPr>
        <p:txBody>
          <a:bodyPr wrap="square" lIns="0" tIns="0" rIns="0" bIns="0" rtlCol="0" anchor="t"/>
          <a:lstStyle/>
          <a:p>
            <a:pPr indent="0" marL="0">
              <a:buNone/>
            </a:pPr>
            <a:r>
              <a:rPr lang="en-US" sz="1200" dirty="0">
                <a:solidFill>
                  <a:srgbClr val="0F6B61"/>
                </a:solidFill>
                <a:latin typeface="Courier New" pitchFamily="34" charset="0"/>
                <a:ea typeface="Courier New" pitchFamily="34" charset="-122"/>
                <a:cs typeface="Courier New" pitchFamily="34" charset="-120"/>
              </a:rPr>
              <a:t>yacob, ns, emoji, a stray full stop</a:t>
            </a:r>
            <a:endParaRPr lang="en-US" sz="1200" dirty="0"/>
          </a:p>
        </p:txBody>
      </p:sp>
      <p:sp>
        <p:nvSpPr>
          <p:cNvPr id="10" name="Text 8"/>
          <p:cNvSpPr txBox="1"/>
          <p:nvPr/>
        </p:nvSpPr>
        <p:spPr>
          <a:xfrm>
            <a:off x="822960" y="4023360"/>
            <a:ext cx="3108960" cy="1005840"/>
          </a:xfrm>
          <a:prstGeom prst="rect">
            <a:avLst/>
          </a:prstGeom>
          <a:noFill/>
          <a:ln/>
        </p:spPr>
        <p:txBody>
          <a:bodyPr wrap="square" lIns="0" tIns="0" rIns="0" bIns="0" rtlCol="0" anchor="t"/>
          <a:lstStyle/>
          <a:p>
            <a:pPr indent="0" marL="0">
              <a:buNone/>
            </a:pPr>
            <a:r>
              <a:rPr lang="en-US" sz="1400" dirty="0">
                <a:solidFill>
                  <a:srgbClr val="5B7370"/>
                </a:solidFill>
                <a:latin typeface="Calibri" pitchFamily="34" charset="0"/>
                <a:ea typeface="Calibri" pitchFamily="34" charset="-122"/>
                <a:cs typeface="Calibri" pitchFamily="34" charset="-120"/>
              </a:rPr>
              <a:t>Caught by the lexer as unknown words or invalid characters.</a:t>
            </a:r>
            <a:endParaRPr lang="en-US" sz="1400" dirty="0"/>
          </a:p>
        </p:txBody>
      </p:sp>
      <p:sp>
        <p:nvSpPr>
          <p:cNvPr id="11" name="Shape 9"/>
          <p:cNvSpPr/>
          <p:nvPr/>
        </p:nvSpPr>
        <p:spPr>
          <a:xfrm>
            <a:off x="4297680" y="1371600"/>
            <a:ext cx="3611880" cy="3794760"/>
          </a:xfrm>
          <a:prstGeom prst="roundRect">
            <a:avLst>
              <a:gd name="adj" fmla="val 3038"/>
            </a:avLst>
          </a:prstGeom>
          <a:solidFill>
            <a:srgbClr val="FFFFFF"/>
          </a:solidFill>
          <a:ln w="9525">
            <a:solidFill>
              <a:srgbClr val="D5E0DD"/>
            </a:solidFill>
            <a:prstDash val="solid"/>
          </a:ln>
          <a:effectLst>
            <a:outerShdw sx="100000" sy="100000" kx="0" ky="0" algn="bl" rotWithShape="0" blurRad="101600" dist="25400" dir="5400000">
              <a:srgbClr val="000000">
                <a:alpha val="14000"/>
              </a:srgbClr>
            </a:outerShdw>
          </a:effectLst>
        </p:spPr>
      </p:sp>
      <p:sp>
        <p:nvSpPr>
          <p:cNvPr id="12" name="Shape 10"/>
          <p:cNvSpPr/>
          <p:nvPr/>
        </p:nvSpPr>
        <p:spPr>
          <a:xfrm>
            <a:off x="4572000" y="1600200"/>
            <a:ext cx="685800" cy="685800"/>
          </a:xfrm>
          <a:prstGeom prst="ellipse">
            <a:avLst/>
          </a:prstGeom>
          <a:solidFill>
            <a:srgbClr val="F5B700"/>
          </a:solidFill>
          <a:ln w="12700">
            <a:solidFill>
              <a:srgbClr val="F5B700"/>
            </a:solidFill>
            <a:prstDash val="solid"/>
          </a:ln>
        </p:spPr>
      </p:sp>
      <p:sp>
        <p:nvSpPr>
          <p:cNvPr id="13" name="Text 11"/>
          <p:cNvSpPr txBox="1"/>
          <p:nvPr/>
        </p:nvSpPr>
        <p:spPr>
          <a:xfrm>
            <a:off x="4572000" y="1600200"/>
            <a:ext cx="685800" cy="685800"/>
          </a:xfrm>
          <a:prstGeom prst="rect">
            <a:avLst/>
          </a:prstGeom>
          <a:noFill/>
          <a:ln/>
        </p:spPr>
        <p:txBody>
          <a:bodyPr wrap="square" lIns="0" tIns="0" rIns="0" bIns="0" rtlCol="0" anchor="ctr"/>
          <a:lstStyle/>
          <a:p>
            <a:pPr algn="ctr" indent="0" marL="0">
              <a:buNone/>
            </a:pPr>
            <a:r>
              <a:rPr lang="en-US" sz="2000" b="1" dirty="0">
                <a:solidFill>
                  <a:srgbClr val="0B3D38"/>
                </a:solidFill>
                <a:latin typeface="Cambria" pitchFamily="34" charset="0"/>
                <a:ea typeface="Cambria" pitchFamily="34" charset="-122"/>
                <a:cs typeface="Cambria" pitchFamily="34" charset="-120"/>
              </a:rPr>
              <a:t>?</a:t>
            </a:r>
            <a:endParaRPr lang="en-US" sz="2000" dirty="0"/>
          </a:p>
        </p:txBody>
      </p:sp>
      <p:sp>
        <p:nvSpPr>
          <p:cNvPr id="14" name="Text 12"/>
          <p:cNvSpPr txBox="1"/>
          <p:nvPr/>
        </p:nvSpPr>
        <p:spPr>
          <a:xfrm>
            <a:off x="4572000" y="2468880"/>
            <a:ext cx="3108960" cy="640080"/>
          </a:xfrm>
          <a:prstGeom prst="rect">
            <a:avLst/>
          </a:prstGeom>
          <a:noFill/>
          <a:ln/>
        </p:spPr>
        <p:txBody>
          <a:bodyPr wrap="square" lIns="0" tIns="0" rIns="0" bIns="0" rtlCol="0" anchor="t"/>
          <a:lstStyle/>
          <a:p>
            <a:pPr indent="0" marL="0">
              <a:buNone/>
            </a:pPr>
            <a:r>
              <a:rPr lang="en-US" sz="1900" b="1" dirty="0">
                <a:solidFill>
                  <a:srgbClr val="10262B"/>
                </a:solidFill>
                <a:latin typeface="Cambria" pitchFamily="34" charset="0"/>
                <a:ea typeface="Cambria" pitchFamily="34" charset="-122"/>
                <a:cs typeface="Cambria" pitchFamily="34" charset="-120"/>
              </a:rPr>
              <a:t>One word, several roles</a:t>
            </a:r>
            <a:endParaRPr lang="en-US" sz="1900" dirty="0"/>
          </a:p>
        </p:txBody>
      </p:sp>
      <p:sp>
        <p:nvSpPr>
          <p:cNvPr id="15" name="Text 13"/>
          <p:cNvSpPr txBox="1"/>
          <p:nvPr/>
        </p:nvSpPr>
        <p:spPr>
          <a:xfrm>
            <a:off x="4572000" y="3154680"/>
            <a:ext cx="3108960" cy="822960"/>
          </a:xfrm>
          <a:prstGeom prst="rect">
            <a:avLst/>
          </a:prstGeom>
          <a:noFill/>
          <a:ln/>
        </p:spPr>
        <p:txBody>
          <a:bodyPr wrap="square" lIns="0" tIns="0" rIns="0" bIns="0" rtlCol="0" anchor="t"/>
          <a:lstStyle/>
          <a:p>
            <a:pPr indent="0" marL="0">
              <a:buNone/>
            </a:pPr>
            <a:r>
              <a:rPr lang="en-US" sz="1200" dirty="0">
                <a:solidFill>
                  <a:srgbClr val="0F6B61"/>
                </a:solidFill>
                <a:latin typeface="Courier New" pitchFamily="34" charset="0"/>
                <a:ea typeface="Courier New" pitchFamily="34" charset="-122"/>
                <a:cs typeface="Courier New" pitchFamily="34" charset="-120"/>
              </a:rPr>
              <a:t>la (the / there), chop (eat / food), dey, na</a:t>
            </a:r>
            <a:endParaRPr lang="en-US" sz="1200" dirty="0"/>
          </a:p>
        </p:txBody>
      </p:sp>
      <p:sp>
        <p:nvSpPr>
          <p:cNvPr id="16" name="Text 14"/>
          <p:cNvSpPr txBox="1"/>
          <p:nvPr/>
        </p:nvSpPr>
        <p:spPr>
          <a:xfrm>
            <a:off x="4572000" y="4023360"/>
            <a:ext cx="3108960" cy="1005840"/>
          </a:xfrm>
          <a:prstGeom prst="rect">
            <a:avLst/>
          </a:prstGeom>
          <a:noFill/>
          <a:ln/>
        </p:spPr>
        <p:txBody>
          <a:bodyPr wrap="square" lIns="0" tIns="0" rIns="0" bIns="0" rtlCol="0" anchor="t"/>
          <a:lstStyle/>
          <a:p>
            <a:pPr indent="0" marL="0">
              <a:buNone/>
            </a:pPr>
            <a:r>
              <a:rPr lang="en-US" sz="1400" dirty="0">
                <a:solidFill>
                  <a:srgbClr val="5B7370"/>
                </a:solidFill>
                <a:latin typeface="Calibri" pitchFamily="34" charset="0"/>
                <a:ea typeface="Calibri" pitchFamily="34" charset="-122"/>
                <a:cs typeface="Calibri" pitchFamily="34" charset="-120"/>
              </a:rPr>
              <a:t>One tag per word cannot tell which role is meant.</a:t>
            </a:r>
            <a:endParaRPr lang="en-US" sz="1400" dirty="0"/>
          </a:p>
        </p:txBody>
      </p:sp>
      <p:sp>
        <p:nvSpPr>
          <p:cNvPr id="17" name="Shape 15"/>
          <p:cNvSpPr/>
          <p:nvPr/>
        </p:nvSpPr>
        <p:spPr>
          <a:xfrm>
            <a:off x="8046720" y="1371600"/>
            <a:ext cx="3611880" cy="3794760"/>
          </a:xfrm>
          <a:prstGeom prst="roundRect">
            <a:avLst>
              <a:gd name="adj" fmla="val 3038"/>
            </a:avLst>
          </a:prstGeom>
          <a:solidFill>
            <a:srgbClr val="FFFFFF"/>
          </a:solidFill>
          <a:ln w="9525">
            <a:solidFill>
              <a:srgbClr val="D5E0DD"/>
            </a:solidFill>
            <a:prstDash val="solid"/>
          </a:ln>
          <a:effectLst>
            <a:outerShdw sx="100000" sy="100000" kx="0" ky="0" algn="bl" rotWithShape="0" blurRad="101600" dist="25400" dir="5400000">
              <a:srgbClr val="000000">
                <a:alpha val="14000"/>
              </a:srgbClr>
            </a:outerShdw>
          </a:effectLst>
        </p:spPr>
      </p:sp>
      <p:sp>
        <p:nvSpPr>
          <p:cNvPr id="18" name="Shape 16"/>
          <p:cNvSpPr/>
          <p:nvPr/>
        </p:nvSpPr>
        <p:spPr>
          <a:xfrm>
            <a:off x="8321040" y="1600200"/>
            <a:ext cx="685800" cy="685800"/>
          </a:xfrm>
          <a:prstGeom prst="ellipse">
            <a:avLst/>
          </a:prstGeom>
          <a:solidFill>
            <a:srgbClr val="0F6B61"/>
          </a:solidFill>
          <a:ln w="12700">
            <a:solidFill>
              <a:srgbClr val="0F6B61"/>
            </a:solidFill>
            <a:prstDash val="solid"/>
          </a:ln>
        </p:spPr>
      </p:sp>
      <p:sp>
        <p:nvSpPr>
          <p:cNvPr id="19" name="Text 17"/>
          <p:cNvSpPr txBox="1"/>
          <p:nvPr/>
        </p:nvSpPr>
        <p:spPr>
          <a:xfrm>
            <a:off x="8321040" y="1600200"/>
            <a:ext cx="685800" cy="68580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a:t>
            </a:r>
            <a:endParaRPr lang="en-US" sz="2000" dirty="0"/>
          </a:p>
        </p:txBody>
      </p:sp>
      <p:sp>
        <p:nvSpPr>
          <p:cNvPr id="20" name="Text 18"/>
          <p:cNvSpPr txBox="1"/>
          <p:nvPr/>
        </p:nvSpPr>
        <p:spPr>
          <a:xfrm>
            <a:off x="8321040" y="2468880"/>
            <a:ext cx="3108960" cy="640080"/>
          </a:xfrm>
          <a:prstGeom prst="rect">
            <a:avLst/>
          </a:prstGeom>
          <a:noFill/>
          <a:ln/>
        </p:spPr>
        <p:txBody>
          <a:bodyPr wrap="square" lIns="0" tIns="0" rIns="0" bIns="0" rtlCol="0" anchor="t"/>
          <a:lstStyle/>
          <a:p>
            <a:pPr indent="0" marL="0">
              <a:buNone/>
            </a:pPr>
            <a:r>
              <a:rPr lang="en-US" sz="1900" b="1" dirty="0">
                <a:solidFill>
                  <a:srgbClr val="10262B"/>
                </a:solidFill>
                <a:latin typeface="Cambria" pitchFamily="34" charset="0"/>
                <a:ea typeface="Cambria" pitchFamily="34" charset="-122"/>
                <a:cs typeface="Cambria" pitchFamily="34" charset="-120"/>
              </a:rPr>
              <a:t>Shapes we do not model</a:t>
            </a:r>
            <a:endParaRPr lang="en-US" sz="1900" dirty="0"/>
          </a:p>
        </p:txBody>
      </p:sp>
      <p:sp>
        <p:nvSpPr>
          <p:cNvPr id="21" name="Text 19"/>
          <p:cNvSpPr txBox="1"/>
          <p:nvPr/>
        </p:nvSpPr>
        <p:spPr>
          <a:xfrm>
            <a:off x="8321040" y="3154680"/>
            <a:ext cx="3108960" cy="822960"/>
          </a:xfrm>
          <a:prstGeom prst="rect">
            <a:avLst/>
          </a:prstGeom>
          <a:noFill/>
          <a:ln/>
        </p:spPr>
        <p:txBody>
          <a:bodyPr wrap="square" lIns="0" tIns="0" rIns="0" bIns="0" rtlCol="0" anchor="t"/>
          <a:lstStyle/>
          <a:p>
            <a:pPr indent="0" marL="0">
              <a:buNone/>
            </a:pPr>
            <a:r>
              <a:rPr lang="en-US" sz="1200" dirty="0">
                <a:solidFill>
                  <a:srgbClr val="0F6B61"/>
                </a:solidFill>
                <a:latin typeface="Courier New" pitchFamily="34" charset="0"/>
                <a:ea typeface="Courier New" pitchFamily="34" charset="-122"/>
                <a:cs typeface="Courier New" pitchFamily="34" charset="-120"/>
              </a:rPr>
              <a:t>serial verbs (Venez me tromper), wh-clefts, floating “tous”</a:t>
            </a:r>
            <a:endParaRPr lang="en-US" sz="1200" dirty="0"/>
          </a:p>
        </p:txBody>
      </p:sp>
      <p:sp>
        <p:nvSpPr>
          <p:cNvPr id="22" name="Text 20"/>
          <p:cNvSpPr txBox="1"/>
          <p:nvPr/>
        </p:nvSpPr>
        <p:spPr>
          <a:xfrm>
            <a:off x="8321040" y="4023360"/>
            <a:ext cx="3108960" cy="1005840"/>
          </a:xfrm>
          <a:prstGeom prst="rect">
            <a:avLst/>
          </a:prstGeom>
          <a:noFill/>
          <a:ln/>
        </p:spPr>
        <p:txBody>
          <a:bodyPr wrap="square" lIns="0" tIns="0" rIns="0" bIns="0" rtlCol="0" anchor="t"/>
          <a:lstStyle/>
          <a:p>
            <a:pPr indent="0" marL="0">
              <a:buNone/>
            </a:pPr>
            <a:r>
              <a:rPr lang="en-US" sz="1400" dirty="0">
                <a:solidFill>
                  <a:srgbClr val="5B7370"/>
                </a:solidFill>
                <a:latin typeface="Calibri" pitchFamily="34" charset="0"/>
                <a:ea typeface="Calibri" pitchFamily="34" charset="-122"/>
                <a:cs typeface="Calibri" pitchFamily="34" charset="-120"/>
              </a:rPr>
              <a:t>Valid speech outside our grammar fragment.</a:t>
            </a:r>
            <a:endParaRPr lang="en-US" sz="1400" dirty="0"/>
          </a:p>
        </p:txBody>
      </p:sp>
      <p:sp>
        <p:nvSpPr>
          <p:cNvPr id="23" name="Shape 21"/>
          <p:cNvSpPr/>
          <p:nvPr/>
        </p:nvSpPr>
        <p:spPr>
          <a:xfrm>
            <a:off x="548640" y="5394960"/>
            <a:ext cx="11091672" cy="868680"/>
          </a:xfrm>
          <a:prstGeom prst="roundRect">
            <a:avLst>
              <a:gd name="adj" fmla="val 12632"/>
            </a:avLst>
          </a:prstGeom>
          <a:solidFill>
            <a:srgbClr val="0B3D38"/>
          </a:solidFill>
          <a:ln w="9525">
            <a:solidFill>
              <a:srgbClr val="D5E0DD"/>
            </a:solidFill>
            <a:prstDash val="solid"/>
          </a:ln>
          <a:effectLst>
            <a:outerShdw sx="100000" sy="100000" kx="0" ky="0" algn="bl" rotWithShape="0" blurRad="101600" dist="25400" dir="5400000">
              <a:srgbClr val="000000">
                <a:alpha val="14000"/>
              </a:srgbClr>
            </a:outerShdw>
          </a:effectLst>
        </p:spPr>
      </p:sp>
      <p:sp>
        <p:nvSpPr>
          <p:cNvPr id="24" name="Text 22"/>
          <p:cNvSpPr txBox="1"/>
          <p:nvPr/>
        </p:nvSpPr>
        <p:spPr>
          <a:xfrm>
            <a:off x="822960" y="5394960"/>
            <a:ext cx="10515600" cy="868680"/>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Only 43% of tagged words are English, and 74% of utterances mix languages. A fixed grammar and lexicon age fast.</a:t>
            </a:r>
            <a:endParaRPr lang="en-US" sz="1900" dirty="0"/>
          </a:p>
        </p:txBody>
      </p:sp>
      <p:sp>
        <p:nvSpPr>
          <p:cNvPr id="25" name="Text 23"/>
          <p:cNvSpPr txBox="1"/>
          <p:nvPr/>
        </p:nvSpPr>
        <p:spPr>
          <a:xfrm>
            <a:off x="11338560" y="6400800"/>
            <a:ext cx="457200" cy="274320"/>
          </a:xfrm>
          <a:prstGeom prst="rect">
            <a:avLst/>
          </a:prstGeom>
          <a:noFill/>
          <a:ln/>
        </p:spPr>
        <p:txBody>
          <a:bodyPr wrap="square" lIns="0" tIns="0" rIns="0" bIns="0" rtlCol="0" anchor="ctr"/>
          <a:lstStyle/>
          <a:p>
            <a:pPr algn="r" indent="0" marL="0">
              <a:buNone/>
            </a:pPr>
            <a:r>
              <a:rPr lang="en-US" sz="1100" dirty="0">
                <a:solidFill>
                  <a:srgbClr val="5B7370"/>
                </a:solidFill>
                <a:latin typeface="Calibri" pitchFamily="34" charset="0"/>
                <a:ea typeface="Calibri" pitchFamily="34" charset="-122"/>
                <a:cs typeface="Calibri" pitchFamily="34" charset="-120"/>
              </a:rPr>
              <a:t>11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3D38"/>
        </a:solidFill>
      </p:bgPr>
    </p:bg>
    <p:spTree>
      <p:nvGrpSpPr>
        <p:cNvPr id="1" name=""/>
        <p:cNvGrpSpPr/>
        <p:nvPr/>
      </p:nvGrpSpPr>
      <p:grpSpPr>
        <a:xfrm>
          <a:off x="0" y="0"/>
          <a:ext cx="0" cy="0"/>
          <a:chOff x="0" y="0"/>
          <a:chExt cx="0" cy="0"/>
        </a:xfrm>
      </p:grpSpPr>
      <p:sp>
        <p:nvSpPr>
          <p:cNvPr id="2" name="Text 0"/>
          <p:cNvSpPr txBox="1"/>
          <p:nvPr/>
        </p:nvSpPr>
        <p:spPr>
          <a:xfrm>
            <a:off x="640080" y="457200"/>
            <a:ext cx="7315200" cy="73152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What we built</a:t>
            </a:r>
            <a:endParaRPr lang="en-US" sz="3600" dirty="0"/>
          </a:p>
        </p:txBody>
      </p:sp>
      <p:sp>
        <p:nvSpPr>
          <p:cNvPr id="3" name="Shape 1"/>
          <p:cNvSpPr/>
          <p:nvPr/>
        </p:nvSpPr>
        <p:spPr>
          <a:xfrm>
            <a:off x="9006840" y="347472"/>
            <a:ext cx="2651760" cy="384048"/>
          </a:xfrm>
          <a:prstGeom prst="roundRect">
            <a:avLst>
              <a:gd name="adj" fmla="val 50000"/>
            </a:avLst>
          </a:prstGeom>
          <a:solidFill>
            <a:srgbClr val="F5B700"/>
          </a:solidFill>
          <a:ln w="12700">
            <a:solidFill>
              <a:srgbClr val="F5B700"/>
            </a:solidFill>
            <a:prstDash val="solid"/>
          </a:ln>
        </p:spPr>
      </p:sp>
      <p:sp>
        <p:nvSpPr>
          <p:cNvPr id="4" name="Text 2"/>
          <p:cNvSpPr txBox="1"/>
          <p:nvPr/>
        </p:nvSpPr>
        <p:spPr>
          <a:xfrm>
            <a:off x="9006840" y="347472"/>
            <a:ext cx="2651760" cy="384048"/>
          </a:xfrm>
          <a:prstGeom prst="rect">
            <a:avLst/>
          </a:prstGeom>
          <a:noFill/>
          <a:ln/>
        </p:spPr>
        <p:txBody>
          <a:bodyPr wrap="square" lIns="0" tIns="0" rIns="0" bIns="0" rtlCol="0" anchor="ctr"/>
          <a:lstStyle/>
          <a:p>
            <a:pPr algn="ctr" indent="0" marL="0">
              <a:buNone/>
            </a:pPr>
            <a:r>
              <a:rPr lang="en-US" sz="1200" b="1" dirty="0">
                <a:solidFill>
                  <a:srgbClr val="0B3D38"/>
                </a:solidFill>
                <a:latin typeface="Calibri" pitchFamily="34" charset="0"/>
                <a:ea typeface="Calibri" pitchFamily="34" charset="-122"/>
                <a:cs typeface="Calibri" pitchFamily="34" charset="-120"/>
              </a:rPr>
              <a:t>Part 3  ·  Demo and results</a:t>
            </a:r>
            <a:endParaRPr lang="en-US" sz="1200" dirty="0"/>
          </a:p>
        </p:txBody>
      </p:sp>
      <p:sp>
        <p:nvSpPr>
          <p:cNvPr id="5" name="Shape 3"/>
          <p:cNvSpPr/>
          <p:nvPr/>
        </p:nvSpPr>
        <p:spPr>
          <a:xfrm>
            <a:off x="640080" y="1645920"/>
            <a:ext cx="640080" cy="640080"/>
          </a:xfrm>
          <a:prstGeom prst="ellipse">
            <a:avLst/>
          </a:prstGeom>
          <a:solidFill>
            <a:srgbClr val="F5B700"/>
          </a:solidFill>
          <a:ln w="12700">
            <a:solidFill>
              <a:srgbClr val="F5B700"/>
            </a:solidFill>
            <a:prstDash val="solid"/>
          </a:ln>
        </p:spPr>
      </p:sp>
      <p:sp>
        <p:nvSpPr>
          <p:cNvPr id="6" name="Text 4"/>
          <p:cNvSpPr txBox="1"/>
          <p:nvPr/>
        </p:nvSpPr>
        <p:spPr>
          <a:xfrm>
            <a:off x="640080" y="1645920"/>
            <a:ext cx="640080" cy="640080"/>
          </a:xfrm>
          <a:prstGeom prst="rect">
            <a:avLst/>
          </a:prstGeom>
          <a:noFill/>
          <a:ln/>
        </p:spPr>
        <p:txBody>
          <a:bodyPr wrap="square" lIns="0" tIns="0" rIns="0" bIns="0" rtlCol="0" anchor="ctr"/>
          <a:lstStyle/>
          <a:p>
            <a:pPr algn="ctr" indent="0" marL="0">
              <a:buNone/>
            </a:pPr>
            <a:r>
              <a:rPr lang="en-US" sz="2000" b="1" dirty="0">
                <a:solidFill>
                  <a:srgbClr val="0B3D38"/>
                </a:solidFill>
                <a:latin typeface="Cambria" pitchFamily="34" charset="0"/>
                <a:ea typeface="Cambria" pitchFamily="34" charset="-122"/>
                <a:cs typeface="Cambria" pitchFamily="34" charset="-120"/>
              </a:rPr>
              <a:t>1</a:t>
            </a:r>
            <a:endParaRPr lang="en-US" sz="2000" dirty="0"/>
          </a:p>
        </p:txBody>
      </p:sp>
      <p:sp>
        <p:nvSpPr>
          <p:cNvPr id="7" name="Text 5"/>
          <p:cNvSpPr txBox="1"/>
          <p:nvPr/>
        </p:nvSpPr>
        <p:spPr>
          <a:xfrm>
            <a:off x="1463040" y="1554480"/>
            <a:ext cx="9144000" cy="45720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A data-driven lexer</a:t>
            </a:r>
            <a:endParaRPr lang="en-US" sz="2400" dirty="0"/>
          </a:p>
        </p:txBody>
      </p:sp>
      <p:sp>
        <p:nvSpPr>
          <p:cNvPr id="8" name="Text 6"/>
          <p:cNvSpPr txBox="1"/>
          <p:nvPr/>
        </p:nvSpPr>
        <p:spPr>
          <a:xfrm>
            <a:off x="1463040" y="2057400"/>
            <a:ext cx="9692640" cy="640080"/>
          </a:xfrm>
          <a:prstGeom prst="rect">
            <a:avLst/>
          </a:prstGeom>
          <a:noFill/>
          <a:ln/>
        </p:spPr>
        <p:txBody>
          <a:bodyPr wrap="square" lIns="0" tIns="0" rIns="0" bIns="0" rtlCol="0" anchor="t"/>
          <a:lstStyle/>
          <a:p>
            <a:pPr indent="0" marL="0">
              <a:buNone/>
            </a:pPr>
            <a:r>
              <a:rPr lang="en-US" sz="1700" dirty="0">
                <a:solidFill>
                  <a:srgbClr val="CFE7E2"/>
                </a:solidFill>
                <a:latin typeface="Calibri" pitchFamily="34" charset="0"/>
                <a:ea typeface="Calibri" pitchFamily="34" charset="-122"/>
                <a:cs typeface="Calibri" pitchFamily="34" charset="-120"/>
              </a:rPr>
              <a:t>One regular expression per token type, language tags, and a vocabulary you can edit.</a:t>
            </a:r>
            <a:endParaRPr lang="en-US" sz="1700" dirty="0"/>
          </a:p>
        </p:txBody>
      </p:sp>
      <p:sp>
        <p:nvSpPr>
          <p:cNvPr id="9" name="Shape 7"/>
          <p:cNvSpPr/>
          <p:nvPr/>
        </p:nvSpPr>
        <p:spPr>
          <a:xfrm>
            <a:off x="640080" y="3017520"/>
            <a:ext cx="640080" cy="640080"/>
          </a:xfrm>
          <a:prstGeom prst="ellipse">
            <a:avLst/>
          </a:prstGeom>
          <a:solidFill>
            <a:srgbClr val="F5B700"/>
          </a:solidFill>
          <a:ln w="12700">
            <a:solidFill>
              <a:srgbClr val="F5B700"/>
            </a:solidFill>
            <a:prstDash val="solid"/>
          </a:ln>
        </p:spPr>
      </p:sp>
      <p:sp>
        <p:nvSpPr>
          <p:cNvPr id="10" name="Text 8"/>
          <p:cNvSpPr txBox="1"/>
          <p:nvPr/>
        </p:nvSpPr>
        <p:spPr>
          <a:xfrm>
            <a:off x="640080" y="3017520"/>
            <a:ext cx="640080" cy="640080"/>
          </a:xfrm>
          <a:prstGeom prst="rect">
            <a:avLst/>
          </a:prstGeom>
          <a:noFill/>
          <a:ln/>
        </p:spPr>
        <p:txBody>
          <a:bodyPr wrap="square" lIns="0" tIns="0" rIns="0" bIns="0" rtlCol="0" anchor="ctr"/>
          <a:lstStyle/>
          <a:p>
            <a:pPr algn="ctr" indent="0" marL="0">
              <a:buNone/>
            </a:pPr>
            <a:r>
              <a:rPr lang="en-US" sz="2000" b="1" dirty="0">
                <a:solidFill>
                  <a:srgbClr val="0B3D38"/>
                </a:solidFill>
                <a:latin typeface="Cambria" pitchFamily="34" charset="0"/>
                <a:ea typeface="Cambria" pitchFamily="34" charset="-122"/>
                <a:cs typeface="Cambria" pitchFamily="34" charset="-120"/>
              </a:rPr>
              <a:t>2</a:t>
            </a:r>
            <a:endParaRPr lang="en-US" sz="2000" dirty="0"/>
          </a:p>
        </p:txBody>
      </p:sp>
      <p:sp>
        <p:nvSpPr>
          <p:cNvPr id="11" name="Text 9"/>
          <p:cNvSpPr txBox="1"/>
          <p:nvPr/>
        </p:nvSpPr>
        <p:spPr>
          <a:xfrm>
            <a:off x="1463040" y="2926080"/>
            <a:ext cx="9144000" cy="45720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A real LL(1) pipeline</a:t>
            </a:r>
            <a:endParaRPr lang="en-US" sz="2400" dirty="0"/>
          </a:p>
        </p:txBody>
      </p:sp>
      <p:sp>
        <p:nvSpPr>
          <p:cNvPr id="12" name="Text 10"/>
          <p:cNvSpPr txBox="1"/>
          <p:nvPr/>
        </p:nvSpPr>
        <p:spPr>
          <a:xfrm>
            <a:off x="1463040" y="3429000"/>
            <a:ext cx="9692640" cy="640080"/>
          </a:xfrm>
          <a:prstGeom prst="rect">
            <a:avLst/>
          </a:prstGeom>
          <a:noFill/>
          <a:ln/>
        </p:spPr>
        <p:txBody>
          <a:bodyPr wrap="square" lIns="0" tIns="0" rIns="0" bIns="0" rtlCol="0" anchor="t"/>
          <a:lstStyle/>
          <a:p>
            <a:pPr indent="0" marL="0">
              <a:buNone/>
            </a:pPr>
            <a:r>
              <a:rPr lang="en-US" sz="1700" dirty="0">
                <a:solidFill>
                  <a:srgbClr val="CFE7E2"/>
                </a:solidFill>
                <a:latin typeface="Calibri" pitchFamily="34" charset="0"/>
                <a:ea typeface="Calibri" pitchFamily="34" charset="-122"/>
                <a:cs typeface="Calibri" pitchFamily="34" charset="-120"/>
              </a:rPr>
              <a:t>Left recursion removed, left factoring, FIRST/FOLLOW and a conflict-free table drive the parser.</a:t>
            </a:r>
            <a:endParaRPr lang="en-US" sz="1700" dirty="0"/>
          </a:p>
        </p:txBody>
      </p:sp>
      <p:sp>
        <p:nvSpPr>
          <p:cNvPr id="13" name="Shape 11"/>
          <p:cNvSpPr/>
          <p:nvPr/>
        </p:nvSpPr>
        <p:spPr>
          <a:xfrm>
            <a:off x="640080" y="4389120"/>
            <a:ext cx="640080" cy="640080"/>
          </a:xfrm>
          <a:prstGeom prst="ellipse">
            <a:avLst/>
          </a:prstGeom>
          <a:solidFill>
            <a:srgbClr val="F5B700"/>
          </a:solidFill>
          <a:ln w="12700">
            <a:solidFill>
              <a:srgbClr val="F5B700"/>
            </a:solidFill>
            <a:prstDash val="solid"/>
          </a:ln>
        </p:spPr>
      </p:sp>
      <p:sp>
        <p:nvSpPr>
          <p:cNvPr id="14" name="Text 12"/>
          <p:cNvSpPr txBox="1"/>
          <p:nvPr/>
        </p:nvSpPr>
        <p:spPr>
          <a:xfrm>
            <a:off x="640080" y="4389120"/>
            <a:ext cx="640080" cy="640080"/>
          </a:xfrm>
          <a:prstGeom prst="rect">
            <a:avLst/>
          </a:prstGeom>
          <a:noFill/>
          <a:ln/>
        </p:spPr>
        <p:txBody>
          <a:bodyPr wrap="square" lIns="0" tIns="0" rIns="0" bIns="0" rtlCol="0" anchor="ctr"/>
          <a:lstStyle/>
          <a:p>
            <a:pPr algn="ctr" indent="0" marL="0">
              <a:buNone/>
            </a:pPr>
            <a:r>
              <a:rPr lang="en-US" sz="2000" b="1" dirty="0">
                <a:solidFill>
                  <a:srgbClr val="0B3D38"/>
                </a:solidFill>
                <a:latin typeface="Cambria" pitchFamily="34" charset="0"/>
                <a:ea typeface="Cambria" pitchFamily="34" charset="-122"/>
                <a:cs typeface="Cambria" pitchFamily="34" charset="-120"/>
              </a:rPr>
              <a:t>3</a:t>
            </a:r>
            <a:endParaRPr lang="en-US" sz="2000" dirty="0"/>
          </a:p>
        </p:txBody>
      </p:sp>
      <p:sp>
        <p:nvSpPr>
          <p:cNvPr id="15" name="Text 13"/>
          <p:cNvSpPr txBox="1"/>
          <p:nvPr/>
        </p:nvSpPr>
        <p:spPr>
          <a:xfrm>
            <a:off x="1463040" y="4297680"/>
            <a:ext cx="9144000" cy="45720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Honest results</a:t>
            </a:r>
            <a:endParaRPr lang="en-US" sz="2400" dirty="0"/>
          </a:p>
        </p:txBody>
      </p:sp>
      <p:sp>
        <p:nvSpPr>
          <p:cNvPr id="16" name="Text 14"/>
          <p:cNvSpPr txBox="1"/>
          <p:nvPr/>
        </p:nvSpPr>
        <p:spPr>
          <a:xfrm>
            <a:off x="1463040" y="4800600"/>
            <a:ext cx="9692640" cy="640080"/>
          </a:xfrm>
          <a:prstGeom prst="rect">
            <a:avLst/>
          </a:prstGeom>
          <a:noFill/>
          <a:ln/>
        </p:spPr>
        <p:txBody>
          <a:bodyPr wrap="square" lIns="0" tIns="0" rIns="0" bIns="0" rtlCol="0" anchor="t"/>
          <a:lstStyle/>
          <a:p>
            <a:pPr indent="0" marL="0">
              <a:buNone/>
            </a:pPr>
            <a:r>
              <a:rPr lang="en-US" sz="1700" dirty="0">
                <a:solidFill>
                  <a:srgbClr val="CFE7E2"/>
                </a:solidFill>
                <a:latin typeface="Calibri" pitchFamily="34" charset="0"/>
                <a:ea typeface="Calibri" pitchFamily="34" charset="-122"/>
                <a:cs typeface="Calibri" pitchFamily="34" charset="-120"/>
              </a:rPr>
              <a:t>31 of 50 accepted; every rejection explained. Next: spoken data, contextual tagging, a held-out test.</a:t>
            </a:r>
            <a:endParaRPr lang="en-US" sz="1700" dirty="0"/>
          </a:p>
        </p:txBody>
      </p:sp>
      <p:sp>
        <p:nvSpPr>
          <p:cNvPr id="17" name="Text 15"/>
          <p:cNvSpPr txBox="1"/>
          <p:nvPr/>
        </p:nvSpPr>
        <p:spPr>
          <a:xfrm>
            <a:off x="640080" y="5669280"/>
            <a:ext cx="6400800" cy="640080"/>
          </a:xfrm>
          <a:prstGeom prst="rect">
            <a:avLst/>
          </a:prstGeom>
          <a:noFill/>
          <a:ln/>
        </p:spPr>
        <p:txBody>
          <a:bodyPr wrap="square" lIns="0" tIns="0" rIns="0" bIns="0" rtlCol="0" anchor="ctr"/>
          <a:lstStyle/>
          <a:p>
            <a:pPr indent="0" marL="0">
              <a:buNone/>
            </a:pPr>
            <a:r>
              <a:rPr lang="en-US" sz="3000" b="1" dirty="0">
                <a:solidFill>
                  <a:srgbClr val="F5B700"/>
                </a:solidFill>
                <a:latin typeface="Cambria" pitchFamily="34" charset="0"/>
                <a:ea typeface="Cambria" pitchFamily="34" charset="-122"/>
                <a:cs typeface="Cambria" pitchFamily="34" charset="-120"/>
              </a:rPr>
              <a:t>Thank you. Questions?</a:t>
            </a:r>
            <a:endParaRPr lang="en-US" sz="3000" dirty="0"/>
          </a:p>
        </p:txBody>
      </p:sp>
      <p:sp>
        <p:nvSpPr>
          <p:cNvPr id="18" name="Text 16"/>
          <p:cNvSpPr txBox="1"/>
          <p:nvPr/>
        </p:nvSpPr>
        <p:spPr>
          <a:xfrm>
            <a:off x="6309360" y="5852160"/>
            <a:ext cx="5303520" cy="365760"/>
          </a:xfrm>
          <a:prstGeom prst="rect">
            <a:avLst/>
          </a:prstGeom>
          <a:noFill/>
          <a:ln/>
        </p:spPr>
        <p:txBody>
          <a:bodyPr wrap="square" lIns="0" tIns="0" rIns="0" bIns="0" rtlCol="0" anchor="ctr"/>
          <a:lstStyle/>
          <a:p>
            <a:pPr algn="r" indent="0" marL="0">
              <a:buNone/>
            </a:pPr>
            <a:r>
              <a:rPr lang="en-US" sz="1300" dirty="0">
                <a:solidFill>
                  <a:srgbClr val="9FC2BC"/>
                </a:solidFill>
                <a:latin typeface="Calibri" pitchFamily="34" charset="0"/>
                <a:ea typeface="Calibri" pitchFamily="34" charset="-122"/>
                <a:cs typeface="Calibri" pitchFamily="34" charset="-120"/>
              </a:rPr>
              <a:t>github.com/Samsi11/compiler_contruction_yaounde</a:t>
            </a:r>
            <a:endParaRPr lang="en-US" sz="1300" dirty="0"/>
          </a:p>
        </p:txBody>
      </p:sp>
      <p:sp>
        <p:nvSpPr>
          <p:cNvPr id="19" name="Text 17"/>
          <p:cNvSpPr txBox="1"/>
          <p:nvPr/>
        </p:nvSpPr>
        <p:spPr>
          <a:xfrm>
            <a:off x="11338560" y="6400800"/>
            <a:ext cx="457200" cy="274320"/>
          </a:xfrm>
          <a:prstGeom prst="rect">
            <a:avLst/>
          </a:prstGeom>
          <a:noFill/>
          <a:ln/>
        </p:spPr>
        <p:txBody>
          <a:bodyPr wrap="square" lIns="0" tIns="0" rIns="0" bIns="0" rtlCol="0" anchor="ctr"/>
          <a:lstStyle/>
          <a:p>
            <a:pPr algn="r" indent="0" marL="0">
              <a:buNone/>
            </a:pPr>
            <a:r>
              <a:rPr lang="en-US" sz="1100" dirty="0">
                <a:solidFill>
                  <a:srgbClr val="9FC2BC"/>
                </a:solidFill>
                <a:latin typeface="Calibri" pitchFamily="34" charset="0"/>
                <a:ea typeface="Calibri" pitchFamily="34" charset="-122"/>
                <a:cs typeface="Calibri" pitchFamily="34" charset="-120"/>
              </a:rPr>
              <a:t>12</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Lexical and Syntactic Analysis of Informal Urban Communication in Yaoundé</dc:title>
  <dc:subject>PptxGenJS Presentation</dc:subject>
  <dc:creator>CS4110 Group Project</dc:creator>
  <cp:lastModifiedBy>CS4110 Group Project</cp:lastModifiedBy>
  <cp:revision>1</cp:revision>
  <dcterms:created xsi:type="dcterms:W3CDTF">2026-09-28T19:57:36Z</dcterms:created>
  <dcterms:modified xsi:type="dcterms:W3CDTF">2026-09-28T19:57:36Z</dcterms:modified>
</cp:coreProperties>
</file>